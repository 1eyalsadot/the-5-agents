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529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8138160" cy="1600200"/>
          </a:xfrm>
          <a:prstGeom prst="rect">
            <a:avLst/>
          </a:prstGeom>
          <a:solidFill>
            <a:srgbClr val="15294D"/>
          </a:solidFill>
          <a:ln/>
        </p:spPr>
      </p:sp>
      <p:pic>
        <p:nvPicPr>
          <p:cNvPr id="4" name="Image 0" descr="/home/user/the-5-agents/svetlana/reference/standard-urie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2663" y="365760"/>
            <a:ext cx="1051560" cy="3992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485632" y="1051560"/>
            <a:ext cx="33585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סדרת הפרימיום של URIEL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85632" y="1325880"/>
            <a:ext cx="335859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GEL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485632" y="1993392"/>
            <a:ext cx="335859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מדרסי-על בשלושה זנים – פתרון מדויק לכל אורח חיים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485632" y="2697480"/>
            <a:ext cx="33585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הטכנולוגיה: ג'ל פטנטי בעל 3 שכבות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387023" y="3154680"/>
            <a:ext cx="457200" cy="457200"/>
          </a:xfrm>
          <a:prstGeom prst="ellipse">
            <a:avLst/>
          </a:prstGeom>
          <a:solidFill>
            <a:srgbClr val="FFD500"/>
          </a:solidFill>
          <a:ln/>
        </p:spPr>
      </p:sp>
      <p:pic>
        <p:nvPicPr>
          <p:cNvPr id="10" name="Image 1" descr="/tmp/claude-0/-home-user-the-5-agents/104e019b-481e-5835-b5aa-7854a99e3b07/scratchpad/epicgel/icon_drop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8463" y="3246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485632" y="3136392"/>
            <a:ext cx="2736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עליונה   </a:t>
            </a:r>
            <a:pPr algn="r" indent="0" marL="0">
              <a:buNone/>
            </a:pPr>
            <a:r>
              <a:rPr lang="en-US" sz="11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8485632" y="3410712"/>
            <a:ext cx="27367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מיקרופייבר אנטיבקטריאלי + ייבוש מהיר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11240719" y="3813048"/>
            <a:ext cx="457200" cy="457200"/>
          </a:xfrm>
          <a:prstGeom prst="ellipse">
            <a:avLst/>
          </a:prstGeom>
          <a:solidFill>
            <a:srgbClr val="FFD500"/>
          </a:solidFill>
          <a:ln/>
        </p:spPr>
      </p:sp>
      <p:pic>
        <p:nvPicPr>
          <p:cNvPr id="14" name="Image 2" descr="/tmp/claude-0/-home-user-the-5-agents/104e019b-481e-5835-b5aa-7854a99e3b07/scratchpad/epicgel/icon_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2159" y="390448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85632" y="3794760"/>
            <a:ext cx="2590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אמצעית   </a:t>
            </a:r>
            <a:pPr algn="r" indent="0" marL="0">
              <a:buNone/>
            </a:pPr>
            <a:r>
              <a:rPr lang="en-US" sz="11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8485632" y="4069080"/>
            <a:ext cx="2590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ספוג נושם 100% עם פחם אקטיבי נגד ריח וזיעה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11094415" y="4471416"/>
            <a:ext cx="457200" cy="457200"/>
          </a:xfrm>
          <a:prstGeom prst="ellipse">
            <a:avLst/>
          </a:prstGeom>
          <a:solidFill>
            <a:srgbClr val="FFD500"/>
          </a:solidFill>
          <a:ln/>
        </p:spPr>
      </p:sp>
      <p:pic>
        <p:nvPicPr>
          <p:cNvPr id="18" name="Image 3" descr="/tmp/claude-0/-home-user-the-5-agents/104e019b-481e-5835-b5aa-7854a99e3b07/scratchpad/epicgel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855" y="4562856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85632" y="4453128"/>
            <a:ext cx="2444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 תחתונה   </a:t>
            </a:r>
            <a:pPr algn="r" indent="0" marL="0">
              <a:buNone/>
            </a:pPr>
            <a:r>
              <a:rPr lang="en-US" sz="11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8485632" y="4727448"/>
            <a:ext cx="24441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A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ג'ל פטנטי לבלימת זעזועים ופיזור עומסים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8458200" y="5440680"/>
            <a:ext cx="3413455" cy="1143000"/>
          </a:xfrm>
          <a:prstGeom prst="roundRect">
            <a:avLst>
              <a:gd name="adj" fmla="val 9600"/>
            </a:avLst>
          </a:prstGeom>
          <a:solidFill>
            <a:srgbClr val="FFD500"/>
          </a:solidFill>
          <a:ln/>
          <a:effectLst>
            <a:outerShdw sx="100000" sy="100000" kx="0" ky="0" algn="bl" rotWithShape="0" blurRad="127000" dist="38100" dir="5400000">
              <a:srgbClr val="0A1730">
                <a:alpha val="35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8567928" y="5550408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צרכן מומלץ – מבצע SELL OUT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8503920" y="5788152"/>
            <a:ext cx="3322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149.90 ₪</a:t>
            </a:r>
            <a:endParaRPr lang="en-US" sz="4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2F55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זנים · פתרון אחד לכל רגל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2179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בחרו את הדגם המתאים לכם</a:t>
            </a:r>
            <a:endParaRPr lang="en-US" sz="2800" dirty="0"/>
          </a:p>
        </p:txBody>
      </p:sp>
      <p:sp>
        <p:nvSpPr>
          <p:cNvPr id="26" name="Shape 20"/>
          <p:cNvSpPr/>
          <p:nvPr/>
        </p:nvSpPr>
        <p:spPr>
          <a:xfrm>
            <a:off x="5504688" y="1417320"/>
            <a:ext cx="2267712" cy="3657600"/>
          </a:xfrm>
          <a:prstGeom prst="roundRect">
            <a:avLst>
              <a:gd name="adj" fmla="val 403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14300" dist="25400" dir="5400000">
              <a:srgbClr val="1B2A4A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733288" y="161848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15294D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5733288" y="16184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</a:t>
            </a:r>
            <a:endParaRPr lang="en-US" sz="1500" dirty="0"/>
          </a:p>
        </p:txBody>
      </p:sp>
      <p:pic>
        <p:nvPicPr>
          <p:cNvPr id="29" name="Image 4" descr="/tmp/claude-0/-home-user-the-5-agents/104e019b-481e-5835-b5aa-7854a99e3b07/scratchpad/epicgel/crop_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876" y="2148840"/>
            <a:ext cx="711335" cy="20574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669280" y="4325112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לאנשים שרוב היום על הרגליים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2980944" y="1417320"/>
            <a:ext cx="2267712" cy="3657600"/>
          </a:xfrm>
          <a:prstGeom prst="roundRect">
            <a:avLst>
              <a:gd name="adj" fmla="val 403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14300" dist="25400" dir="5400000">
              <a:srgbClr val="1B2A4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09544" y="161848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DCEEF7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3209544" y="16184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</a:t>
            </a:r>
            <a:endParaRPr lang="en-US" sz="1500" dirty="0"/>
          </a:p>
        </p:txBody>
      </p:sp>
      <p:pic>
        <p:nvPicPr>
          <p:cNvPr id="34" name="Image 5" descr="/tmp/claude-0/-home-user-the-5-agents/104e019b-481e-5835-b5aa-7854a99e3b07/scratchpad/epicgel/crop_comfo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7764" y="2148840"/>
            <a:ext cx="714071" cy="20574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145536" y="4325112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לאנשים שרוב היום בבית או במשרד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457200" y="1417320"/>
            <a:ext cx="2267712" cy="3657600"/>
          </a:xfrm>
          <a:prstGeom prst="roundRect">
            <a:avLst>
              <a:gd name="adj" fmla="val 4032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14300" dist="25400" dir="5400000">
              <a:srgbClr val="1B2A4A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85800" y="161848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685800" y="161848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MULTISPORT</a:t>
            </a:r>
            <a:endParaRPr lang="en-US" sz="1500" dirty="0"/>
          </a:p>
        </p:txBody>
      </p:sp>
      <p:pic>
        <p:nvPicPr>
          <p:cNvPr id="39" name="Image 6" descr="/tmp/claude-0/-home-user-the-5-agents/104e019b-481e-5835-b5aa-7854a99e3b07/scratchpad/epicgel/crop_multispo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605" y="2148840"/>
            <a:ext cx="746902" cy="205740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21792" y="4325112"/>
            <a:ext cx="19385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לבעלי אורח חיים ספורטיבי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0" y="55138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OUT </a:t>
            </a:r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סופרפארם</a:t>
            </a:r>
            <a:endParaRPr lang="en-US" sz="1900" dirty="0"/>
          </a:p>
        </p:txBody>
      </p:sp>
      <p:sp>
        <p:nvSpPr>
          <p:cNvPr id="42" name="Text 33"/>
          <p:cNvSpPr txBox="1"/>
          <p:nvPr/>
        </p:nvSpPr>
        <p:spPr>
          <a:xfrm>
            <a:off x="5486400" y="58613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7D2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באוקטובר – דצמבר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5486400" y="61356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מבצע סייל-אאוט ממוקד ברשת סופרפארם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3003804" y="5513832"/>
            <a:ext cx="2391156" cy="1143000"/>
          </a:xfrm>
          <a:prstGeom prst="roundRect">
            <a:avLst>
              <a:gd name="adj" fmla="val 6400"/>
            </a:avLst>
          </a:prstGeom>
          <a:solidFill>
            <a:srgbClr val="1F3A63"/>
          </a:solidFill>
          <a:ln/>
        </p:spPr>
      </p:sp>
      <p:sp>
        <p:nvSpPr>
          <p:cNvPr id="45" name="Text 36"/>
          <p:cNvSpPr txBox="1"/>
          <p:nvPr/>
        </p:nvSpPr>
        <p:spPr>
          <a:xfrm>
            <a:off x="3150108" y="5605272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הזדכות 10 ₪  ←  77.46 ₪ מחיר קנייה</a:t>
            </a:r>
            <a:endParaRPr lang="en-US" sz="950" dirty="0"/>
          </a:p>
        </p:txBody>
      </p:sp>
      <p:sp>
        <p:nvSpPr>
          <p:cNvPr id="46" name="Text 37"/>
          <p:cNvSpPr txBox="1"/>
          <p:nvPr/>
        </p:nvSpPr>
        <p:spPr>
          <a:xfrm>
            <a:off x="3150108" y="5897880"/>
            <a:ext cx="2098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3000" dirty="0"/>
          </a:p>
        </p:txBody>
      </p:sp>
      <p:sp>
        <p:nvSpPr>
          <p:cNvPr id="47" name="Text 38"/>
          <p:cNvSpPr txBox="1"/>
          <p:nvPr/>
        </p:nvSpPr>
        <p:spPr>
          <a:xfrm>
            <a:off x="3150108" y="6309360"/>
            <a:ext cx="209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ריווחיות · מחיר SELL OUT 149.90 ₪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11480" y="5513832"/>
            <a:ext cx="2391156" cy="1143000"/>
          </a:xfrm>
          <a:prstGeom prst="roundRect">
            <a:avLst>
              <a:gd name="adj" fmla="val 6400"/>
            </a:avLst>
          </a:prstGeom>
          <a:solidFill>
            <a:srgbClr val="1F3A63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557784" y="5605272"/>
            <a:ext cx="209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FB0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קנייה שוטף 102.73 ₪  ←  92.46 ₪ כולל הנחת החדרה</a:t>
            </a:r>
            <a:endParaRPr lang="en-US" sz="950" dirty="0"/>
          </a:p>
        </p:txBody>
      </p:sp>
      <p:sp>
        <p:nvSpPr>
          <p:cNvPr id="50" name="Text 41"/>
          <p:cNvSpPr txBox="1"/>
          <p:nvPr/>
        </p:nvSpPr>
        <p:spPr>
          <a:xfrm>
            <a:off x="557784" y="5897880"/>
            <a:ext cx="20985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3000" dirty="0"/>
          </a:p>
        </p:txBody>
      </p:sp>
      <p:sp>
        <p:nvSpPr>
          <p:cNvPr id="51" name="Text 42"/>
          <p:cNvSpPr txBox="1"/>
          <p:nvPr/>
        </p:nvSpPr>
        <p:spPr>
          <a:xfrm>
            <a:off x="557784" y="6309360"/>
            <a:ext cx="20985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ריווחיות · מחיר לצרכן 252.90 ₪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Svetlana</dc:creator>
  <cp:lastModifiedBy>Svetlana</cp:lastModifiedBy>
  <cp:revision>1</cp:revision>
  <dcterms:created xsi:type="dcterms:W3CDTF">2026-10-05T11:48:33Z</dcterms:created>
  <dcterms:modified xsi:type="dcterms:W3CDTF">2026-10-05T11:48:33Z</dcterms:modified>
</cp:coreProperties>
</file>