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324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459EE-3727-4B38-A870-DECBB1E56CE6}" v="3" dt="2026-10-27T09:50:20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microsoft.com/office/2016/11/relationships/changesInfo" Target="changesInfos/changesInfo1.xml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addSld modSld">
      <pc:chgData name="Eyal Sadot" userId="9c57a40b-08c8-435b-851c-1854c25cf41d" providerId="ADAL" clId="{02003448-2CBC-42C7-80BD-DC4C07BEB2CD}" dt="2026-10-27T09:50:20.459" v="2"/>
      <pc:docMkLst>
        <pc:docMk/>
      </pc:docMkLst>
      <pc:sldChg chg="addSp modSp add">
        <pc:chgData name="Eyal Sadot" userId="9c57a40b-08c8-435b-851c-1854c25cf41d" providerId="ADAL" clId="{02003448-2CBC-42C7-80BD-DC4C07BEB2CD}" dt="2026-10-27T09:50:20.459" v="2"/>
        <pc:sldMkLst>
          <pc:docMk/>
          <pc:sldMk cId="423875914" sldId="325"/>
        </pc:sldMkLst>
        <pc:graphicFrameChg chg="add mod">
          <ac:chgData name="Eyal Sadot" userId="9c57a40b-08c8-435b-851c-1854c25cf41d" providerId="ADAL" clId="{02003448-2CBC-42C7-80BD-DC4C07BEB2CD}" dt="2026-10-27T09:49:58.525" v="1"/>
          <ac:graphicFrameMkLst>
            <pc:docMk/>
            <pc:sldMk cId="423875914" sldId="325"/>
            <ac:graphicFrameMk id="2" creationId="{5EF63494-99D3-FCEB-8CC8-25C9D2AD3F89}"/>
          </ac:graphicFrameMkLst>
        </pc:graphicFrameChg>
        <pc:graphicFrameChg chg="add mod">
          <ac:chgData name="Eyal Sadot" userId="9c57a40b-08c8-435b-851c-1854c25cf41d" providerId="ADAL" clId="{02003448-2CBC-42C7-80BD-DC4C07BEB2CD}" dt="2026-10-27T09:50:20.459" v="2"/>
          <ac:graphicFrameMkLst>
            <pc:docMk/>
            <pc:sldMk cId="423875914" sldId="325"/>
            <ac:graphicFrameMk id="4" creationId="{8BC3A384-01F9-1D43-B6AC-A7F5550A409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73625675246269E-3"/>
          <c:y val="9.5250000000000001E-2"/>
          <c:w val="0.91483952971083571"/>
          <c:h val="0.72307175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'אוקטובר '!$G$2</c:f>
              <c:strCache>
                <c:ptCount val="1"/>
                <c:pt idx="0">
                  <c:v>בפועל </c:v>
                </c:pt>
              </c:strCache>
            </c:strRef>
          </c:tx>
          <c:spPr>
            <a:solidFill>
              <a:srgbClr val="002F6C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אורתופדיה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'!$G$3:$G$14</c:f>
              <c:numCache>
                <c:formatCode>_ * #,##0_ ;_ * \-#,##0_ ;_ * \-??_ ;_ @_ </c:formatCode>
                <c:ptCount val="12"/>
                <c:pt idx="0">
                  <c:v>155000</c:v>
                </c:pt>
                <c:pt idx="1">
                  <c:v>500000</c:v>
                </c:pt>
                <c:pt idx="2">
                  <c:v>100000</c:v>
                </c:pt>
                <c:pt idx="3">
                  <c:v>150000</c:v>
                </c:pt>
                <c:pt idx="4">
                  <c:v>220000</c:v>
                </c:pt>
                <c:pt idx="5">
                  <c:v>60000</c:v>
                </c:pt>
                <c:pt idx="6">
                  <c:v>80000</c:v>
                </c:pt>
                <c:pt idx="7">
                  <c:v>30000</c:v>
                </c:pt>
                <c:pt idx="8" formatCode="_ * #,##0_ ;_ * \-#,##0_ ;_ * &quot;-&quot;??_ ;_ @_ ">
                  <c:v>400000</c:v>
                </c:pt>
                <c:pt idx="9" formatCode="_ * #,##0_ ;_ * \-#,##0_ ;_ * &quot;-&quot;??_ ;_ @_ ">
                  <c:v>200000</c:v>
                </c:pt>
                <c:pt idx="10" formatCode="_ * #,##0_ ;_ * \-#,##0_ ;_ * &quot;-&quot;??_ ;_ @_ ">
                  <c:v>200000</c:v>
                </c:pt>
                <c:pt idx="11">
                  <c:v>260000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6F-4F33-A568-1B6034ED948B}"/>
            </c:ext>
          </c:extLst>
        </c:ser>
        <c:ser>
          <c:idx val="1"/>
          <c:order val="1"/>
          <c:tx>
            <c:strRef>
              <c:f>'אוקטובר '!$H$2</c:f>
              <c:strCache>
                <c:ptCount val="1"/>
                <c:pt idx="0">
                  <c:v>מטרה 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5B6B82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אורתופדיה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'!$H$3:$H$14</c:f>
              <c:numCache>
                <c:formatCode>_ * #,##0_ ;_ * \-#,##0_ ;_ * "-"??_ ;_ @_ </c:formatCode>
                <c:ptCount val="12"/>
                <c:pt idx="0">
                  <c:v>200000</c:v>
                </c:pt>
                <c:pt idx="1">
                  <c:v>550000</c:v>
                </c:pt>
                <c:pt idx="2">
                  <c:v>100000</c:v>
                </c:pt>
                <c:pt idx="3">
                  <c:v>200000</c:v>
                </c:pt>
                <c:pt idx="4">
                  <c:v>330000</c:v>
                </c:pt>
                <c:pt idx="5">
                  <c:v>100000</c:v>
                </c:pt>
                <c:pt idx="6">
                  <c:v>100000</c:v>
                </c:pt>
                <c:pt idx="7">
                  <c:v>25000</c:v>
                </c:pt>
                <c:pt idx="8">
                  <c:v>1159556.779661017</c:v>
                </c:pt>
                <c:pt idx="9">
                  <c:v>321888.59999999998</c:v>
                </c:pt>
                <c:pt idx="10">
                  <c:v>550000</c:v>
                </c:pt>
                <c:pt idx="11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6F-4F33-A568-1B6034ED9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35"/>
        <c:axId val="969194416"/>
        <c:axId val="969194056"/>
      </c:barChart>
      <c:catAx>
        <c:axId val="96919441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50" b="0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69194056"/>
        <c:crosses val="autoZero"/>
        <c:auto val="1"/>
        <c:lblAlgn val="ctr"/>
        <c:lblOffset val="100"/>
        <c:noMultiLvlLbl val="0"/>
      </c:catAx>
      <c:valAx>
        <c:axId val="969194056"/>
        <c:scaling>
          <c:orientation val="minMax"/>
        </c:scaling>
        <c:delete val="1"/>
        <c:axPos val="r"/>
        <c:numFmt formatCode="#,##0,&quot;K&quot;" sourceLinked="0"/>
        <c:majorTickMark val="none"/>
        <c:minorTickMark val="none"/>
        <c:tickLblPos val="nextTo"/>
        <c:crossAx val="96919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1133112650718478E-2"/>
          <c:y val="0.92042425000000017"/>
          <c:w val="0.11341845377049509"/>
          <c:h val="5.41757500000000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rgbClr val="5B6B82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4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675923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F9CDF83A-0AE7-FE03-0942-2B1303137FD4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סטטוס אוקטובר</a:t>
            </a:r>
            <a:r>
              <a:rPr lang="en-US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ביצוע מול מטרה  </a:t>
            </a: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80D1267B-1FF0-4263-1152-64F1106359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3134382"/>
              </p:ext>
            </p:extLst>
          </p:nvPr>
        </p:nvGraphicFramePr>
        <p:xfrm>
          <a:off x="1438275" y="1108000"/>
          <a:ext cx="9991725" cy="4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52C56A1-97C3-B411-CF67-DFD1B1B545C9}"/>
              </a:ext>
            </a:extLst>
          </p:cNvPr>
          <p:cNvSpPr txBox="1"/>
          <p:nvPr/>
        </p:nvSpPr>
        <p:spPr>
          <a:xfrm>
            <a:off x="3006461" y="5183860"/>
            <a:ext cx="774726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YTD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21.5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₪ מיליון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86%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מיעד מטרה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659CE67-E4B5-62A9-8A26-B115E68BA0B3}"/>
              </a:ext>
            </a:extLst>
          </p:cNvPr>
          <p:cNvSpPr txBox="1"/>
          <p:nvPr/>
        </p:nvSpPr>
        <p:spPr>
          <a:xfrm>
            <a:off x="3006461" y="1254794"/>
            <a:ext cx="7747264" cy="7463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defTabSz="1219170" rtl="1">
              <a:lnSpc>
                <a:spcPct val="100000"/>
              </a:lnSpc>
              <a:buClr>
                <a:srgbClr val="000000"/>
              </a:buClr>
            </a:pP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אוקטובר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2.3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 ₪ מיליון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64%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 מיעד מטרה</a:t>
            </a:r>
          </a:p>
          <a:p>
            <a:pPr defTabSz="1219170">
              <a:buClr>
                <a:srgbClr val="000000"/>
              </a:buClr>
            </a:pPr>
            <a:endParaRPr lang="en-US" sz="1050" b="1" kern="0" dirty="0">
              <a:solidFill>
                <a:srgbClr val="5B6B82"/>
              </a:solidFill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183</Words>
  <Application>Microsoft Office PowerPoint</Application>
  <PresentationFormat>מסך רחב</PresentationFormat>
  <Paragraphs>77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8" baseType="lpstr">
      <vt:lpstr>Arial</vt:lpstr>
      <vt:lpstr>Assistant</vt:lpstr>
      <vt:lpstr>Simple Light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5</cp:revision>
  <dcterms:created xsi:type="dcterms:W3CDTF">2026-10-27T09:13:47Z</dcterms:created>
  <dcterms:modified xsi:type="dcterms:W3CDTF">2026-10-27T11:47:01Z</dcterms:modified>
</cp:coreProperties>
</file>