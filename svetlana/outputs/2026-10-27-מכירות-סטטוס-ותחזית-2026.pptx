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24" r:id="rId2"/>
    <p:sldId id="325" r:id="rId3"/>
    <p:sldId id="326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459EE-3727-4B38-A870-DECBB1E56CE6}" v="3" dt="2026-10-27T09:50:20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addSld modSld">
      <pc:chgData name="Eyal Sadot" userId="9c57a40b-08c8-435b-851c-1854c25cf41d" providerId="ADAL" clId="{02003448-2CBC-42C7-80BD-DC4C07BEB2CD}" dt="2026-10-27T09:50:20.459" v="2"/>
      <pc:docMkLst>
        <pc:docMk/>
      </pc:docMkLst>
      <pc:sldChg chg="addSp modSp add">
        <pc:chgData name="Eyal Sadot" userId="9c57a40b-08c8-435b-851c-1854c25cf41d" providerId="ADAL" clId="{02003448-2CBC-42C7-80BD-DC4C07BEB2CD}" dt="2026-10-27T09:50:20.459" v="2"/>
        <pc:sldMkLst>
          <pc:docMk/>
          <pc:sldMk cId="423875914" sldId="325"/>
        </pc:sldMkLst>
        <pc:graphicFrameChg chg="add mod">
          <ac:chgData name="Eyal Sadot" userId="9c57a40b-08c8-435b-851c-1854c25cf41d" providerId="ADAL" clId="{02003448-2CBC-42C7-80BD-DC4C07BEB2CD}" dt="2026-10-27T09:49:58.525" v="1"/>
          <ac:graphicFrameMkLst>
            <pc:docMk/>
            <pc:sldMk cId="423875914" sldId="325"/>
            <ac:graphicFrameMk id="2" creationId="{5EF63494-99D3-FCEB-8CC8-25C9D2AD3F89}"/>
          </ac:graphicFrameMkLst>
        </pc:graphicFrameChg>
        <pc:graphicFrameChg chg="add mod">
          <ac:chgData name="Eyal Sadot" userId="9c57a40b-08c8-435b-851c-1854c25cf41d" providerId="ADAL" clId="{02003448-2CBC-42C7-80BD-DC4C07BEB2CD}" dt="2026-10-27T09:50:20.459" v="2"/>
          <ac:graphicFrameMkLst>
            <pc:docMk/>
            <pc:sldMk cId="423875914" sldId="325"/>
            <ac:graphicFrameMk id="4" creationId="{8BC3A384-01F9-1D43-B6AC-A7F5550A40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73625675246269E-3"/>
          <c:y val="9.5250000000000001E-2"/>
          <c:w val="0.91483952971083571"/>
          <c:h val="0.72307175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'אוקטובר '!$G$2</c:f>
              <c:strCache>
                <c:ptCount val="1"/>
                <c:pt idx="0">
                  <c:v>בפועל </c:v>
                </c:pt>
              </c:strCache>
            </c:strRef>
          </c:tx>
          <c:spPr>
            <a:solidFill>
              <a:srgbClr val="002F6C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אורטופדיה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'!$G$3:$G$14</c:f>
              <c:numCache>
                <c:formatCode>_ * #,##0_ ;_ * \-#,##0_ ;_ * \-??_ ;_ @_ </c:formatCode>
                <c:ptCount val="12"/>
                <c:pt idx="0">
                  <c:v>155000</c:v>
                </c:pt>
                <c:pt idx="1">
                  <c:v>500000</c:v>
                </c:pt>
                <c:pt idx="2">
                  <c:v>100000</c:v>
                </c:pt>
                <c:pt idx="3">
                  <c:v>150000</c:v>
                </c:pt>
                <c:pt idx="4">
                  <c:v>220000</c:v>
                </c:pt>
                <c:pt idx="5">
                  <c:v>60000</c:v>
                </c:pt>
                <c:pt idx="6">
                  <c:v>80000</c:v>
                </c:pt>
                <c:pt idx="7">
                  <c:v>30000</c:v>
                </c:pt>
                <c:pt idx="8" formatCode="_ * #,##0_ ;_ * \-#,##0_ ;_ * &quot;-&quot;??_ ;_ @_ ">
                  <c:v>400000</c:v>
                </c:pt>
                <c:pt idx="9" formatCode="_ * #,##0_ ;_ * \-#,##0_ ;_ * &quot;-&quot;??_ ;_ @_ ">
                  <c:v>200000</c:v>
                </c:pt>
                <c:pt idx="10" formatCode="_ * #,##0_ ;_ * \-#,##0_ ;_ * &quot;-&quot;??_ ;_ @_ ">
                  <c:v>200000</c:v>
                </c:pt>
                <c:pt idx="11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6F-4F33-A568-1B6034ED948B}"/>
            </c:ext>
          </c:extLst>
        </c:ser>
        <c:ser>
          <c:idx val="1"/>
          <c:order val="1"/>
          <c:tx>
            <c:strRef>
              <c:f>'אוקטובר '!$H$2</c:f>
              <c:strCache>
                <c:ptCount val="1"/>
                <c:pt idx="0">
                  <c:v>מטרה 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5B6B82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אורטופדיה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'!$H$3:$H$14</c:f>
              <c:numCache>
                <c:formatCode>_ * #,##0_ ;_ * \-#,##0_ ;_ * "-"??_ ;_ @_ </c:formatCode>
                <c:ptCount val="12"/>
                <c:pt idx="0">
                  <c:v>200000</c:v>
                </c:pt>
                <c:pt idx="1">
                  <c:v>550000</c:v>
                </c:pt>
                <c:pt idx="2">
                  <c:v>100000</c:v>
                </c:pt>
                <c:pt idx="3">
                  <c:v>200000</c:v>
                </c:pt>
                <c:pt idx="4">
                  <c:v>330000</c:v>
                </c:pt>
                <c:pt idx="5">
                  <c:v>100000</c:v>
                </c:pt>
                <c:pt idx="6">
                  <c:v>100000</c:v>
                </c:pt>
                <c:pt idx="7">
                  <c:v>25000</c:v>
                </c:pt>
                <c:pt idx="8">
                  <c:v>1159556.779661017</c:v>
                </c:pt>
                <c:pt idx="9">
                  <c:v>321888.59999999998</c:v>
                </c:pt>
                <c:pt idx="10">
                  <c:v>550000</c:v>
                </c:pt>
                <c:pt idx="11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6F-4F33-A568-1B6034ED9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35"/>
        <c:axId val="969194416"/>
        <c:axId val="969194056"/>
      </c:barChart>
      <c:catAx>
        <c:axId val="9691944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9194056"/>
        <c:crosses val="autoZero"/>
        <c:auto val="1"/>
        <c:lblAlgn val="ctr"/>
        <c:lblOffset val="100"/>
        <c:noMultiLvlLbl val="0"/>
      </c:catAx>
      <c:valAx>
        <c:axId val="969194056"/>
        <c:scaling>
          <c:orientation val="minMax"/>
        </c:scaling>
        <c:delete val="1"/>
        <c:axPos val="r"/>
        <c:numFmt formatCode="#,##0,&quot;K&quot;" sourceLinked="0"/>
        <c:majorTickMark val="none"/>
        <c:minorTickMark val="none"/>
        <c:tickLblPos val="nextTo"/>
        <c:crossAx val="96919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133112650718478E-2"/>
          <c:y val="0.92042425000000017"/>
          <c:w val="0.11341845377049509"/>
          <c:h val="5.41757500000000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5B6B82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0C-4C4D-A0B0-DAC7E85AB14B}"/>
              </c:ext>
            </c:extLst>
          </c:dPt>
          <c:dPt>
            <c:idx val="1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0C-4C4D-A0B0-DAC7E85AB14B}"/>
              </c:ext>
            </c:extLst>
          </c:dPt>
          <c:dPt>
            <c:idx val="2"/>
            <c:invertIfNegative val="0"/>
            <c:bubble3D val="0"/>
            <c:spPr>
              <a:solidFill>
                <a:srgbClr val="002F6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0C-4C4D-A0B0-DAC7E85AB14B}"/>
              </c:ext>
            </c:extLst>
          </c:dPt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'2026'!$U$32:$W$32</c:f>
              <c:strCache>
                <c:ptCount val="3"/>
                <c:pt idx="0">
                  <c:v>תקציב </c:v>
                </c:pt>
                <c:pt idx="1">
                  <c:v>מטרה </c:v>
                </c:pt>
                <c:pt idx="2">
                  <c:v>בפועל </c:v>
                </c:pt>
              </c:strCache>
            </c:strRef>
          </c:cat>
          <c:val>
            <c:numRef>
              <c:f>'2026'!$U$33:$W$33</c:f>
              <c:numCache>
                <c:formatCode>0.0</c:formatCode>
                <c:ptCount val="3"/>
                <c:pt idx="0" formatCode="_ * #,##0.0_ ;_ * \-#,##0.0_ ;_ * \-??_ ;_ @_ ">
                  <c:v>41.241479212609534</c:v>
                </c:pt>
                <c:pt idx="1">
                  <c:v>31.924454020559352</c:v>
                </c:pt>
                <c:pt idx="2">
                  <c:v>27.41142646300003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9-411D-AA1A-BC80BCC21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956399088"/>
        <c:axId val="956398008"/>
      </c:barChart>
      <c:catAx>
        <c:axId val="9563990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56398008"/>
        <c:crosses val="autoZero"/>
        <c:auto val="1"/>
        <c:lblAlgn val="ctr"/>
        <c:lblOffset val="100"/>
        <c:noMultiLvlLbl val="0"/>
      </c:catAx>
      <c:valAx>
        <c:axId val="956398008"/>
        <c:scaling>
          <c:orientation val="minMax"/>
        </c:scaling>
        <c:delete val="1"/>
        <c:axPos val="r"/>
        <c:numFmt formatCode="_ * #,##0.0_ ;_ * \-#,##0.0_ ;_ * \-??_ ;_ @_ " sourceLinked="1"/>
        <c:majorTickMark val="none"/>
        <c:minorTickMark val="none"/>
        <c:tickLblPos val="nextTo"/>
        <c:crossAx val="956399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spPr>
              <a:solidFill>
                <a:srgbClr val="002F6C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99-4A2F-A324-30BA285687A9}"/>
              </c:ext>
            </c:extLst>
          </c:dPt>
          <c:dPt>
            <c:idx val="1"/>
            <c:spPr>
              <a:solidFill>
                <a:srgbClr val="FFD500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99-4A2F-A324-30BA285687A9}"/>
              </c:ext>
            </c:extLst>
          </c:dPt>
          <c:dPt>
            <c:idx val="2"/>
            <c:spPr>
              <a:solidFill>
                <a:srgbClr val="2E2670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99-4A2F-A324-30BA285687A9}"/>
              </c:ext>
            </c:extLst>
          </c:dPt>
          <c:dPt>
            <c:idx val="3"/>
            <c:spPr>
              <a:solidFill>
                <a:srgbClr val="E0A62B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499-4A2F-A324-30BA285687A9}"/>
              </c:ext>
            </c:extLst>
          </c:dPt>
          <c:dPt>
            <c:idx val="4"/>
            <c:spPr>
              <a:solidFill>
                <a:srgbClr val="5B6B82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499-4A2F-A324-30BA285687A9}"/>
              </c:ext>
            </c:extLst>
          </c:dPt>
          <c:dPt>
            <c:idx val="5"/>
            <c:spPr>
              <a:solidFill>
                <a:srgbClr val="CADCFC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499-4A2F-A324-30BA285687A9}"/>
              </c:ext>
            </c:extLst>
          </c:dPt>
          <c:dPt>
            <c:idx val="6"/>
            <c:spPr>
              <a:solidFill>
                <a:srgbClr val="D9D9D9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499-4A2F-A324-30BA285687A9}"/>
              </c:ext>
            </c:extLst>
          </c:dPt>
          <c:dPt>
            <c:idx val="7"/>
            <c:spPr>
              <a:solidFill>
                <a:srgbClr val="BFBFBF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499-4A2F-A324-30BA285687A9}"/>
              </c:ext>
            </c:extLst>
          </c:dPt>
          <c:dPt>
            <c:idx val="8"/>
            <c:spPr>
              <a:solidFill>
                <a:srgbClr val="A6A6A6"/>
              </a:solidFill>
              <a:ln w="2540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499-4A2F-A324-30BA285687A9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algn="ctr"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lt"/>
                    </a:defRPr>
                  </a:pPr>
                  <a:endParaRPr lang="he-IL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algn="ctr">
                    <a:defRPr sz="1100" b="1" i="0" u="none" strike="noStrike" kern="1200" baseline="0">
                      <a:solidFill>
                        <a:srgbClr val="002F6C"/>
                      </a:solidFill>
                      <a:latin typeface="+mn-lt"/>
                      <a:ea typeface="+mn-ea"/>
                      <a:cs typeface="+mn-lt"/>
                    </a:defRPr>
                  </a:pPr>
                  <a:endParaRPr lang="he-IL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algn="ctr"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lt"/>
                    </a:defRPr>
                  </a:pPr>
                  <a:endParaRPr lang="he-IL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algn="ctr">
                    <a:defRPr sz="1100" b="1" i="0" u="none" strike="noStrike" kern="1200" baseline="0">
                      <a:solidFill>
                        <a:srgbClr val="002F6C"/>
                      </a:solidFill>
                      <a:latin typeface="+mn-lt"/>
                      <a:ea typeface="+mn-ea"/>
                      <a:cs typeface="+mn-lt"/>
                    </a:defRPr>
                  </a:pPr>
                  <a:endParaRPr lang="he-IL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algn="ctr"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lt"/>
                    </a:defRPr>
                  </a:pPr>
                  <a:endParaRPr lang="he-IL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 algn="ctr">
                    <a:defRPr sz="1100" b="1" i="0" u="none" strike="noStrike" kern="1200" baseline="0">
                      <a:solidFill>
                        <a:srgbClr val="002F6C"/>
                      </a:solidFill>
                      <a:latin typeface="+mn-lt"/>
                      <a:ea typeface="+mn-ea"/>
                      <a:cs typeface="+mn-lt"/>
                    </a:defRPr>
                  </a:pPr>
                  <a:endParaRPr lang="he-IL"/>
                </a:p>
              </c:txPr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 algn="ctr">
                  <a:defRPr sz="11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</c:dLbls>
          <c:cat>
            <c:strRef>
              <c:f>'2026'!$P$50:$P$58</c:f>
              <c:strCache>
                <c:ptCount val="9"/>
                <c:pt idx="0">
                  <c:v>ס.פארם</c:v>
                </c:pt>
                <c:pt idx="1">
                  <c:v>אתר </c:v>
                </c:pt>
                <c:pt idx="2">
                  <c:v>קופות</c:v>
                </c:pt>
                <c:pt idx="3">
                  <c:v>מפיצים </c:v>
                </c:pt>
                <c:pt idx="4">
                  <c:v>אמזון </c:v>
                </c:pt>
                <c:pt idx="5">
                  <c:v>בתי מרקחת</c:v>
                </c:pt>
                <c:pt idx="6">
                  <c:v>מכונים</c:v>
                </c:pt>
                <c:pt idx="7">
                  <c:v>BE</c:v>
                </c:pt>
                <c:pt idx="8">
                  <c:v>אחרים </c:v>
                </c:pt>
              </c:strCache>
            </c:strRef>
          </c:cat>
          <c:val>
            <c:numRef>
              <c:f>'2026'!$Q$50:$Q$58</c:f>
              <c:numCache>
                <c:formatCode>0%</c:formatCode>
                <c:ptCount val="9"/>
                <c:pt idx="0">
                  <c:v>0.28889797959581626</c:v>
                </c:pt>
                <c:pt idx="1">
                  <c:v>0.19072350419474854</c:v>
                </c:pt>
                <c:pt idx="2">
                  <c:v>0.15791549370270344</c:v>
                </c:pt>
                <c:pt idx="3">
                  <c:v>0.10982113660021957</c:v>
                </c:pt>
                <c:pt idx="4">
                  <c:v>9.7027520387894292E-2</c:v>
                </c:pt>
                <c:pt idx="5">
                  <c:v>7.0896533809474291E-2</c:v>
                </c:pt>
                <c:pt idx="6">
                  <c:v>4.1106631992353412E-2</c:v>
                </c:pt>
                <c:pt idx="7">
                  <c:v>3.5158290842720485E-2</c:v>
                </c:pt>
                <c:pt idx="8">
                  <c:v>8.4529088740696295E-3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1-448D-A72E-6B1B4152A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75923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F9CDF83A-0AE7-FE03-0942-2B1303137FD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סטטוס אוקטובר</a:t>
            </a:r>
            <a:r>
              <a:rPr lang="en-US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ביצוע מול מטרה  </a:t>
            </a: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80D1267B-1FF0-4263-1152-64F1106359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134382"/>
              </p:ext>
            </p:extLst>
          </p:nvPr>
        </p:nvGraphicFramePr>
        <p:xfrm>
          <a:off x="1438275" y="1108000"/>
          <a:ext cx="9991725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52C56A1-97C3-B411-CF67-DFD1B1B545C9}"/>
              </a:ext>
            </a:extLst>
          </p:cNvPr>
          <p:cNvSpPr txBox="1"/>
          <p:nvPr/>
        </p:nvSpPr>
        <p:spPr>
          <a:xfrm>
            <a:off x="3006461" y="5183860"/>
            <a:ext cx="774726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YTD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21.5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₪ מיליון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86%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מיעד מטרה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659CE67-E4B5-62A9-8A26-B115E68BA0B3}"/>
              </a:ext>
            </a:extLst>
          </p:cNvPr>
          <p:cNvSpPr txBox="1"/>
          <p:nvPr/>
        </p:nvSpPr>
        <p:spPr>
          <a:xfrm>
            <a:off x="3006461" y="1254794"/>
            <a:ext cx="7747264" cy="7463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defTabSz="1219170" rtl="1">
              <a:lnSpc>
                <a:spcPct val="100000"/>
              </a:lnSpc>
              <a:buClr>
                <a:srgbClr val="000000"/>
              </a:buClr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אוקטובר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2.3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₪ מיליון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64%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מיעד מטרה</a:t>
            </a:r>
          </a:p>
          <a:p>
            <a:pPr defTabSz="1219170">
              <a:buClr>
                <a:srgbClr val="000000"/>
              </a:buClr>
            </a:pPr>
            <a:endParaRPr lang="en-US" sz="1050" b="1" kern="0" dirty="0">
              <a:solidFill>
                <a:srgbClr val="5B6B82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112A-8DCB-2110-4995-6F16F947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D5E867F3-06EA-B9A0-8332-5D6000A0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70FDBB16-6112-8523-C6A5-0201C33C1AA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צפי לסיום 2026 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5EF63494-99D3-FCEB-8CC8-25C9D2AD3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84657"/>
              </p:ext>
            </p:extLst>
          </p:nvPr>
        </p:nvGraphicFramePr>
        <p:xfrm>
          <a:off x="7352715" y="1708337"/>
          <a:ext cx="3756264" cy="2543175"/>
        </p:xfrm>
        <a:graphic>
          <a:graphicData uri="http://schemas.openxmlformats.org/drawingml/2006/table">
            <a:tbl>
              <a:tblPr rtl="1"/>
              <a:tblGrid>
                <a:gridCol w="1156464">
                  <a:extLst>
                    <a:ext uri="{9D8B030D-6E8A-4147-A177-3AD203B41FA5}">
                      <a16:colId xmlns:a16="http://schemas.microsoft.com/office/drawing/2014/main" val="2423334984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4285592505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2503073280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319335171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לקוח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מטרה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ביצוע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98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Life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0215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סופרפארם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6.1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863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1588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בתי מרקחת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6821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כללית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3651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מאוחדת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7760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אורטופדיה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6032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פיזיותרפיה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116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אתר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7.6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69%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2524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אמזון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222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מפיצים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62698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אחרים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7792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סה"כ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         27.4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         31.9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295717"/>
                  </a:ext>
                </a:extLst>
              </a:tr>
            </a:tbl>
          </a:graphicData>
        </a:graphic>
      </p:graphicFrame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8BC3A384-01F9-1D43-B6AC-A7F5550A4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372906"/>
              </p:ext>
            </p:extLst>
          </p:nvPr>
        </p:nvGraphicFramePr>
        <p:xfrm>
          <a:off x="1349526" y="1708337"/>
          <a:ext cx="4591210" cy="2772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DAEF08E-4C3A-3969-974E-BB88C18ABF9B}"/>
              </a:ext>
            </a:extLst>
          </p:cNvPr>
          <p:cNvSpPr txBox="1"/>
          <p:nvPr/>
        </p:nvSpPr>
        <p:spPr>
          <a:xfrm>
            <a:off x="946842" y="4779786"/>
            <a:ext cx="3844068" cy="7397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</a:rPr>
              <a:t>צפי עמידה ב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</a:rPr>
              <a:t>86%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</a:rPr>
              <a:t> מיעד המטרה 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5367166-411C-C20C-1329-9F7028A3BBAE}"/>
              </a:ext>
            </a:extLst>
          </p:cNvPr>
          <p:cNvSpPr txBox="1"/>
          <p:nvPr/>
        </p:nvSpPr>
        <p:spPr>
          <a:xfrm rot="16200000">
            <a:off x="4059936" y="2996588"/>
            <a:ext cx="209397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200" dirty="0"/>
              <a:t>עודכן ביולי 2026</a:t>
            </a:r>
          </a:p>
        </p:txBody>
      </p:sp>
      <p:sp>
        <p:nvSpPr>
          <p:cNvPr id="6" name="סוגר מסולסל ימני 5">
            <a:extLst>
              <a:ext uri="{FF2B5EF4-FFF2-40B4-BE49-F238E27FC236}">
                <a16:creationId xmlns:a16="http://schemas.microsoft.com/office/drawing/2014/main" id="{5AA69D9C-61CC-6B04-C284-73EAD2F70250}"/>
              </a:ext>
            </a:extLst>
          </p:cNvPr>
          <p:cNvSpPr/>
          <p:nvPr/>
        </p:nvSpPr>
        <p:spPr>
          <a:xfrm rot="5400000">
            <a:off x="2688943" y="3510479"/>
            <a:ext cx="373687" cy="2313431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87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3E5B-1A14-C342-25E7-91B773BB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1E4F773A-F76A-634D-5265-7982AAEA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D818506A-1019-9170-2F9D-854BC773EEF9}"/>
              </a:ext>
            </a:extLst>
          </p:cNvPr>
          <p:cNvSpPr txBox="1"/>
          <p:nvPr/>
        </p:nvSpPr>
        <p:spPr>
          <a:xfrm>
            <a:off x="3381315" y="384829"/>
            <a:ext cx="794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121917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he-IL" sz="2133" b="1" i="0" u="none" strike="noStrike" kern="0" cap="none" spc="0" normalizeH="0" baseline="0" noProof="0" dirty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 מכירות –2026 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התפלגות לפי לקוחות  </a:t>
            </a:r>
          </a:p>
        </p:txBody>
      </p:sp>
      <p:graphicFrame>
        <p:nvGraphicFramePr>
          <p:cNvPr id="3" name="תרשים 2">
            <a:extLst>
              <a:ext uri="{FF2B5EF4-FFF2-40B4-BE49-F238E27FC236}">
                <a16:creationId xmlns:a16="http://schemas.microsoft.com/office/drawing/2014/main" id="{E8D7A057-64CB-B297-FEC2-45B78BEF3B61}"/>
              </a:ext>
            </a:extLst>
          </p:cNvPr>
          <p:cNvGraphicFramePr>
            <a:graphicFrameLocks/>
          </p:cNvGraphicFramePr>
          <p:nvPr/>
        </p:nvGraphicFramePr>
        <p:xfrm>
          <a:off x="2326158" y="1268044"/>
          <a:ext cx="7539685" cy="4321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4571826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143</Words>
  <Application>Microsoft Office PowerPoint</Application>
  <PresentationFormat>מסך רחב</PresentationFormat>
  <Paragraphs>63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6" baseType="lpstr">
      <vt:lpstr>Arial</vt:lpstr>
      <vt:lpstr>Assistant</vt:lpstr>
      <vt:lpstr>Simple Light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3</cp:revision>
  <dcterms:created xsi:type="dcterms:W3CDTF">2026-10-27T09:13:47Z</dcterms:created>
  <dcterms:modified xsi:type="dcterms:W3CDTF">2026-10-27T10:23:48Z</dcterms:modified>
</cp:coreProperties>
</file>