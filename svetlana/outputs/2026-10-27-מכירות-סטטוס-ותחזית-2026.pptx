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60" r:id="rId1"/>
  </p:sldMasterIdLst>
  <p:sldIdLst>
    <p:sldId id="324" r:id="rId2"/>
    <p:sldId id="325" r:id="rId3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C459EE-3727-4B38-A870-DECBB1E56CE6}" v="3" dt="2026-10-27T09:50:20.45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00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4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yal Sadot" userId="9c57a40b-08c8-435b-851c-1854c25cf41d" providerId="ADAL" clId="{02003448-2CBC-42C7-80BD-DC4C07BEB2CD}"/>
    <pc:docChg chg="addSld modSld">
      <pc:chgData name="Eyal Sadot" userId="9c57a40b-08c8-435b-851c-1854c25cf41d" providerId="ADAL" clId="{02003448-2CBC-42C7-80BD-DC4C07BEB2CD}" dt="2026-10-27T09:50:20.459" v="2"/>
      <pc:docMkLst>
        <pc:docMk/>
      </pc:docMkLst>
      <pc:sldChg chg="addSp modSp add">
        <pc:chgData name="Eyal Sadot" userId="9c57a40b-08c8-435b-851c-1854c25cf41d" providerId="ADAL" clId="{02003448-2CBC-42C7-80BD-DC4C07BEB2CD}" dt="2026-10-27T09:50:20.459" v="2"/>
        <pc:sldMkLst>
          <pc:docMk/>
          <pc:sldMk cId="423875914" sldId="325"/>
        </pc:sldMkLst>
        <pc:graphicFrameChg chg="add mod">
          <ac:chgData name="Eyal Sadot" userId="9c57a40b-08c8-435b-851c-1854c25cf41d" providerId="ADAL" clId="{02003448-2CBC-42C7-80BD-DC4C07BEB2CD}" dt="2026-10-27T09:49:58.525" v="1"/>
          <ac:graphicFrameMkLst>
            <pc:docMk/>
            <pc:sldMk cId="423875914" sldId="325"/>
            <ac:graphicFrameMk id="2" creationId="{5EF63494-99D3-FCEB-8CC8-25C9D2AD3F89}"/>
          </ac:graphicFrameMkLst>
        </pc:graphicFrameChg>
        <pc:graphicFrameChg chg="add mod">
          <ac:chgData name="Eyal Sadot" userId="9c57a40b-08c8-435b-851c-1854c25cf41d" providerId="ADAL" clId="{02003448-2CBC-42C7-80BD-DC4C07BEB2CD}" dt="2026-10-27T09:50:20.459" v="2"/>
          <ac:graphicFrameMkLst>
            <pc:docMk/>
            <pc:sldMk cId="423875914" sldId="325"/>
            <ac:graphicFrameMk id="4" creationId="{8BC3A384-01F9-1D43-B6AC-A7F5550A409D}"/>
          </ac:graphicFrameMkLst>
        </pc:graphicFrame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1156658meditex-my.sharepoint.com/personal/eyals_uriel_co_il/Documents/&#1513;&#1493;&#1500;&#1495;&#1503;%20&#1492;&#1506;&#1489;&#1493;&#1491;&#1492;/&#1514;&#1511;&#1510;&#1497;&#1489;%202027/&#1511;&#1493;&#1489;&#1509;%20&#1506;&#1489;&#1493;&#1491;&#1492;%20&#1500;&#1502;&#1510;&#1490;&#1514;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https://1156658meditex-my.sharepoint.com/personal/eyals_uriel_co_il/Documents/&#1513;&#1493;&#1500;&#1495;&#1503;%20&#1492;&#1506;&#1489;&#1493;&#1491;&#1492;/&#1514;&#1511;&#1510;&#1497;&#1489;%202027/&#1511;&#1493;&#1489;&#1509;%20&#1506;&#1489;&#1493;&#1491;&#1492;%20&#1500;&#1502;&#1510;&#1490;&#1514;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e-I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8.8973625675246269E-3"/>
          <c:y val="9.5250000000000001E-2"/>
          <c:w val="0.91483952971083571"/>
          <c:h val="0.7230717500000000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'אוקטובר '!$G$2</c:f>
              <c:strCache>
                <c:ptCount val="1"/>
                <c:pt idx="0">
                  <c:v>בפועל </c:v>
                </c:pt>
              </c:strCache>
            </c:strRef>
          </c:tx>
          <c:spPr>
            <a:solidFill>
              <a:srgbClr val="002F6C"/>
            </a:solidFill>
            <a:ln>
              <a:noFill/>
            </a:ln>
            <a:effectLst/>
          </c:spPr>
          <c:invertIfNegative val="0"/>
          <c:dLbls>
            <c:numFmt formatCode="#,##0,&quot;K&quot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rgbClr val="002F6C"/>
                    </a:solidFill>
                    <a:latin typeface="+mn-lt"/>
                    <a:ea typeface="+mn-ea"/>
                    <a:cs typeface="+mn-lt"/>
                  </a:defRPr>
                </a:pPr>
                <a:endParaRPr lang="he-I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'אוקטובר '!$F$3:$F$14</c:f>
              <c:strCache>
                <c:ptCount val="12"/>
                <c:pt idx="0">
                  <c:v>Life</c:v>
                </c:pt>
                <c:pt idx="1">
                  <c:v>סופרפארם</c:v>
                </c:pt>
                <c:pt idx="2">
                  <c:v>BE</c:v>
                </c:pt>
                <c:pt idx="3">
                  <c:v>בתי מרקחת</c:v>
                </c:pt>
                <c:pt idx="4">
                  <c:v>כללית</c:v>
                </c:pt>
                <c:pt idx="5">
                  <c:v>מאוחדת</c:v>
                </c:pt>
                <c:pt idx="6">
                  <c:v>אורטופדיה</c:v>
                </c:pt>
                <c:pt idx="7">
                  <c:v>פיזיותרפיה</c:v>
                </c:pt>
                <c:pt idx="8">
                  <c:v>אתר </c:v>
                </c:pt>
                <c:pt idx="9">
                  <c:v>אמזון </c:v>
                </c:pt>
                <c:pt idx="10">
                  <c:v>מפיצים </c:v>
                </c:pt>
                <c:pt idx="11">
                  <c:v>אחרים </c:v>
                </c:pt>
              </c:strCache>
            </c:strRef>
          </c:cat>
          <c:val>
            <c:numRef>
              <c:f>'אוקטובר '!$G$3:$G$14</c:f>
              <c:numCache>
                <c:formatCode>_ * #,##0_ ;_ * \-#,##0_ ;_ * \-??_ ;_ @_ </c:formatCode>
                <c:ptCount val="12"/>
                <c:pt idx="0">
                  <c:v>155000</c:v>
                </c:pt>
                <c:pt idx="1">
                  <c:v>500000</c:v>
                </c:pt>
                <c:pt idx="2">
                  <c:v>100000</c:v>
                </c:pt>
                <c:pt idx="3">
                  <c:v>150000</c:v>
                </c:pt>
                <c:pt idx="4">
                  <c:v>220000</c:v>
                </c:pt>
                <c:pt idx="5">
                  <c:v>60000</c:v>
                </c:pt>
                <c:pt idx="6">
                  <c:v>80000</c:v>
                </c:pt>
                <c:pt idx="7">
                  <c:v>30000</c:v>
                </c:pt>
                <c:pt idx="8" formatCode="_ * #,##0_ ;_ * \-#,##0_ ;_ * &quot;-&quot;??_ ;_ @_ ">
                  <c:v>400000</c:v>
                </c:pt>
                <c:pt idx="9" formatCode="_ * #,##0_ ;_ * \-#,##0_ ;_ * &quot;-&quot;??_ ;_ @_ ">
                  <c:v>200000</c:v>
                </c:pt>
                <c:pt idx="10" formatCode="_ * #,##0_ ;_ * \-#,##0_ ;_ * &quot;-&quot;??_ ;_ @_ ">
                  <c:v>200000</c:v>
                </c:pt>
                <c:pt idx="11">
                  <c:v>260000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B6F-4F33-A568-1B6034ED948B}"/>
            </c:ext>
          </c:extLst>
        </c:ser>
        <c:ser>
          <c:idx val="1"/>
          <c:order val="1"/>
          <c:tx>
            <c:strRef>
              <c:f>'אוקטובר '!$H$2</c:f>
              <c:strCache>
                <c:ptCount val="1"/>
                <c:pt idx="0">
                  <c:v>מטרה </c:v>
                </c:pt>
              </c:strCache>
            </c:strRef>
          </c:tx>
          <c:spPr>
            <a:solidFill>
              <a:srgbClr val="D9D9D9"/>
            </a:solidFill>
            <a:ln>
              <a:noFill/>
            </a:ln>
            <a:effectLst/>
          </c:spPr>
          <c:invertIfNegative val="0"/>
          <c:dLbls>
            <c:numFmt formatCode="#,##0,&quot;K&quot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1" i="0" u="none" strike="noStrike" kern="1200" baseline="0">
                    <a:solidFill>
                      <a:srgbClr val="5B6B82"/>
                    </a:solidFill>
                    <a:latin typeface="+mn-lt"/>
                    <a:ea typeface="+mn-ea"/>
                    <a:cs typeface="+mn-lt"/>
                  </a:defRPr>
                </a:pPr>
                <a:endParaRPr lang="he-I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'אוקטובר '!$F$3:$F$14</c:f>
              <c:strCache>
                <c:ptCount val="12"/>
                <c:pt idx="0">
                  <c:v>Life</c:v>
                </c:pt>
                <c:pt idx="1">
                  <c:v>סופרפארם</c:v>
                </c:pt>
                <c:pt idx="2">
                  <c:v>BE</c:v>
                </c:pt>
                <c:pt idx="3">
                  <c:v>בתי מרקחת</c:v>
                </c:pt>
                <c:pt idx="4">
                  <c:v>כללית</c:v>
                </c:pt>
                <c:pt idx="5">
                  <c:v>מאוחדת</c:v>
                </c:pt>
                <c:pt idx="6">
                  <c:v>אורטופדיה</c:v>
                </c:pt>
                <c:pt idx="7">
                  <c:v>פיזיותרפיה</c:v>
                </c:pt>
                <c:pt idx="8">
                  <c:v>אתר </c:v>
                </c:pt>
                <c:pt idx="9">
                  <c:v>אמזון </c:v>
                </c:pt>
                <c:pt idx="10">
                  <c:v>מפיצים </c:v>
                </c:pt>
                <c:pt idx="11">
                  <c:v>אחרים </c:v>
                </c:pt>
              </c:strCache>
            </c:strRef>
          </c:cat>
          <c:val>
            <c:numRef>
              <c:f>'אוקטובר '!$H$3:$H$14</c:f>
              <c:numCache>
                <c:formatCode>_ * #,##0_ ;_ * \-#,##0_ ;_ * "-"??_ ;_ @_ </c:formatCode>
                <c:ptCount val="12"/>
                <c:pt idx="0">
                  <c:v>200000</c:v>
                </c:pt>
                <c:pt idx="1">
                  <c:v>550000</c:v>
                </c:pt>
                <c:pt idx="2">
                  <c:v>100000</c:v>
                </c:pt>
                <c:pt idx="3">
                  <c:v>200000</c:v>
                </c:pt>
                <c:pt idx="4">
                  <c:v>330000</c:v>
                </c:pt>
                <c:pt idx="5">
                  <c:v>100000</c:v>
                </c:pt>
                <c:pt idx="6">
                  <c:v>100000</c:v>
                </c:pt>
                <c:pt idx="7">
                  <c:v>25000</c:v>
                </c:pt>
                <c:pt idx="8">
                  <c:v>1159556.779661017</c:v>
                </c:pt>
                <c:pt idx="9">
                  <c:v>321888.59999999998</c:v>
                </c:pt>
                <c:pt idx="10">
                  <c:v>550000</c:v>
                </c:pt>
                <c:pt idx="11">
                  <c:v>45000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B6F-4F33-A568-1B6034ED94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35"/>
        <c:axId val="969194416"/>
        <c:axId val="969194056"/>
      </c:barChart>
      <c:catAx>
        <c:axId val="969194416"/>
        <c:scaling>
          <c:orientation val="maxMin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rgbClr val="D9D9D9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950" b="0" i="0" u="none" strike="noStrike" kern="1200" baseline="0">
                <a:solidFill>
                  <a:srgbClr val="5B6B82"/>
                </a:solidFill>
                <a:latin typeface="+mn-lt"/>
                <a:ea typeface="+mn-ea"/>
                <a:cs typeface="+mn-cs"/>
              </a:defRPr>
            </a:pPr>
            <a:endParaRPr lang="he-IL"/>
          </a:p>
        </c:txPr>
        <c:crossAx val="969194056"/>
        <c:crosses val="autoZero"/>
        <c:auto val="1"/>
        <c:lblAlgn val="ctr"/>
        <c:lblOffset val="100"/>
        <c:noMultiLvlLbl val="0"/>
      </c:catAx>
      <c:valAx>
        <c:axId val="969194056"/>
        <c:scaling>
          <c:orientation val="minMax"/>
        </c:scaling>
        <c:delete val="1"/>
        <c:axPos val="r"/>
        <c:numFmt formatCode="#,##0,&quot;K&quot;" sourceLinked="0"/>
        <c:majorTickMark val="none"/>
        <c:minorTickMark val="none"/>
        <c:tickLblPos val="nextTo"/>
        <c:crossAx val="9691944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1133112650718478E-2"/>
          <c:y val="0.92042425000000017"/>
          <c:w val="0.11341845377049509"/>
          <c:h val="5.417575000000000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1" i="0" u="none" strike="noStrike" kern="1200" baseline="0">
              <a:solidFill>
                <a:srgbClr val="5B6B82"/>
              </a:solidFill>
              <a:latin typeface="+mn-lt"/>
              <a:ea typeface="+mn-ea"/>
              <a:cs typeface="+mn-cs"/>
            </a:defRPr>
          </a:pPr>
          <a:endParaRPr lang="he-I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he-I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e-I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spPr>
              <a:solidFill>
                <a:srgbClr val="D9D9D9"/>
              </a:solidFill>
              <a:ln>
                <a:noFill/>
              </a:ln>
              <a:effectLst/>
            </c:spPr>
          </c:dPt>
          <c:dPt>
            <c:idx val="1"/>
            <c:invertIfNegative val="0"/>
            <c:spPr>
              <a:solidFill>
                <a:srgbClr val="5B6B82"/>
              </a:solidFill>
              <a:ln>
                <a:noFill/>
              </a:ln>
              <a:effectLst/>
            </c:spPr>
          </c:dPt>
          <c:dPt>
            <c:idx val="2"/>
            <c:invertIfNegative val="0"/>
            <c:spPr>
              <a:solidFill>
                <a:srgbClr val="002F6C"/>
              </a:solidFill>
              <a:ln>
                <a:noFill/>
              </a:ln>
              <a:effectLst/>
            </c:spPr>
          </c:dPt>
          <c:dLbls>
            <c:numFmt formatCode="0.0&quot;M&quot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1" i="0" u="none" strike="noStrike" kern="1200" baseline="0">
                    <a:solidFill>
                      <a:srgbClr val="002F6C"/>
                    </a:solidFill>
                    <a:latin typeface="+mn-lt"/>
                    <a:ea typeface="+mn-ea"/>
                    <a:cs typeface="+mn-cs"/>
                  </a:defRPr>
                </a:pPr>
                <a:endParaRPr lang="he-I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'2026'!$U$32:$W$32</c:f>
              <c:strCache>
                <c:ptCount val="3"/>
                <c:pt idx="0">
                  <c:v>תקציב </c:v>
                </c:pt>
                <c:pt idx="1">
                  <c:v>מטרה </c:v>
                </c:pt>
                <c:pt idx="2">
                  <c:v>בפועל </c:v>
                </c:pt>
              </c:strCache>
            </c:strRef>
          </c:cat>
          <c:val>
            <c:numRef>
              <c:f>'2026'!$U$33:$W$33</c:f>
              <c:numCache>
                <c:formatCode>0.0</c:formatCode>
                <c:ptCount val="3"/>
                <c:pt idx="0" formatCode="_ * #,##0.0_ ;_ * \-#,##0.0_ ;_ * \-??_ ;_ @_ ">
                  <c:v>41.241479212609534</c:v>
                </c:pt>
                <c:pt idx="1">
                  <c:v>31.924454020559352</c:v>
                </c:pt>
                <c:pt idx="2">
                  <c:v>27.41142646300003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99-411D-AA1A-BC80BCC2108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-27"/>
        <c:axId val="956399088"/>
        <c:axId val="956398008"/>
      </c:barChart>
      <c:catAx>
        <c:axId val="956399088"/>
        <c:scaling>
          <c:orientation val="maxMin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rgbClr val="D9D9D9"/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>
              <a:defRPr sz="950" b="0" i="0" u="none" strike="noStrike" kern="1200" baseline="0">
                <a:solidFill>
                  <a:srgbClr val="5B6B82"/>
                </a:solidFill>
                <a:latin typeface="+mn-lt"/>
                <a:ea typeface="+mn-ea"/>
                <a:cs typeface="+mn-cs"/>
              </a:defRPr>
            </a:pPr>
            <a:endParaRPr lang="he-IL"/>
          </a:p>
        </c:txPr>
        <c:crossAx val="956398008"/>
        <c:crosses val="autoZero"/>
        <c:auto val="1"/>
        <c:lblAlgn val="ctr"/>
        <c:lblOffset val="100"/>
        <c:noMultiLvlLbl val="0"/>
      </c:catAx>
      <c:valAx>
        <c:axId val="956398008"/>
        <c:scaling>
          <c:orientation val="minMax"/>
        </c:scaling>
        <c:delete val="1"/>
        <c:axPos val="r"/>
        <c:numFmt formatCode="_ * #,##0.0_ ;_ * \-#,##0.0_ ;_ * \-??_ ;_ @_ " sourceLinked="1"/>
        <c:majorTickMark val="none"/>
        <c:minorTickMark val="none"/>
        <c:tickLblPos val="nextTo"/>
        <c:crossAx val="9563990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he-I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7422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rtl="0"/>
            <a:fld id="{00000000-1234-1234-1234-123412341234}" type="slidenum">
              <a:rPr lang="en" smtClean="0"/>
              <a:pPr rtl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06759235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0" name="FooterLine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23001"/>
            <a:ext cx="12192000" cy="495300"/>
          </a:xfrm>
          <a:prstGeom prst="rect">
            <a:avLst/>
          </a:prstGeom>
        </p:spPr>
      </p:pic>
      <p:sp>
        <p:nvSpPr>
          <p:cNvPr id="5" name="Google Shape;107;g341c3af2acd_1_217">
            <a:extLst>
              <a:ext uri="{FF2B5EF4-FFF2-40B4-BE49-F238E27FC236}">
                <a16:creationId xmlns:a16="http://schemas.microsoft.com/office/drawing/2014/main" id="{F9CDF83A-0AE7-FE03-0942-2B1303137FD4}"/>
              </a:ext>
            </a:extLst>
          </p:cNvPr>
          <p:cNvSpPr txBox="1"/>
          <p:nvPr/>
        </p:nvSpPr>
        <p:spPr>
          <a:xfrm>
            <a:off x="3381315" y="384829"/>
            <a:ext cx="7942800" cy="3282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 defTabSz="1219170" rtl="1">
              <a:buSzPts val="1500"/>
            </a:pPr>
            <a:r>
              <a:rPr lang="he-IL" sz="2133" b="1" kern="0" dirty="0">
                <a:solidFill>
                  <a:srgbClr val="002F6C"/>
                </a:solidFill>
                <a:latin typeface="Assistant"/>
                <a:ea typeface="Assistant"/>
                <a:cs typeface="Assistant"/>
                <a:sym typeface="Assistant"/>
              </a:rPr>
              <a:t> מכירות – סטטוס אוקטובר</a:t>
            </a:r>
            <a:r>
              <a:rPr lang="en-US" sz="2133" b="1" kern="0" dirty="0">
                <a:solidFill>
                  <a:srgbClr val="002F6C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2133" b="1" kern="0" dirty="0">
                <a:solidFill>
                  <a:srgbClr val="002F6C"/>
                </a:solidFill>
                <a:latin typeface="Assistant"/>
                <a:ea typeface="Assistant"/>
                <a:cs typeface="Assistant"/>
                <a:sym typeface="Assistant"/>
              </a:rPr>
              <a:t>ביצוע מול מטרה  </a:t>
            </a:r>
          </a:p>
        </p:txBody>
      </p:sp>
      <p:graphicFrame>
        <p:nvGraphicFramePr>
          <p:cNvPr id="6" name="תרשים 5">
            <a:extLst>
              <a:ext uri="{FF2B5EF4-FFF2-40B4-BE49-F238E27FC236}">
                <a16:creationId xmlns:a16="http://schemas.microsoft.com/office/drawing/2014/main" id="{80D1267B-1FF0-4263-1152-64F11063591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2666735"/>
              </p:ext>
            </p:extLst>
          </p:nvPr>
        </p:nvGraphicFramePr>
        <p:xfrm>
          <a:off x="1438275" y="1108000"/>
          <a:ext cx="9991725" cy="40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תיבת טקסט 8">
            <a:extLst>
              <a:ext uri="{FF2B5EF4-FFF2-40B4-BE49-F238E27FC236}">
                <a16:creationId xmlns:a16="http://schemas.microsoft.com/office/drawing/2014/main" id="{A52C56A1-97C3-B411-CF67-DFD1B1B545C9}"/>
              </a:ext>
            </a:extLst>
          </p:cNvPr>
          <p:cNvSpPr txBox="1"/>
          <p:nvPr/>
        </p:nvSpPr>
        <p:spPr>
          <a:xfrm>
            <a:off x="3006461" y="5183860"/>
            <a:ext cx="7747264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en-US" sz="1050" b="1" kern="0" dirty="0">
                <a:solidFill>
                  <a:schemeClr val="accent1">
                    <a:lumMod val="50000"/>
                  </a:schemeClr>
                </a:solidFill>
                <a:sym typeface="Arial"/>
              </a:rPr>
              <a:t>YTD</a:t>
            </a:r>
            <a:r>
              <a:rPr lang="he-IL" sz="1050" b="1" kern="0" dirty="0">
                <a:solidFill>
                  <a:schemeClr val="accent1">
                    <a:lumMod val="50000"/>
                  </a:schemeClr>
                </a:solidFill>
                <a:sym typeface="Arial"/>
              </a:rPr>
              <a:t> </a:t>
            </a:r>
            <a:r>
              <a:rPr lang="en-US" sz="2000" b="1" kern="0" dirty="0">
                <a:solidFill>
                  <a:schemeClr val="accent1">
                    <a:lumMod val="50000"/>
                  </a:schemeClr>
                </a:solidFill>
                <a:sym typeface="Arial"/>
              </a:rPr>
              <a:t>21.5</a:t>
            </a:r>
            <a:r>
              <a:rPr lang="he-IL" sz="1050" b="1" kern="0" dirty="0">
                <a:solidFill>
                  <a:schemeClr val="accent1">
                    <a:lumMod val="50000"/>
                  </a:schemeClr>
                </a:solidFill>
                <a:sym typeface="Arial"/>
              </a:rPr>
              <a:t> ₪ מיליון </a:t>
            </a:r>
            <a:r>
              <a:rPr lang="en-US" sz="2000" b="1" kern="0" dirty="0">
                <a:solidFill>
                  <a:schemeClr val="accent1">
                    <a:lumMod val="50000"/>
                  </a:schemeClr>
                </a:solidFill>
                <a:sym typeface="Arial"/>
              </a:rPr>
              <a:t>86%</a:t>
            </a:r>
            <a:r>
              <a:rPr lang="he-IL" sz="1050" b="1" kern="0" dirty="0">
                <a:solidFill>
                  <a:schemeClr val="accent1">
                    <a:lumMod val="50000"/>
                  </a:schemeClr>
                </a:solidFill>
                <a:sym typeface="Arial"/>
              </a:rPr>
              <a:t> מיעד מטרה</a:t>
            </a:r>
          </a:p>
        </p:txBody>
      </p:sp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F659CE67-E4B5-62A9-8A26-B115E68BA0B3}"/>
              </a:ext>
            </a:extLst>
          </p:cNvPr>
          <p:cNvSpPr txBox="1"/>
          <p:nvPr/>
        </p:nvSpPr>
        <p:spPr>
          <a:xfrm>
            <a:off x="3006461" y="1254794"/>
            <a:ext cx="7747264" cy="74635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defTabSz="1219170" rtl="1">
              <a:lnSpc>
                <a:spcPct val="100000"/>
              </a:lnSpc>
              <a:buClr>
                <a:srgbClr val="000000"/>
              </a:buClr>
            </a:pPr>
            <a:r>
              <a:rPr lang="he-IL" sz="1400" b="1" kern="0" dirty="0">
                <a:solidFill>
                  <a:srgbClr val="5B6B82"/>
                </a:solidFill>
                <a:latin typeface="Arial"/>
                <a:cs typeface="Arial" panose="020B0604020202020204" pitchFamily="34" charset="0"/>
                <a:sym typeface="Arial"/>
              </a:rPr>
              <a:t>אוקטובר </a:t>
            </a:r>
            <a:r>
              <a:rPr lang="he-IL" sz="3200" b="1" kern="0" dirty="0">
                <a:solidFill>
                  <a:srgbClr val="002F6C"/>
                </a:solidFill>
                <a:latin typeface="Arial"/>
                <a:cs typeface="Arial" panose="020B0604020202020204" pitchFamily="34" charset="0"/>
                <a:sym typeface="Arial"/>
              </a:rPr>
              <a:t>2.3</a:t>
            </a:r>
            <a:r>
              <a:rPr lang="he-IL" sz="1400" b="1" kern="0" dirty="0">
                <a:solidFill>
                  <a:srgbClr val="5B6B82"/>
                </a:solidFill>
                <a:latin typeface="Arial"/>
                <a:cs typeface="Arial" panose="020B0604020202020204" pitchFamily="34" charset="0"/>
                <a:sym typeface="Arial"/>
              </a:rPr>
              <a:t> ₪ מיליון </a:t>
            </a:r>
            <a:r>
              <a:rPr lang="he-IL" sz="3200" b="1" kern="0" dirty="0">
                <a:solidFill>
                  <a:srgbClr val="002F6C"/>
                </a:solidFill>
                <a:latin typeface="Arial"/>
                <a:cs typeface="Arial" panose="020B0604020202020204" pitchFamily="34" charset="0"/>
                <a:sym typeface="Arial"/>
              </a:rPr>
              <a:t>64%</a:t>
            </a:r>
            <a:r>
              <a:rPr lang="he-IL" sz="1400" b="1" kern="0" dirty="0">
                <a:solidFill>
                  <a:srgbClr val="5B6B82"/>
                </a:solidFill>
                <a:latin typeface="Arial"/>
                <a:cs typeface="Arial" panose="020B0604020202020204" pitchFamily="34" charset="0"/>
                <a:sym typeface="Arial"/>
              </a:rPr>
              <a:t> מיעד מטרה</a:t>
            </a:r>
          </a:p>
          <a:p>
            <a:pPr defTabSz="1219170">
              <a:buClr>
                <a:srgbClr val="000000"/>
              </a:buClr>
            </a:pPr>
            <a:endParaRPr lang="en-US" sz="1050" b="1" kern="0" dirty="0">
              <a:solidFill>
                <a:srgbClr val="5B6B82"/>
              </a:solidFill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4112A-8DCB-2110-4995-6F16F947F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0" name="FooterLineLogo">
            <a:extLst>
              <a:ext uri="{FF2B5EF4-FFF2-40B4-BE49-F238E27FC236}">
                <a16:creationId xmlns:a16="http://schemas.microsoft.com/office/drawing/2014/main" id="{D5E867F3-06EA-B9A0-8332-5D6000A07C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23001"/>
            <a:ext cx="12192000" cy="495300"/>
          </a:xfrm>
          <a:prstGeom prst="rect">
            <a:avLst/>
          </a:prstGeom>
        </p:spPr>
      </p:pic>
      <p:sp>
        <p:nvSpPr>
          <p:cNvPr id="5" name="Google Shape;107;g341c3af2acd_1_217">
            <a:extLst>
              <a:ext uri="{FF2B5EF4-FFF2-40B4-BE49-F238E27FC236}">
                <a16:creationId xmlns:a16="http://schemas.microsoft.com/office/drawing/2014/main" id="{70FDBB16-6112-8523-C6A5-0201C33C1AA4}"/>
              </a:ext>
            </a:extLst>
          </p:cNvPr>
          <p:cNvSpPr txBox="1"/>
          <p:nvPr/>
        </p:nvSpPr>
        <p:spPr>
          <a:xfrm>
            <a:off x="3381315" y="384829"/>
            <a:ext cx="7942800" cy="3282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 defTabSz="1219170" rtl="1">
              <a:buSzPts val="1500"/>
            </a:pPr>
            <a:r>
              <a:rPr lang="he-IL" sz="2133" b="1" kern="0" dirty="0">
                <a:solidFill>
                  <a:srgbClr val="002F6C"/>
                </a:solidFill>
                <a:latin typeface="Assistant"/>
                <a:ea typeface="Assistant"/>
                <a:cs typeface="Assistant"/>
                <a:sym typeface="Assistant"/>
              </a:rPr>
              <a:t> מכירות – צפי לסיום 2026  </a:t>
            </a:r>
          </a:p>
        </p:txBody>
      </p:sp>
      <p:graphicFrame>
        <p:nvGraphicFramePr>
          <p:cNvPr id="2" name="טבלה 1">
            <a:extLst>
              <a:ext uri="{FF2B5EF4-FFF2-40B4-BE49-F238E27FC236}">
                <a16:creationId xmlns:a16="http://schemas.microsoft.com/office/drawing/2014/main" id="{5EF63494-99D3-FCEB-8CC8-25C9D2AD3F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3751525"/>
              </p:ext>
            </p:extLst>
          </p:nvPr>
        </p:nvGraphicFramePr>
        <p:xfrm>
          <a:off x="7500000" y="1434017"/>
          <a:ext cx="4200000" cy="2543175"/>
        </p:xfrm>
        <a:graphic>
          <a:graphicData uri="http://schemas.openxmlformats.org/drawingml/2006/table">
            <a:tbl>
              <a:tblPr rtl="1"/>
              <a:tblGrid>
                <a:gridCol w="1600200">
                  <a:extLst>
                    <a:ext uri="{9D8B030D-6E8A-4147-A177-3AD203B41FA5}">
                      <a16:colId xmlns:a16="http://schemas.microsoft.com/office/drawing/2014/main" val="2423334984"/>
                    </a:ext>
                  </a:extLst>
                </a:gridCol>
                <a:gridCol w="866600">
                  <a:extLst>
                    <a:ext uri="{9D8B030D-6E8A-4147-A177-3AD203B41FA5}">
                      <a16:colId xmlns:a16="http://schemas.microsoft.com/office/drawing/2014/main" val="4285592505"/>
                    </a:ext>
                  </a:extLst>
                </a:gridCol>
                <a:gridCol w="866600">
                  <a:extLst>
                    <a:ext uri="{9D8B030D-6E8A-4147-A177-3AD203B41FA5}">
                      <a16:colId xmlns:a16="http://schemas.microsoft.com/office/drawing/2014/main" val="2503073280"/>
                    </a:ext>
                  </a:extLst>
                </a:gridCol>
                <a:gridCol w="866600">
                  <a:extLst>
                    <a:ext uri="{9D8B030D-6E8A-4147-A177-3AD203B41FA5}">
                      <a16:colId xmlns:a16="http://schemas.microsoft.com/office/drawing/2014/main" val="3193351712"/>
                    </a:ext>
                  </a:extLst>
                </a:gridCol>
              </a:tblGrid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לקוח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F6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2026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F6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מטרה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F6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ביצוע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F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519886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Life</a:t>
                      </a:r>
                      <a:endParaRPr lang="he-IL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2.0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1.9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103%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4021540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סופרפארם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5.9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6.1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98%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5863879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BE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1.0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1.0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93%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7415884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בתי מרקחת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1.9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2.1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92%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6682118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כללית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3.5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3.7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95%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136516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מאוחדת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0.8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0.9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E0A62B"/>
                          </a:solidFill>
                          <a:effectLst/>
                          <a:latin typeface="Arial" panose="020B0604020202020204" pitchFamily="34" charset="0"/>
                        </a:rPr>
                        <a:t>83%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4776063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אורטופדיה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0.9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1.1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E0A62B"/>
                          </a:solidFill>
                          <a:effectLst/>
                          <a:latin typeface="Arial" panose="020B0604020202020204" pitchFamily="34" charset="0"/>
                        </a:rPr>
                        <a:t>88%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5603218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פיזיותרפיה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0.2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0.2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E0A62B"/>
                          </a:solidFill>
                          <a:effectLst/>
                          <a:latin typeface="Arial" panose="020B0604020202020204" pitchFamily="34" charset="0"/>
                        </a:rPr>
                        <a:t>75%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4811690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אתר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5.2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7.6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E0A62B"/>
                          </a:solidFill>
                          <a:effectLst/>
                          <a:latin typeface="Arial" panose="020B0604020202020204" pitchFamily="34" charset="0"/>
                        </a:rPr>
                        <a:t>69%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8252489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אמזון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2.7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3.1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E0A62B"/>
                          </a:solidFill>
                          <a:effectLst/>
                          <a:latin typeface="Arial" panose="020B0604020202020204" pitchFamily="34" charset="0"/>
                        </a:rPr>
                        <a:t>86%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22229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מפיצים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3.0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3.7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E0A62B"/>
                          </a:solidFill>
                          <a:effectLst/>
                          <a:latin typeface="Arial" panose="020B0604020202020204" pitchFamily="34" charset="0"/>
                        </a:rPr>
                        <a:t>82%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2626985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אחרים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0.2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0.4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E0A62B"/>
                          </a:solidFill>
                          <a:effectLst/>
                          <a:latin typeface="Arial" panose="020B0604020202020204" pitchFamily="34" charset="0"/>
                        </a:rPr>
                        <a:t>60%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37792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סה"כ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         27.4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         31.9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86%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3295717"/>
                  </a:ext>
                </a:extLst>
              </a:tr>
            </a:tbl>
          </a:graphicData>
        </a:graphic>
      </p:graphicFrame>
      <p:graphicFrame>
        <p:nvGraphicFramePr>
          <p:cNvPr id="4" name="תרשים 3">
            <a:extLst>
              <a:ext uri="{FF2B5EF4-FFF2-40B4-BE49-F238E27FC236}">
                <a16:creationId xmlns:a16="http://schemas.microsoft.com/office/drawing/2014/main" id="{8BC3A384-01F9-1D43-B6AC-A7F5550A409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9694613"/>
              </p:ext>
            </p:extLst>
          </p:nvPr>
        </p:nvGraphicFramePr>
        <p:xfrm>
          <a:off x="1943886" y="1434017"/>
          <a:ext cx="4591210" cy="277201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תיבת טקסט 7">
            <a:extLst>
              <a:ext uri="{FF2B5EF4-FFF2-40B4-BE49-F238E27FC236}">
                <a16:creationId xmlns:a16="http://schemas.microsoft.com/office/drawing/2014/main" id="{ADAEF08E-4C3A-3969-974E-BB88C18ABF9B}"/>
              </a:ext>
            </a:extLst>
          </p:cNvPr>
          <p:cNvSpPr txBox="1"/>
          <p:nvPr/>
        </p:nvSpPr>
        <p:spPr>
          <a:xfrm>
            <a:off x="4797012" y="4591407"/>
            <a:ext cx="58104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he-IL" sz="1400" b="1" kern="0" dirty="0">
                <a:solidFill>
                  <a:srgbClr val="5B6B82"/>
                </a:solidFill>
                <a:latin typeface="Arial"/>
                <a:cs typeface="Arial" panose="020B0604020202020204" pitchFamily="34" charset="0"/>
              </a:rPr>
              <a:t>עמידה ב </a:t>
            </a:r>
            <a:r>
              <a:rPr lang="he-IL" sz="3200" b="1" kern="0" dirty="0">
                <a:solidFill>
                  <a:srgbClr val="002F6C"/>
                </a:solidFill>
                <a:latin typeface="Arial"/>
                <a:cs typeface="Arial" panose="020B0604020202020204" pitchFamily="34" charset="0"/>
              </a:rPr>
              <a:t>86%</a:t>
            </a:r>
            <a:r>
              <a:rPr lang="he-IL" sz="1400" b="1" kern="0" dirty="0">
                <a:solidFill>
                  <a:srgbClr val="5B6B82"/>
                </a:solidFill>
                <a:latin typeface="Arial"/>
                <a:cs typeface="Arial" panose="020B0604020202020204" pitchFamily="34" charset="0"/>
              </a:rPr>
              <a:t> מיעד המטרה </a:t>
            </a:r>
          </a:p>
        </p:txBody>
      </p:sp>
    </p:spTree>
    <p:extLst>
      <p:ext uri="{BB962C8B-B14F-4D97-AF65-F5344CB8AC3E}">
        <p14:creationId xmlns:p14="http://schemas.microsoft.com/office/powerpoint/2010/main" val="423875914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132</Words>
  <Application>Microsoft Office PowerPoint</Application>
  <PresentationFormat>מסך רחב</PresentationFormat>
  <Paragraphs>61</Paragraphs>
  <Slides>2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2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2</vt:i4>
      </vt:variant>
    </vt:vector>
  </HeadingPairs>
  <TitlesOfParts>
    <vt:vector size="5" baseType="lpstr">
      <vt:lpstr>Arial</vt:lpstr>
      <vt:lpstr>Assistant</vt:lpstr>
      <vt:lpstr>Simple Light</vt:lpstr>
      <vt:lpstr>מצגת של PowerPoint‏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Eyal Sadot</dc:creator>
  <cp:lastModifiedBy>Eyal Sadot</cp:lastModifiedBy>
  <cp:revision>2</cp:revision>
  <dcterms:created xsi:type="dcterms:W3CDTF">2026-10-27T09:13:47Z</dcterms:created>
  <dcterms:modified xsi:type="dcterms:W3CDTF">2026-10-27T09:52:19Z</dcterms:modified>
</cp:coreProperties>
</file>