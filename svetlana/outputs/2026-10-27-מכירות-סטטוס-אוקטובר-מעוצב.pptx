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324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t" anchorCtr="0"/>
          <a:lstStyle/>
          <a:p>
            <a:pPr algn="r">
              <a:defRPr sz="1400" b="1" i="0" u="none" strike="noStrike" kern="1200" spc="0" baseline="0">
                <a:solidFill>
                  <a:srgbClr val="002F6C"/>
                </a:solidFill>
                <a:latin typeface="+mn-lt"/>
                <a:ea typeface="+mn-ea"/>
                <a:cs typeface="+mn-cs"/>
              </a:defRPr>
            </a:pPr>
            <a:r>
              <a:rPr lang="he-IL" sz="1400" b="1">
                <a:solidFill>
                  <a:srgbClr val="002F6C"/>
                </a:solidFill>
              </a:rPr>
              <a:t>מכירות חודש אוקטובר 2026 </a:t>
            </a:r>
          </a:p>
          <a:p>
            <a:pPr algn="r">
              <a:defRPr sz="1200" b="0" i="0" u="none" strike="noStrike" kern="1200" spc="0" baseline="0">
                <a:solidFill>
                  <a:srgbClr val="5B6B82"/>
                </a:solidFill>
                <a:latin typeface="+mn-lt"/>
                <a:ea typeface="+mn-ea"/>
                <a:cs typeface="+mn-cs"/>
              </a:defRPr>
            </a:pPr>
            <a:r>
              <a:rPr lang="he-IL" sz="1200" b="0">
                <a:solidFill>
                  <a:srgbClr val="5B6B82"/>
                </a:solidFill>
              </a:rPr>
              <a:t>ביצוע מול מטרה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t" anchorCtr="0"/>
        <a:lstStyle/>
        <a:p>
          <a:pPr algn="r">
            <a:defRPr sz="1400" b="1">
              <a:solidFill>
                <a:srgbClr val="002F6C"/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'אוקטובר '!$G$2</c:f>
              <c:strCache>
                <c:ptCount val="1"/>
                <c:pt idx="0">
                  <c:v>בפועל</c:v>
                </c:pt>
              </c:strCache>
            </c:strRef>
          </c:tx>
          <c:spPr>
            <a:solidFill>
              <a:srgbClr val="002F6C"/>
            </a:solidFill>
            <a:ln>
              <a:noFill/>
            </a:ln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F6C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'אוקטובר '!$F$3:$F$14</c:f>
              <c:strCache>
                <c:ptCount val="12"/>
                <c:pt idx="0">
                  <c:v>Life</c:v>
                </c:pt>
                <c:pt idx="1">
                  <c:v>סופרפארם</c:v>
                </c:pt>
                <c:pt idx="2">
                  <c:v>BE</c:v>
                </c:pt>
                <c:pt idx="3">
                  <c:v>בתי מרקחת</c:v>
                </c:pt>
                <c:pt idx="4">
                  <c:v>כללית</c:v>
                </c:pt>
                <c:pt idx="5">
                  <c:v>מאוחדת</c:v>
                </c:pt>
                <c:pt idx="6">
                  <c:v>אורטופדיה</c:v>
                </c:pt>
                <c:pt idx="7">
                  <c:v>פיזיותרפיה</c:v>
                </c:pt>
                <c:pt idx="8">
                  <c:v>אתר </c:v>
                </c:pt>
                <c:pt idx="9">
                  <c:v>אמזון </c:v>
                </c:pt>
                <c:pt idx="10">
                  <c:v>מפיצים </c:v>
                </c:pt>
                <c:pt idx="11">
                  <c:v>אחרים </c:v>
                </c:pt>
              </c:strCache>
            </c:strRef>
          </c:cat>
          <c:val>
            <c:numRef>
              <c:f>'אוקטובר '!$G$3:$G$14</c:f>
              <c:numCache>
                <c:formatCode>#,##0,"K"</c:formatCode>
                <c:ptCount val="12"/>
                <c:pt idx="0">
                  <c:v>155000</c:v>
                </c:pt>
                <c:pt idx="1">
                  <c:v>500000</c:v>
                </c:pt>
                <c:pt idx="2">
                  <c:v>100000</c:v>
                </c:pt>
                <c:pt idx="3">
                  <c:v>150000</c:v>
                </c:pt>
                <c:pt idx="4">
                  <c:v>220000</c:v>
                </c:pt>
                <c:pt idx="5">
                  <c:v>60000</c:v>
                </c:pt>
                <c:pt idx="6">
                  <c:v>80000</c:v>
                </c:pt>
                <c:pt idx="7">
                  <c:v>30000</c:v>
                </c:pt>
                <c:pt idx="8">
                  <c:v>400000</c:v>
                </c:pt>
                <c:pt idx="9">
                  <c:v>200000</c:v>
                </c:pt>
                <c:pt idx="10">
                  <c:v>200000</c:v>
                </c:pt>
                <c:pt idx="11">
                  <c:v>260000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6F-4F33-A568-1B6034ED948B}"/>
            </c:ext>
          </c:extLst>
        </c:ser>
        <c:ser>
          <c:idx val="1"/>
          <c:order val="1"/>
          <c:tx>
            <c:strRef>
              <c:f>'אוקטובר '!$H$2</c:f>
              <c:strCache>
                <c:ptCount val="1"/>
                <c:pt idx="0">
                  <c:v>מטרה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rgbClr val="5B6B82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'אוקטובר '!$F$3:$F$14</c:f>
              <c:strCache>
                <c:ptCount val="12"/>
                <c:pt idx="0">
                  <c:v>Life</c:v>
                </c:pt>
                <c:pt idx="1">
                  <c:v>סופרפארם</c:v>
                </c:pt>
                <c:pt idx="2">
                  <c:v>BE</c:v>
                </c:pt>
                <c:pt idx="3">
                  <c:v>בתי מרקחת</c:v>
                </c:pt>
                <c:pt idx="4">
                  <c:v>כללית</c:v>
                </c:pt>
                <c:pt idx="5">
                  <c:v>מאוחדת</c:v>
                </c:pt>
                <c:pt idx="6">
                  <c:v>אורטופדיה</c:v>
                </c:pt>
                <c:pt idx="7">
                  <c:v>פיזיותרפיה</c:v>
                </c:pt>
                <c:pt idx="8">
                  <c:v>אתר </c:v>
                </c:pt>
                <c:pt idx="9">
                  <c:v>אמזון </c:v>
                </c:pt>
                <c:pt idx="10">
                  <c:v>מפיצים </c:v>
                </c:pt>
                <c:pt idx="11">
                  <c:v>אחרים </c:v>
                </c:pt>
              </c:strCache>
            </c:strRef>
          </c:cat>
          <c:val>
            <c:numRef>
              <c:f>'אוקטובר '!$H$3:$H$14</c:f>
              <c:numCache>
                <c:formatCode>#,##0,"K"</c:formatCode>
                <c:ptCount val="12"/>
                <c:pt idx="0">
                  <c:v>200000</c:v>
                </c:pt>
                <c:pt idx="1">
                  <c:v>550000</c:v>
                </c:pt>
                <c:pt idx="2">
                  <c:v>100000</c:v>
                </c:pt>
                <c:pt idx="3">
                  <c:v>200000</c:v>
                </c:pt>
                <c:pt idx="4">
                  <c:v>330000</c:v>
                </c:pt>
                <c:pt idx="5">
                  <c:v>100000</c:v>
                </c:pt>
                <c:pt idx="6">
                  <c:v>100000</c:v>
                </c:pt>
                <c:pt idx="7">
                  <c:v>25000</c:v>
                </c:pt>
                <c:pt idx="8">
                  <c:v>1159556.779661017</c:v>
                </c:pt>
                <c:pt idx="9">
                  <c:v>321888.6</c:v>
                </c:pt>
                <c:pt idx="10">
                  <c:v>550000</c:v>
                </c:pt>
                <c:pt idx="11">
                  <c:v>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6F-4F33-A568-1B6034ED9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35"/>
        <c:axId val="969194416"/>
        <c:axId val="969194056"/>
      </c:barChart>
      <c:catAx>
        <c:axId val="96919441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rgbClr val="5B6B82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69194056"/>
        <c:crosses val="autoZero"/>
        <c:auto val="1"/>
        <c:lblAlgn val="ctr"/>
        <c:lblOffset val="100"/>
        <c:noMultiLvlLbl val="0"/>
      </c:catAx>
      <c:valAx>
        <c:axId val="969194056"/>
        <c:scaling>
          <c:orientation val="minMax"/>
        </c:scaling>
        <c:delete val="1"/>
        <c:axPos val="r"/>
        <c:numFmt formatCode="#,##0,&quot;K&quot;" sourceLinked="0"/>
        <c:majorTickMark val="none"/>
        <c:minorTickMark val="none"/>
        <c:tickLblPos val="nextTo"/>
        <c:crossAx val="96919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rgbClr val="5B6B82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4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675923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F9CDF83A-0AE7-FE03-0942-2B1303137FD4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סטטוס אוקטובר </a:t>
            </a:r>
          </a:p>
        </p:txBody>
      </p:sp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80D1267B-1FF0-4263-1152-64F110635912}"/>
              </a:ext>
            </a:extLst>
          </p:cNvPr>
          <p:cNvGraphicFramePr>
            <a:graphicFrameLocks/>
          </p:cNvGraphicFramePr>
          <p:nvPr/>
        </p:nvGraphicFramePr>
        <p:xfrm>
          <a:off x="1600200" y="750000"/>
          <a:ext cx="8991600" cy="4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A52C56A1-97C3-B411-CF67-DFD1B1B545C9}"/>
              </a:ext>
            </a:extLst>
          </p:cNvPr>
          <p:cNvSpPr txBox="1"/>
          <p:nvPr/>
        </p:nvSpPr>
        <p:spPr>
          <a:xfrm>
            <a:off x="2935459" y="5150000"/>
            <a:ext cx="7747264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defTabSz="1219170" rtl="1">
              <a:lnSpc>
                <a:spcPct val="100000"/>
              </a:lnSpc>
              <a:buClr>
                <a:srgbClr val="000000"/>
              </a:buClr>
            </a:pP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 xml:space="preserve">אוקטובר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  <a:sym typeface="Arial"/>
              </a:rPr>
              <a:t>2.3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 xml:space="preserve"> ₪ מיליון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  <a:sym typeface="Arial"/>
              </a:rPr>
              <a:t>64%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 xml:space="preserve"> מיעד מטרה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מסך רחב</PresentationFormat>
  <Paragraphs>4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4" baseType="lpstr">
      <vt:lpstr>Arial</vt:lpstr>
      <vt:lpstr>Assistant</vt:lpstr>
      <vt:lpstr>Simple Light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2026-10-27T09:13:47Z</dcterms:created>
  <dcterms:modified xsi:type="dcterms:W3CDTF">2026-10-27T09:14:18Z</dcterms:modified>
</cp:coreProperties>
</file>