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Global Wellness Economy</c:v>
                </c:pt>
              </c:strCache>
            </c:strRef>
          </c:tx>
          <c:spPr>
            <a:solidFill>
              <a:srgbClr val="140D41"/>
            </a:solidFill>
            <a:effectLst/>
          </c:spPr>
          <c:invertIfNegative val="0"/>
          <c:dLbls>
            <c:numFmt formatCode="&quot;$&quot;0.0&quot;T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40D4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2013</c:v>
                  </c:pt>
                  <c:pt idx="1">
                    <c:v>2019</c:v>
                  </c:pt>
                  <c:pt idx="2">
                    <c:v>2024</c:v>
                  </c:pt>
                  <c:pt idx="3">
                    <c:v>2029*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3.4</c:v>
                </c:pt>
                <c:pt idx="1">
                  <c:v>5</c:v>
                </c:pt>
                <c:pt idx="2">
                  <c:v>6.8</c:v>
                </c:pt>
                <c:pt idx="3">
                  <c:v>9.8</c:v>
                </c:pt>
              </c:numCache>
            </c:numRef>
          </c:val>
        </c:ser>
        <c:dLbls>
          <c:numFmt formatCode="&quot;$&quot;0.0&quot;T&quot;" sourceLinked="0"/>
          <c:txPr>
            <a:bodyPr/>
            <a:lstStyle/>
            <a:p>
              <a:pPr>
                <a:defRPr b="1" i="0" strike="noStrike" sz="1100" u="none">
                  <a:solidFill>
                    <a:srgbClr val="140D4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6E6EC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9485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Priority</c:v>
                </c:pt>
              </c:strCache>
            </c:strRef>
          </c:tx>
          <c:spPr>
            <a:solidFill>
              <a:srgbClr val="140D41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40D4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Germany</c:v>
                  </c:pt>
                  <c:pt idx="1">
                    <c:v>UK</c:v>
                  </c:pt>
                  <c:pt idx="2">
                    <c:v>US</c:v>
                  </c:pt>
                  <c:pt idx="3">
                    <c:v>China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63</c:v>
                </c:pt>
                <c:pt idx="1">
                  <c:v>79</c:v>
                </c:pt>
                <c:pt idx="2">
                  <c:v>84</c:v>
                </c:pt>
                <c:pt idx="3">
                  <c:v>94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100" u="none">
                  <a:solidFill>
                    <a:srgbClr val="140D4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6E6EC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9485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HOLISTIC HEALTH IS A</a:t>
            </a:r>
            <a:endParaRPr lang="en-US" sz="3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GROWTH OPPORTUNITY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wellness economy is worth </a:t>
            </a:r>
            <a:pPr algn="l"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$6.8 trillion (2024)</a:t>
            </a:r>
            <a:pPr algn="l"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with annual growth of ~7.6–7.9%, forecast to reach </a:t>
            </a:r>
            <a:pPr algn="l"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$9.8 trillion by 2029</a:t>
            </a:r>
            <a:pPr algn="l"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algn="l"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Wellness is a rising priority worldwide.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304288"/>
            <a:ext cx="5350612" cy="3456432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sx="100000" sy="100000" kx="0" ky="0" algn="bl" rotWithShape="0" blurRad="76200" dist="38100" dir="5400000">
              <a:srgbClr val="0A063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92444" y="2304288"/>
            <a:ext cx="5350612" cy="3456432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sx="100000" sy="100000" kx="0" ky="0" algn="bl" rotWithShape="0" blurRad="76200" dist="38100" dir="5400000">
              <a:srgbClr val="0A063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523744"/>
            <a:ext cx="48019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of the Global Wellness Economy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871216"/>
            <a:ext cx="48019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trillions — Global Wellness Institute, 2013–2029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731520" y="3218688"/>
          <a:ext cx="4984852" cy="19476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822960" y="5413248"/>
            <a:ext cx="48019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*2029 figure is a forecast (CAGR ~7.6%)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566764" y="2523744"/>
            <a:ext cx="48019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Wellness as a Top Priority by Country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566764" y="2871216"/>
            <a:ext cx="48019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who rate wellness a top/important priority — McKinsey, 2025</a:t>
            </a:r>
            <a:endParaRPr lang="en-US" sz="1000" dirty="0"/>
          </a:p>
        </p:txBody>
      </p:sp>
      <p:graphicFrame>
        <p:nvGraphicFramePr>
          <p:cNvPr id="12" name="Chart 1" descr=""/>
          <p:cNvGraphicFramePr/>
          <p:nvPr/>
        </p:nvGraphicFramePr>
        <p:xfrm>
          <a:off x="6475324" y="3218688"/>
          <a:ext cx="4984852" cy="19476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9"/>
          <p:cNvSpPr/>
          <p:nvPr/>
        </p:nvSpPr>
        <p:spPr>
          <a:xfrm>
            <a:off x="6566764" y="5212080"/>
            <a:ext cx="48019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i="1" dirty="0">
                <a:solidFill>
                  <a:srgbClr val="8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pPr algn="l"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8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comparable 2024–2026 data available for Brazil and Japan. Supplementary: 56% of US consumers say they prioritize wellness more than a year ago.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548640" y="587959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8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Global Wellness Institute, 2025 Global Wellness Economy Monitor (Nov 2025); McKinsey &amp; Company, The Future of Wellness (2025).</a:t>
            </a:r>
            <a:endParaRPr lang="en-US" sz="950" dirty="0"/>
          </a:p>
        </p:txBody>
      </p:sp>
      <p:pic>
        <p:nvPicPr>
          <p:cNvPr id="15" name="Image 0" descr="/tmp/claude-0/-home-user-the-5-agents/104e019b-481e-5835-b5aa-7854a99e3b07/scratchpad/wellness/assets/foo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21578"/>
            <a:ext cx="12191695" cy="4956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2026-08-08T14:43:08Z</dcterms:created>
  <dcterms:modified xsi:type="dcterms:W3CDTF">2026-08-08T14:43:08Z</dcterms:modified>
</cp:coreProperties>
</file>