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drawings/drawing1.xml" ContentType="application/vnd.openxmlformats-officedocument.drawingml.chartshape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660" r:id="rId1"/>
  </p:sldMasterIdLst>
  <p:sldIdLst>
    <p:sldId id="324" r:id="rId2"/>
    <p:sldId id="325" r:id="rId3"/>
    <p:sldId id="326" r:id="rId4"/>
    <p:sldId id="328" r:id="rId5"/>
    <p:sldId id="327" r:id="rId6"/>
  </p:sldIdLst>
  <p:sldSz cx="12192000" cy="6858000"/>
  <p:notesSz cx="6858000" cy="9144000"/>
  <p:defaultTextStyle>
    <a:defPPr>
      <a:defRPr lang="he-IL"/>
    </a:defPPr>
    <a:lvl1pPr marL="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0C459EE-3727-4B38-A870-DECBB1E56CE6}" v="3" dt="2026-10-27T09:50:20.45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500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4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yal Sadot" userId="9c57a40b-08c8-435b-851c-1854c25cf41d" providerId="ADAL" clId="{02003448-2CBC-42C7-80BD-DC4C07BEB2CD}"/>
    <pc:docChg chg="addSld modSld">
      <pc:chgData name="Eyal Sadot" userId="9c57a40b-08c8-435b-851c-1854c25cf41d" providerId="ADAL" clId="{02003448-2CBC-42C7-80BD-DC4C07BEB2CD}" dt="2026-10-27T09:50:20.459" v="2"/>
      <pc:docMkLst>
        <pc:docMk/>
      </pc:docMkLst>
      <pc:sldChg chg="addSp modSp add">
        <pc:chgData name="Eyal Sadot" userId="9c57a40b-08c8-435b-851c-1854c25cf41d" providerId="ADAL" clId="{02003448-2CBC-42C7-80BD-DC4C07BEB2CD}" dt="2026-10-27T09:50:20.459" v="2"/>
        <pc:sldMkLst>
          <pc:docMk/>
          <pc:sldMk cId="423875914" sldId="325"/>
        </pc:sldMkLst>
        <pc:graphicFrameChg chg="add mod">
          <ac:chgData name="Eyal Sadot" userId="9c57a40b-08c8-435b-851c-1854c25cf41d" providerId="ADAL" clId="{02003448-2CBC-42C7-80BD-DC4C07BEB2CD}" dt="2026-10-27T09:49:58.525" v="1"/>
          <ac:graphicFrameMkLst>
            <pc:docMk/>
            <pc:sldMk cId="423875914" sldId="325"/>
            <ac:graphicFrameMk id="2" creationId="{5EF63494-99D3-FCEB-8CC8-25C9D2AD3F89}"/>
          </ac:graphicFrameMkLst>
        </pc:graphicFrameChg>
        <pc:graphicFrameChg chg="add mod">
          <ac:chgData name="Eyal Sadot" userId="9c57a40b-08c8-435b-851c-1854c25cf41d" providerId="ADAL" clId="{02003448-2CBC-42C7-80BD-DC4C07BEB2CD}" dt="2026-10-27T09:50:20.459" v="2"/>
          <ac:graphicFrameMkLst>
            <pc:docMk/>
            <pc:sldMk cId="423875914" sldId="325"/>
            <ac:graphicFrameMk id="4" creationId="{8BC3A384-01F9-1D43-B6AC-A7F5550A409D}"/>
          </ac:graphicFrameMkLst>
        </pc:graphicFrame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https://1156658meditex-my.sharepoint.com/personal/eyals_uriel_co_il/Documents/&#1513;&#1493;&#1500;&#1495;&#1503;%20&#1492;&#1506;&#1489;&#1493;&#1491;&#1492;/&#1514;&#1511;&#1510;&#1497;&#1489;%202027/&#1511;&#1493;&#1489;&#1509;%20&#1506;&#1489;&#1493;&#1491;&#1492;%20&#1500;&#1502;&#1510;&#1490;&#1514;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https://1156658meditex-my.sharepoint.com/personal/eyals_uriel_co_il/Documents/&#1513;&#1493;&#1500;&#1495;&#1503;%20&#1492;&#1506;&#1489;&#1493;&#1491;&#1492;/&#1514;&#1511;&#1510;&#1497;&#1489;%202027/&#1511;&#1493;&#1489;&#1509;%20&#1506;&#1489;&#1493;&#1491;&#1492;%20&#1500;&#1502;&#1510;&#1490;&#1514;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https://1156658meditex-my.sharepoint.com/personal/eyals_uriel_co_il/Documents/&#1513;&#1493;&#1500;&#1495;&#1503;%20&#1492;&#1506;&#1489;&#1493;&#1491;&#1492;/&#1514;&#1511;&#1510;&#1497;&#1489;%202027/&#1511;&#1493;&#1489;&#1509;%20&#1506;&#1489;&#1493;&#1491;&#1492;%20&#1500;&#1502;&#1510;&#1490;&#1514;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https://1156658meditex-my.sharepoint.com/personal/eyals_uriel_co_il/Documents/&#1513;&#1493;&#1500;&#1495;&#1503;%20&#1492;&#1506;&#1489;&#1493;&#1491;&#1492;/&#1514;&#1511;&#1510;&#1497;&#1489;%202027/&#1511;&#1493;&#1489;&#1509;%20&#1506;&#1489;&#1493;&#1491;&#1492;%20&#1500;&#1502;&#1510;&#1490;&#1514;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https://1156658meditex-my.sharepoint.com/personal/eyals_uriel_co_il/Documents/&#1513;&#1493;&#1500;&#1495;&#1503;%20&#1492;&#1506;&#1489;&#1493;&#1491;&#1492;/&#1514;&#1511;&#1510;&#1497;&#1489;%202027/&#1511;&#1493;&#1489;&#1509;%20&#1506;&#1489;&#1493;&#1491;&#1492;%20&#1500;&#1502;&#1510;&#1490;&#1514;.xlsx" TargetMode="External"/><Relationship Id="rId2" Type="http://schemas.microsoft.com/office/2011/relationships/chartColorStyle" Target="colors5.xml"/><Relationship Id="rId1" Type="http://schemas.microsoft.com/office/2011/relationships/chartStyle" Target="style5.xml"/><Relationship Id="rId4" Type="http://schemas.openxmlformats.org/officeDocument/2006/relationships/chartUserShapes" Target="../drawings/drawing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e-I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8.8973625675246269E-3"/>
          <c:y val="9.5250000000000001E-2"/>
          <c:w val="0.91483952971083571"/>
          <c:h val="0.7230717500000000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'אוקטובר '!$G$2</c:f>
              <c:strCache>
                <c:ptCount val="1"/>
                <c:pt idx="0">
                  <c:v>בפועל </c:v>
                </c:pt>
              </c:strCache>
            </c:strRef>
          </c:tx>
          <c:spPr>
            <a:solidFill>
              <a:srgbClr val="002F6C"/>
            </a:solidFill>
            <a:ln>
              <a:noFill/>
            </a:ln>
            <a:effectLst/>
          </c:spPr>
          <c:invertIfNegative val="0"/>
          <c:dLbls>
            <c:numFmt formatCode="#,##0,&quot;K&quot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rgbClr val="002F6C"/>
                    </a:solidFill>
                    <a:latin typeface="+mn-lt"/>
                    <a:ea typeface="+mn-ea"/>
                    <a:cs typeface="+mn-lt"/>
                  </a:defRPr>
                </a:pPr>
                <a:endParaRPr lang="he-I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'אוקטובר '!$F$3:$F$14</c:f>
              <c:strCache>
                <c:ptCount val="12"/>
                <c:pt idx="0">
                  <c:v>Life</c:v>
                </c:pt>
                <c:pt idx="1">
                  <c:v>סופרפארם</c:v>
                </c:pt>
                <c:pt idx="2">
                  <c:v>BE</c:v>
                </c:pt>
                <c:pt idx="3">
                  <c:v>בתי מרקחת</c:v>
                </c:pt>
                <c:pt idx="4">
                  <c:v>כללית</c:v>
                </c:pt>
                <c:pt idx="5">
                  <c:v>מאוחדת</c:v>
                </c:pt>
                <c:pt idx="6">
                  <c:v>אורטופדיה</c:v>
                </c:pt>
                <c:pt idx="7">
                  <c:v>פיזיותרפיה</c:v>
                </c:pt>
                <c:pt idx="8">
                  <c:v>אתר </c:v>
                </c:pt>
                <c:pt idx="9">
                  <c:v>אמזון </c:v>
                </c:pt>
                <c:pt idx="10">
                  <c:v>מפיצים </c:v>
                </c:pt>
                <c:pt idx="11">
                  <c:v>אחרים </c:v>
                </c:pt>
              </c:strCache>
            </c:strRef>
          </c:cat>
          <c:val>
            <c:numRef>
              <c:f>'אוקטובר '!$G$3:$G$14</c:f>
              <c:numCache>
                <c:formatCode>_ * #,##0_ ;_ * \-#,##0_ ;_ * \-??_ ;_ @_ </c:formatCode>
                <c:ptCount val="12"/>
                <c:pt idx="0">
                  <c:v>155000</c:v>
                </c:pt>
                <c:pt idx="1">
                  <c:v>500000</c:v>
                </c:pt>
                <c:pt idx="2">
                  <c:v>100000</c:v>
                </c:pt>
                <c:pt idx="3">
                  <c:v>150000</c:v>
                </c:pt>
                <c:pt idx="4">
                  <c:v>220000</c:v>
                </c:pt>
                <c:pt idx="5">
                  <c:v>60000</c:v>
                </c:pt>
                <c:pt idx="6">
                  <c:v>80000</c:v>
                </c:pt>
                <c:pt idx="7">
                  <c:v>30000</c:v>
                </c:pt>
                <c:pt idx="8" formatCode="_ * #,##0_ ;_ * \-#,##0_ ;_ * &quot;-&quot;??_ ;_ @_ ">
                  <c:v>400000</c:v>
                </c:pt>
                <c:pt idx="9" formatCode="_ * #,##0_ ;_ * \-#,##0_ ;_ * &quot;-&quot;??_ ;_ @_ ">
                  <c:v>200000</c:v>
                </c:pt>
                <c:pt idx="10" formatCode="_ * #,##0_ ;_ * \-#,##0_ ;_ * &quot;-&quot;??_ ;_ @_ ">
                  <c:v>200000</c:v>
                </c:pt>
                <c:pt idx="11">
                  <c:v>260000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B6F-4F33-A568-1B6034ED948B}"/>
            </c:ext>
          </c:extLst>
        </c:ser>
        <c:ser>
          <c:idx val="1"/>
          <c:order val="1"/>
          <c:tx>
            <c:strRef>
              <c:f>'אוקטובר '!$H$2</c:f>
              <c:strCache>
                <c:ptCount val="1"/>
                <c:pt idx="0">
                  <c:v>מטרה </c:v>
                </c:pt>
              </c:strCache>
            </c:strRef>
          </c:tx>
          <c:spPr>
            <a:solidFill>
              <a:srgbClr val="D9D9D9"/>
            </a:solidFill>
            <a:ln>
              <a:noFill/>
            </a:ln>
            <a:effectLst/>
          </c:spPr>
          <c:invertIfNegative val="0"/>
          <c:dLbls>
            <c:numFmt formatCode="#,##0,&quot;K&quot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600" b="1" i="0" u="none" strike="noStrike" kern="1200" baseline="0">
                    <a:solidFill>
                      <a:srgbClr val="5B6B82"/>
                    </a:solidFill>
                    <a:latin typeface="+mn-lt"/>
                    <a:ea typeface="+mn-ea"/>
                    <a:cs typeface="+mn-lt"/>
                  </a:defRPr>
                </a:pPr>
                <a:endParaRPr lang="he-I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'אוקטובר '!$F$3:$F$14</c:f>
              <c:strCache>
                <c:ptCount val="12"/>
                <c:pt idx="0">
                  <c:v>Life</c:v>
                </c:pt>
                <c:pt idx="1">
                  <c:v>סופרפארם</c:v>
                </c:pt>
                <c:pt idx="2">
                  <c:v>BE</c:v>
                </c:pt>
                <c:pt idx="3">
                  <c:v>בתי מרקחת</c:v>
                </c:pt>
                <c:pt idx="4">
                  <c:v>כללית</c:v>
                </c:pt>
                <c:pt idx="5">
                  <c:v>מאוחדת</c:v>
                </c:pt>
                <c:pt idx="6">
                  <c:v>אורטופדיה</c:v>
                </c:pt>
                <c:pt idx="7">
                  <c:v>פיזיותרפיה</c:v>
                </c:pt>
                <c:pt idx="8">
                  <c:v>אתר </c:v>
                </c:pt>
                <c:pt idx="9">
                  <c:v>אמזון </c:v>
                </c:pt>
                <c:pt idx="10">
                  <c:v>מפיצים </c:v>
                </c:pt>
                <c:pt idx="11">
                  <c:v>אחרים </c:v>
                </c:pt>
              </c:strCache>
            </c:strRef>
          </c:cat>
          <c:val>
            <c:numRef>
              <c:f>'אוקטובר '!$H$3:$H$14</c:f>
              <c:numCache>
                <c:formatCode>_ * #,##0_ ;_ * \-#,##0_ ;_ * "-"??_ ;_ @_ </c:formatCode>
                <c:ptCount val="12"/>
                <c:pt idx="0">
                  <c:v>200000</c:v>
                </c:pt>
                <c:pt idx="1">
                  <c:v>550000</c:v>
                </c:pt>
                <c:pt idx="2">
                  <c:v>100000</c:v>
                </c:pt>
                <c:pt idx="3">
                  <c:v>200000</c:v>
                </c:pt>
                <c:pt idx="4">
                  <c:v>330000</c:v>
                </c:pt>
                <c:pt idx="5">
                  <c:v>100000</c:v>
                </c:pt>
                <c:pt idx="6">
                  <c:v>100000</c:v>
                </c:pt>
                <c:pt idx="7">
                  <c:v>25000</c:v>
                </c:pt>
                <c:pt idx="8">
                  <c:v>1159556.779661017</c:v>
                </c:pt>
                <c:pt idx="9">
                  <c:v>321888.59999999998</c:v>
                </c:pt>
                <c:pt idx="10">
                  <c:v>550000</c:v>
                </c:pt>
                <c:pt idx="11">
                  <c:v>45000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B6F-4F33-A568-1B6034ED94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35"/>
        <c:axId val="969194416"/>
        <c:axId val="969194056"/>
      </c:barChart>
      <c:catAx>
        <c:axId val="969194416"/>
        <c:scaling>
          <c:orientation val="maxMin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rgbClr val="D9D9D9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950" b="0" i="0" u="none" strike="noStrike" kern="1200" baseline="0">
                <a:solidFill>
                  <a:srgbClr val="5B6B82"/>
                </a:solidFill>
                <a:latin typeface="+mn-lt"/>
                <a:ea typeface="+mn-ea"/>
                <a:cs typeface="+mn-cs"/>
              </a:defRPr>
            </a:pPr>
            <a:endParaRPr lang="he-IL"/>
          </a:p>
        </c:txPr>
        <c:crossAx val="969194056"/>
        <c:crosses val="autoZero"/>
        <c:auto val="1"/>
        <c:lblAlgn val="ctr"/>
        <c:lblOffset val="100"/>
        <c:noMultiLvlLbl val="0"/>
      </c:catAx>
      <c:valAx>
        <c:axId val="969194056"/>
        <c:scaling>
          <c:orientation val="minMax"/>
        </c:scaling>
        <c:delete val="1"/>
        <c:axPos val="r"/>
        <c:numFmt formatCode="#,##0,&quot;K&quot;" sourceLinked="0"/>
        <c:majorTickMark val="none"/>
        <c:minorTickMark val="none"/>
        <c:tickLblPos val="nextTo"/>
        <c:crossAx val="96919441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1.1133112650718478E-2"/>
          <c:y val="0.92042425000000017"/>
          <c:w val="0.11341845377049509"/>
          <c:h val="5.4175750000000002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1" i="0" u="none" strike="noStrike" kern="1200" baseline="0">
              <a:solidFill>
                <a:srgbClr val="5B6B82"/>
              </a:solidFill>
              <a:latin typeface="+mn-lt"/>
              <a:ea typeface="+mn-ea"/>
              <a:cs typeface="+mn-cs"/>
            </a:defRPr>
          </a:pPr>
          <a:endParaRPr lang="he-I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he-I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e-I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D9D9D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6F0C-4C4D-A0B0-DAC7E85AB14B}"/>
              </c:ext>
            </c:extLst>
          </c:dPt>
          <c:dPt>
            <c:idx val="1"/>
            <c:invertIfNegative val="0"/>
            <c:bubble3D val="0"/>
            <c:spPr>
              <a:solidFill>
                <a:srgbClr val="5B6B8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6F0C-4C4D-A0B0-DAC7E85AB14B}"/>
              </c:ext>
            </c:extLst>
          </c:dPt>
          <c:dPt>
            <c:idx val="2"/>
            <c:invertIfNegative val="0"/>
            <c:bubble3D val="0"/>
            <c:spPr>
              <a:solidFill>
                <a:srgbClr val="002F6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6F0C-4C4D-A0B0-DAC7E85AB14B}"/>
              </c:ext>
            </c:extLst>
          </c:dPt>
          <c:dLbls>
            <c:numFmt formatCode="0.0&quot;M&quot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1" i="0" u="none" strike="noStrike" kern="1200" baseline="0">
                    <a:solidFill>
                      <a:srgbClr val="002F6C"/>
                    </a:solidFill>
                    <a:latin typeface="+mn-lt"/>
                    <a:ea typeface="+mn-ea"/>
                    <a:cs typeface="+mn-cs"/>
                  </a:defRPr>
                </a:pPr>
                <a:endParaRPr lang="he-I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'2026'!$U$32:$W$32</c:f>
              <c:strCache>
                <c:ptCount val="3"/>
                <c:pt idx="0">
                  <c:v>תקציב </c:v>
                </c:pt>
                <c:pt idx="1">
                  <c:v>מטרה </c:v>
                </c:pt>
                <c:pt idx="2">
                  <c:v>בפועל </c:v>
                </c:pt>
              </c:strCache>
            </c:strRef>
          </c:cat>
          <c:val>
            <c:numRef>
              <c:f>'2026'!$U$33:$W$33</c:f>
              <c:numCache>
                <c:formatCode>0.0</c:formatCode>
                <c:ptCount val="3"/>
                <c:pt idx="0" formatCode="_ * #,##0.0_ ;_ * \-#,##0.0_ ;_ * \-??_ ;_ @_ ">
                  <c:v>41.241479212609534</c:v>
                </c:pt>
                <c:pt idx="1">
                  <c:v>31.924454020559352</c:v>
                </c:pt>
                <c:pt idx="2">
                  <c:v>27.41142646300003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099-411D-AA1A-BC80BCC2108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-27"/>
        <c:axId val="956399088"/>
        <c:axId val="956398008"/>
      </c:barChart>
      <c:catAx>
        <c:axId val="956399088"/>
        <c:scaling>
          <c:orientation val="maxMin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rgbClr val="D9D9D9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950" b="0" i="0" u="none" strike="noStrike" kern="1200" baseline="0">
                <a:solidFill>
                  <a:srgbClr val="5B6B82"/>
                </a:solidFill>
                <a:latin typeface="+mn-lt"/>
                <a:ea typeface="+mn-ea"/>
                <a:cs typeface="+mn-cs"/>
              </a:defRPr>
            </a:pPr>
            <a:endParaRPr lang="he-IL"/>
          </a:p>
        </c:txPr>
        <c:crossAx val="956398008"/>
        <c:crosses val="autoZero"/>
        <c:auto val="1"/>
        <c:lblAlgn val="ctr"/>
        <c:lblOffset val="100"/>
        <c:noMultiLvlLbl val="0"/>
      </c:catAx>
      <c:valAx>
        <c:axId val="956398008"/>
        <c:scaling>
          <c:orientation val="minMax"/>
        </c:scaling>
        <c:delete val="1"/>
        <c:axPos val="r"/>
        <c:numFmt formatCode="_ * #,##0.0_ ;_ * \-#,##0.0_ ;_ * \-??_ ;_ @_ " sourceLinked="1"/>
        <c:majorTickMark val="none"/>
        <c:minorTickMark val="none"/>
        <c:tickLblPos val="nextTo"/>
        <c:crossAx val="95639908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he-I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e-IL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pie3D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>
                  <a:shade val="44000"/>
                </a:schemeClr>
              </a:solidFill>
              <a:ln>
                <a:noFill/>
              </a:ln>
              <a:effectLst>
                <a:outerShdw blurRad="88900" sx="102000" sy="102000" algn="ctr" rotWithShape="0">
                  <a:prstClr val="black">
                    <a:alpha val="10000"/>
                  </a:prstClr>
                </a:outerShdw>
              </a:effectLst>
              <a:scene3d>
                <a:camera prst="orthographicFront"/>
                <a:lightRig rig="threePt" dir="t"/>
              </a:scene3d>
              <a:sp3d>
                <a:bevelT w="127000" h="127000"/>
                <a:bevelB w="127000" h="127000"/>
              </a:sp3d>
            </c:spPr>
            <c:extLst>
              <c:ext xmlns:c16="http://schemas.microsoft.com/office/drawing/2014/chart" uri="{C3380CC4-5D6E-409C-BE32-E72D297353CC}">
                <c16:uniqueId val="{00000001-1499-4A2F-A324-30BA285687A9}"/>
              </c:ext>
            </c:extLst>
          </c:dPt>
          <c:dPt>
            <c:idx val="1"/>
            <c:bubble3D val="0"/>
            <c:spPr>
              <a:solidFill>
                <a:schemeClr val="accent1">
                  <a:lumMod val="60000"/>
                  <a:lumOff val="40000"/>
                </a:schemeClr>
              </a:solidFill>
              <a:ln>
                <a:noFill/>
              </a:ln>
              <a:effectLst>
                <a:outerShdw blurRad="88900" sx="102000" sy="102000" algn="ctr" rotWithShape="0">
                  <a:prstClr val="black">
                    <a:alpha val="10000"/>
                  </a:prstClr>
                </a:outerShdw>
              </a:effectLst>
              <a:scene3d>
                <a:camera prst="orthographicFront"/>
                <a:lightRig rig="threePt" dir="t"/>
              </a:scene3d>
              <a:sp3d>
                <a:bevelT w="127000" h="127000"/>
                <a:bevelB w="127000" h="127000"/>
              </a:sp3d>
            </c:spPr>
            <c:extLst>
              <c:ext xmlns:c16="http://schemas.microsoft.com/office/drawing/2014/chart" uri="{C3380CC4-5D6E-409C-BE32-E72D297353CC}">
                <c16:uniqueId val="{00000003-1499-4A2F-A324-30BA285687A9}"/>
              </c:ext>
            </c:extLst>
          </c:dPt>
          <c:dPt>
            <c:idx val="2"/>
            <c:bubble3D val="0"/>
            <c:spPr>
              <a:solidFill>
                <a:schemeClr val="accent1">
                  <a:lumMod val="40000"/>
                  <a:lumOff val="60000"/>
                </a:schemeClr>
              </a:solidFill>
              <a:ln>
                <a:noFill/>
              </a:ln>
              <a:effectLst>
                <a:outerShdw blurRad="88900" sx="102000" sy="102000" algn="ctr" rotWithShape="0">
                  <a:prstClr val="black">
                    <a:alpha val="10000"/>
                  </a:prstClr>
                </a:outerShdw>
              </a:effectLst>
              <a:scene3d>
                <a:camera prst="orthographicFront"/>
                <a:lightRig rig="threePt" dir="t"/>
              </a:scene3d>
              <a:sp3d>
                <a:bevelT w="127000" h="127000"/>
                <a:bevelB w="127000" h="127000"/>
              </a:sp3d>
            </c:spPr>
            <c:extLst>
              <c:ext xmlns:c16="http://schemas.microsoft.com/office/drawing/2014/chart" uri="{C3380CC4-5D6E-409C-BE32-E72D297353CC}">
                <c16:uniqueId val="{00000005-1499-4A2F-A324-30BA285687A9}"/>
              </c:ext>
            </c:extLst>
          </c:dPt>
          <c:dPt>
            <c:idx val="3"/>
            <c:bubble3D val="0"/>
            <c:spPr>
              <a:solidFill>
                <a:schemeClr val="accent3">
                  <a:lumMod val="40000"/>
                  <a:lumOff val="60000"/>
                </a:schemeClr>
              </a:solidFill>
              <a:ln>
                <a:noFill/>
              </a:ln>
              <a:effectLst>
                <a:outerShdw blurRad="88900" sx="102000" sy="102000" algn="ctr" rotWithShape="0">
                  <a:prstClr val="black">
                    <a:alpha val="10000"/>
                  </a:prstClr>
                </a:outerShdw>
              </a:effectLst>
              <a:scene3d>
                <a:camera prst="orthographicFront"/>
                <a:lightRig rig="threePt" dir="t"/>
              </a:scene3d>
              <a:sp3d>
                <a:bevelT w="127000" h="127000"/>
                <a:bevelB w="127000" h="127000"/>
              </a:sp3d>
            </c:spPr>
            <c:extLst>
              <c:ext xmlns:c16="http://schemas.microsoft.com/office/drawing/2014/chart" uri="{C3380CC4-5D6E-409C-BE32-E72D297353CC}">
                <c16:uniqueId val="{00000007-1499-4A2F-A324-30BA285687A9}"/>
              </c:ext>
            </c:extLst>
          </c:dPt>
          <c:dPt>
            <c:idx val="4"/>
            <c:bubble3D val="0"/>
            <c:spPr>
              <a:solidFill>
                <a:schemeClr val="accent4">
                  <a:lumMod val="40000"/>
                  <a:lumOff val="60000"/>
                </a:schemeClr>
              </a:solidFill>
              <a:ln>
                <a:noFill/>
              </a:ln>
              <a:effectLst>
                <a:outerShdw blurRad="88900" sx="102000" sy="102000" algn="ctr" rotWithShape="0">
                  <a:prstClr val="black">
                    <a:alpha val="10000"/>
                  </a:prstClr>
                </a:outerShdw>
              </a:effectLst>
              <a:scene3d>
                <a:camera prst="orthographicFront"/>
                <a:lightRig rig="threePt" dir="t"/>
              </a:scene3d>
              <a:sp3d>
                <a:bevelT w="127000" h="127000"/>
                <a:bevelB w="127000" h="127000"/>
              </a:sp3d>
            </c:spPr>
            <c:extLst>
              <c:ext xmlns:c16="http://schemas.microsoft.com/office/drawing/2014/chart" uri="{C3380CC4-5D6E-409C-BE32-E72D297353CC}">
                <c16:uniqueId val="{00000009-1499-4A2F-A324-30BA285687A9}"/>
              </c:ext>
            </c:extLst>
          </c:dPt>
          <c:dPt>
            <c:idx val="5"/>
            <c:bubble3D val="0"/>
            <c:spPr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  <a:effectLst>
                <a:outerShdw blurRad="88900" sx="102000" sy="102000" algn="ctr" rotWithShape="0">
                  <a:prstClr val="black">
                    <a:alpha val="10000"/>
                  </a:prstClr>
                </a:outerShdw>
              </a:effectLst>
              <a:scene3d>
                <a:camera prst="orthographicFront"/>
                <a:lightRig rig="threePt" dir="t"/>
              </a:scene3d>
              <a:sp3d>
                <a:bevelT w="127000" h="127000"/>
                <a:bevelB w="127000" h="127000"/>
              </a:sp3d>
            </c:spPr>
            <c:extLst>
              <c:ext xmlns:c16="http://schemas.microsoft.com/office/drawing/2014/chart" uri="{C3380CC4-5D6E-409C-BE32-E72D297353CC}">
                <c16:uniqueId val="{0000000B-1499-4A2F-A324-30BA285687A9}"/>
              </c:ext>
            </c:extLst>
          </c:dPt>
          <c:dPt>
            <c:idx val="6"/>
            <c:bubble3D val="0"/>
            <c:spPr>
              <a:solidFill>
                <a:schemeClr val="tx2"/>
              </a:solidFill>
              <a:ln>
                <a:noFill/>
              </a:ln>
              <a:effectLst>
                <a:outerShdw blurRad="88900" sx="102000" sy="102000" algn="ctr" rotWithShape="0">
                  <a:prstClr val="black">
                    <a:alpha val="10000"/>
                  </a:prstClr>
                </a:outerShdw>
              </a:effectLst>
              <a:scene3d>
                <a:camera prst="orthographicFront"/>
                <a:lightRig rig="threePt" dir="t"/>
              </a:scene3d>
              <a:sp3d>
                <a:bevelT w="127000" h="127000"/>
                <a:bevelB w="127000" h="127000"/>
              </a:sp3d>
            </c:spPr>
            <c:extLst>
              <c:ext xmlns:c16="http://schemas.microsoft.com/office/drawing/2014/chart" uri="{C3380CC4-5D6E-409C-BE32-E72D297353CC}">
                <c16:uniqueId val="{0000000D-1499-4A2F-A324-30BA285687A9}"/>
              </c:ext>
            </c:extLst>
          </c:dPt>
          <c:dPt>
            <c:idx val="7"/>
            <c:bubble3D val="0"/>
            <c:spPr>
              <a:solidFill>
                <a:schemeClr val="tx2"/>
              </a:solidFill>
              <a:ln>
                <a:noFill/>
              </a:ln>
              <a:effectLst>
                <a:outerShdw blurRad="88900" sx="102000" sy="102000" algn="ctr" rotWithShape="0">
                  <a:prstClr val="black">
                    <a:alpha val="10000"/>
                  </a:prstClr>
                </a:outerShdw>
              </a:effectLst>
              <a:scene3d>
                <a:camera prst="orthographicFront"/>
                <a:lightRig rig="threePt" dir="t"/>
              </a:scene3d>
              <a:sp3d>
                <a:bevelT w="127000" h="127000"/>
                <a:bevelB w="127000" h="127000"/>
              </a:sp3d>
            </c:spPr>
            <c:extLst>
              <c:ext xmlns:c16="http://schemas.microsoft.com/office/drawing/2014/chart" uri="{C3380CC4-5D6E-409C-BE32-E72D297353CC}">
                <c16:uniqueId val="{0000000F-1499-4A2F-A324-30BA285687A9}"/>
              </c:ext>
            </c:extLst>
          </c:dPt>
          <c:dPt>
            <c:idx val="8"/>
            <c:bubble3D val="0"/>
            <c:spPr>
              <a:solidFill>
                <a:schemeClr val="tx2"/>
              </a:solidFill>
              <a:ln>
                <a:noFill/>
              </a:ln>
              <a:effectLst>
                <a:outerShdw blurRad="88900" sx="102000" sy="102000" algn="ctr" rotWithShape="0">
                  <a:prstClr val="black">
                    <a:alpha val="10000"/>
                  </a:prstClr>
                </a:outerShdw>
              </a:effectLst>
              <a:scene3d>
                <a:camera prst="orthographicFront"/>
                <a:lightRig rig="threePt" dir="t"/>
              </a:scene3d>
              <a:sp3d>
                <a:bevelT w="127000" h="127000"/>
                <a:bevelB w="127000" h="127000"/>
              </a:sp3d>
            </c:spPr>
            <c:extLst>
              <c:ext xmlns:c16="http://schemas.microsoft.com/office/drawing/2014/chart" uri="{C3380CC4-5D6E-409C-BE32-E72D297353CC}">
                <c16:uniqueId val="{00000011-1499-4A2F-A324-30BA285687A9}"/>
              </c:ext>
            </c:extLst>
          </c:dPt>
          <c:dLbls>
            <c:dLbl>
              <c:idx val="0"/>
              <c:layout>
                <c:manualLayout>
                  <c:x val="-0.14544825426762334"/>
                  <c:y val="9.0092494641943494E-2"/>
                </c:manualLayout>
              </c:layout>
              <c:numFmt formatCode="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330" b="1" i="0" u="none" strike="noStrike" kern="1200" spc="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he-IL"/>
                </a:p>
              </c:txPr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separator>
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499-4A2F-A324-30BA285687A9}"/>
                </c:ext>
              </c:extLst>
            </c:dLbl>
            <c:dLbl>
              <c:idx val="1"/>
              <c:layout>
                <c:manualLayout>
                  <c:x val="-0.17175260394774194"/>
                  <c:y val="-0.25619823168617623"/>
                </c:manualLayout>
              </c:layout>
              <c:numFmt formatCode="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0">
                  <a:noAutofit/>
                </a:bodyPr>
                <a:lstStyle/>
                <a:p>
                  <a:pPr algn="ctr">
                    <a:defRPr sz="1330" b="1" i="0" u="none" strike="noStrike" kern="1200" spc="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he-IL"/>
                </a:p>
              </c:txPr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separator>
</c:separator>
              <c:extLst>
                <c:ext xmlns:c15="http://schemas.microsoft.com/office/drawing/2012/chart" uri="{CE6537A1-D6FC-4f65-9D91-7224C49458BB}">
                  <c15:layout>
                    <c:manualLayout>
                      <c:w val="7.8317634717516293E-2"/>
                      <c:h val="0.12835238764929183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1499-4A2F-A324-30BA285687A9}"/>
                </c:ext>
              </c:extLst>
            </c:dLbl>
            <c:dLbl>
              <c:idx val="2"/>
              <c:layout>
                <c:manualLayout>
                  <c:x val="0.11140717348158383"/>
                  <c:y val="-0.29279772571893725"/>
                </c:manualLayout>
              </c:layout>
              <c:numFmt formatCode="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330" b="1" i="0" u="none" strike="noStrike" kern="1200" spc="0" baseline="0">
                      <a:solidFill>
                        <a:schemeClr val="accent1">
                          <a:shade val="72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he-IL"/>
                </a:p>
              </c:txPr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separator>
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499-4A2F-A324-30BA285687A9}"/>
                </c:ext>
              </c:extLst>
            </c:dLbl>
            <c:dLbl>
              <c:idx val="3"/>
              <c:layout>
                <c:manualLayout>
                  <c:x val="0.1377116449980689"/>
                  <c:y val="-0.166106402090551"/>
                </c:manualLayout>
              </c:layout>
              <c:numFmt formatCode="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330" b="1" i="0" u="none" strike="noStrike" kern="1200" spc="0" baseline="0">
                      <a:solidFill>
                        <a:schemeClr val="tx2">
                          <a:lumMod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he-IL"/>
                </a:p>
              </c:txPr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separator>
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499-4A2F-A324-30BA285687A9}"/>
                </c:ext>
              </c:extLst>
            </c:dLbl>
            <c:dLbl>
              <c:idx val="4"/>
              <c:layout>
                <c:manualLayout>
                  <c:x val="0.14003262777893521"/>
                  <c:y val="3.6599937396973231E-2"/>
                </c:manualLayout>
              </c:layout>
              <c:numFmt formatCode="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200" b="1" i="0" u="none" strike="noStrike" kern="1200" spc="0" baseline="0">
                      <a:solidFill>
                        <a:schemeClr val="accent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he-IL"/>
                </a:p>
              </c:txPr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separator>
</c:separator>
              <c:extLst>
                <c:ext xmlns:c15="http://schemas.microsoft.com/office/drawing/2012/chart" uri="{CE6537A1-D6FC-4f65-9D91-7224C49458BB}">
                  <c15:layout>
                    <c:manualLayout>
                      <c:w val="0.11122149485911452"/>
                      <c:h val="9.4568034681722118E-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9-1499-4A2F-A324-30BA285687A9}"/>
                </c:ext>
              </c:extLst>
            </c:dLbl>
            <c:dLbl>
              <c:idx val="5"/>
              <c:layout>
                <c:manualLayout>
                  <c:x val="0.10212324235811851"/>
                  <c:y val="7.6014794177031789E-2"/>
                </c:manualLayout>
              </c:layout>
              <c:numFmt formatCode="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00" b="1" i="0" u="none" strike="noStrike" kern="1200" spc="0" baseline="0">
                      <a:solidFill>
                        <a:schemeClr val="accent1">
                          <a:tint val="86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he-IL"/>
                </a:p>
              </c:txPr>
              <c:dLblPos val="bestFit"/>
              <c:showLegendKey val="0"/>
              <c:showVal val="0"/>
              <c:showCatName val="1"/>
              <c:showSerName val="0"/>
              <c:showPercent val="1"/>
              <c:showBubbleSize val="0"/>
              <c:separator>
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499-4A2F-A324-30BA285687A9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499-4A2F-A324-30BA285687A9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1499-4A2F-A324-30BA285687A9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1499-4A2F-A324-30BA285687A9}"/>
                </c:ext>
              </c:extLst>
            </c:dLbl>
            <c:numFmt formatCode="0%" sourceLinked="0"/>
            <c:dLblPos val="outEnd"/>
            <c:showLegendKey val="0"/>
            <c:showVal val="0"/>
            <c:showCatName val="1"/>
            <c:showSerName val="0"/>
            <c:showPercent val="1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'2026'!$P$50:$P$58</c:f>
              <c:strCache>
                <c:ptCount val="9"/>
                <c:pt idx="0">
                  <c:v>ס.פארם</c:v>
                </c:pt>
                <c:pt idx="1">
                  <c:v>אתר </c:v>
                </c:pt>
                <c:pt idx="2">
                  <c:v>קופות</c:v>
                </c:pt>
                <c:pt idx="3">
                  <c:v>מפיצים </c:v>
                </c:pt>
                <c:pt idx="4">
                  <c:v>אמזון </c:v>
                </c:pt>
                <c:pt idx="5">
                  <c:v>בתי מרקחת</c:v>
                </c:pt>
                <c:pt idx="6">
                  <c:v>מכונים</c:v>
                </c:pt>
                <c:pt idx="7">
                  <c:v>BE</c:v>
                </c:pt>
                <c:pt idx="8">
                  <c:v>אחרים </c:v>
                </c:pt>
              </c:strCache>
            </c:strRef>
          </c:cat>
          <c:val>
            <c:numRef>
              <c:f>'2026'!$Q$50:$Q$58</c:f>
              <c:numCache>
                <c:formatCode>0%</c:formatCode>
                <c:ptCount val="9"/>
                <c:pt idx="0">
                  <c:v>0.28889797959581626</c:v>
                </c:pt>
                <c:pt idx="1">
                  <c:v>0.19072350419474854</c:v>
                </c:pt>
                <c:pt idx="2">
                  <c:v>0.15791549370270344</c:v>
                </c:pt>
                <c:pt idx="3">
                  <c:v>0.10982113660021957</c:v>
                </c:pt>
                <c:pt idx="4">
                  <c:v>9.7027520387894292E-2</c:v>
                </c:pt>
                <c:pt idx="5">
                  <c:v>7.0896533809474291E-2</c:v>
                </c:pt>
                <c:pt idx="6">
                  <c:v>4.1106631992353412E-2</c:v>
                </c:pt>
                <c:pt idx="7">
                  <c:v>3.5158290842720485E-2</c:v>
                </c:pt>
                <c:pt idx="8">
                  <c:v>8.4529088740696295E-3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031-448D-A72E-6B1B4152A565}"/>
            </c:ext>
          </c:extLst>
        </c:ser>
        <c:dLbls>
          <c:dLblPos val="outEnd"/>
          <c:showLegendKey val="0"/>
          <c:showVal val="0"/>
          <c:showCatName val="1"/>
          <c:showSerName val="0"/>
          <c:showPercent val="0"/>
          <c:showBubbleSize val="0"/>
          <c:showLeaderLines val="0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he-I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e-I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spPr>
            <a:solidFill>
              <a:srgbClr val="002F6C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E0A62B"/>
              </a:solidFill>
              <a:ln>
                <a:noFill/>
              </a:ln>
              <a:effectLst/>
            </c:spPr>
          </c:dPt>
          <c:dPt>
            <c:idx val="1"/>
            <c:invertIfNegative val="0"/>
            <c:bubble3D val="0"/>
            <c:spPr>
              <a:solidFill>
                <a:srgbClr val="002F6C"/>
              </a:solidFill>
              <a:ln>
                <a:noFill/>
              </a:ln>
              <a:effectLst/>
            </c:spPr>
          </c:dPt>
          <c:dPt>
            <c:idx val="2"/>
            <c:invertIfNegative val="0"/>
            <c:bubble3D val="0"/>
            <c:spPr>
              <a:solidFill>
                <a:srgbClr val="1D4881"/>
              </a:solidFill>
              <a:ln>
                <a:noFill/>
              </a:ln>
              <a:effectLst/>
            </c:spPr>
          </c:dPt>
          <c:dPt>
            <c:idx val="3"/>
            <c:invertIfNegative val="0"/>
            <c:bubble3D val="0"/>
            <c:spPr>
              <a:solidFill>
                <a:srgbClr val="3A6095"/>
              </a:solidFill>
              <a:ln>
                <a:noFill/>
              </a:ln>
              <a:effectLst/>
            </c:spPr>
          </c:dPt>
          <c:dPt>
            <c:idx val="4"/>
            <c:invertIfNegative val="0"/>
            <c:bubble3D val="0"/>
            <c:spPr>
              <a:solidFill>
                <a:srgbClr val="5779AA"/>
              </a:solidFill>
              <a:ln>
                <a:noFill/>
              </a:ln>
              <a:effectLst/>
            </c:spPr>
          </c:dPt>
          <c:dPt>
            <c:idx val="5"/>
            <c:invertIfNegative val="0"/>
            <c:bubble3D val="0"/>
            <c:spPr>
              <a:solidFill>
                <a:srgbClr val="7392BE"/>
              </a:solidFill>
              <a:ln>
                <a:noFill/>
              </a:ln>
              <a:effectLst/>
            </c:spPr>
          </c:dPt>
          <c:dPt>
            <c:idx val="6"/>
            <c:invertIfNegative val="0"/>
            <c:bubble3D val="0"/>
            <c:spPr>
              <a:solidFill>
                <a:srgbClr val="90ABD3"/>
              </a:solidFill>
              <a:ln>
                <a:noFill/>
              </a:ln>
              <a:effectLst/>
            </c:spPr>
          </c:dPt>
          <c:dPt>
            <c:idx val="7"/>
            <c:invertIfNegative val="0"/>
            <c:bubble3D val="0"/>
            <c:spPr>
              <a:solidFill>
                <a:srgbClr val="ADC3E7"/>
              </a:solidFill>
              <a:ln>
                <a:noFill/>
              </a:ln>
              <a:effectLst/>
            </c:spPr>
          </c:dPt>
          <c:dPt>
            <c:idx val="8"/>
            <c:invertIfNegative val="0"/>
            <c:bubble3D val="0"/>
            <c:spPr>
              <a:solidFill>
                <a:srgbClr val="CADCFC"/>
              </a:solidFill>
              <a:ln>
                <a:noFill/>
              </a:ln>
              <a:effectLst/>
            </c:spPr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1" i="0" u="none" strike="noStrike" kern="1200" baseline="0">
                    <a:solidFill>
                      <a:srgbClr val="002F6C"/>
                    </a:solidFill>
                    <a:latin typeface="+mn-lt"/>
                    <a:ea typeface="+mn-ea"/>
                    <a:cs typeface="+mn-cs"/>
                  </a:defRPr>
                </a:pPr>
                <a:endParaRPr lang="he-I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'2026'!$P$50:$P$58</c:f>
              <c:strCache>
                <c:ptCount val="9"/>
                <c:pt idx="0">
                  <c:v>ס.פארם</c:v>
                </c:pt>
                <c:pt idx="1">
                  <c:v>אתר </c:v>
                </c:pt>
                <c:pt idx="2">
                  <c:v>קופות</c:v>
                </c:pt>
                <c:pt idx="3">
                  <c:v>מפיצים </c:v>
                </c:pt>
                <c:pt idx="4">
                  <c:v>אמזון </c:v>
                </c:pt>
                <c:pt idx="5">
                  <c:v>בתי מרקחת</c:v>
                </c:pt>
                <c:pt idx="6">
                  <c:v>מכונים</c:v>
                </c:pt>
                <c:pt idx="7">
                  <c:v>BE</c:v>
                </c:pt>
                <c:pt idx="8">
                  <c:v>אחרים </c:v>
                </c:pt>
              </c:strCache>
            </c:strRef>
          </c:cat>
          <c:val>
            <c:numRef>
              <c:f>'2026'!$Q$50:$Q$58</c:f>
              <c:numCache>
                <c:formatCode>0%</c:formatCode>
                <c:ptCount val="9"/>
                <c:pt idx="0">
                  <c:v>0.28889797959581626</c:v>
                </c:pt>
                <c:pt idx="1">
                  <c:v>0.19072350419474854</c:v>
                </c:pt>
                <c:pt idx="2">
                  <c:v>0.15791549370270344</c:v>
                </c:pt>
                <c:pt idx="3">
                  <c:v>0.10982113660021957</c:v>
                </c:pt>
                <c:pt idx="4">
                  <c:v>9.7027520387894292E-2</c:v>
                </c:pt>
                <c:pt idx="5">
                  <c:v>7.0896533809474291E-2</c:v>
                </c:pt>
                <c:pt idx="6">
                  <c:v>4.1106631992353412E-2</c:v>
                </c:pt>
                <c:pt idx="7">
                  <c:v>3.5158290842720485E-2</c:v>
                </c:pt>
                <c:pt idx="8">
                  <c:v>8.4529088740696295E-3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AAA-4A2F-A324-30BA285687A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5"/>
        <c:axId val="411000001"/>
        <c:axId val="411000002"/>
      </c:barChart>
      <c:catAx>
        <c:axId val="411000001"/>
        <c:scaling>
          <c:orientation val="maxMin"/>
        </c:scaling>
        <c:delete val="0"/>
        <c:axPos val="r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noFill/>
            <a:round/>
          </a:ln>
          <a:effectLst/>
        </c:spPr>
        <c:txPr>
          <a:bodyPr rot="0" spcFirstLastPara="1" vertOverflow="ellipsis" vert="horz" wrap="square" anchor="ctr" anchorCtr="1"/>
          <a:lstStyle/>
          <a:p>
            <a:pPr>
              <a:defRPr sz="1200" b="1" i="0" u="none" strike="noStrike" kern="1200" baseline="0">
                <a:solidFill>
                  <a:srgbClr val="002F6C"/>
                </a:solidFill>
                <a:latin typeface="+mn-lt"/>
                <a:ea typeface="+mn-ea"/>
                <a:cs typeface="+mn-cs"/>
              </a:defRPr>
            </a:pPr>
            <a:endParaRPr lang="he-IL"/>
          </a:p>
        </c:txPr>
        <c:crossAx val="411000002"/>
        <c:crosses val="autoZero"/>
        <c:auto val="1"/>
        <c:lblAlgn val="ctr"/>
        <c:lblOffset val="100"/>
        <c:noMultiLvlLbl val="0"/>
      </c:catAx>
      <c:valAx>
        <c:axId val="411000002"/>
        <c:scaling>
          <c:orientation val="maxMin"/>
          <c:max val="0.34"/>
          <c:min val="0"/>
        </c:scaling>
        <c:delete val="1"/>
        <c:axPos val="b"/>
        <c:numFmt formatCode="0%" sourceLinked="0"/>
        <c:majorTickMark val="none"/>
        <c:minorTickMark val="none"/>
        <c:tickLblPos val="none"/>
        <c:spPr>
          <a:noFill/>
          <a:ln>
            <a:noFill/>
          </a:ln>
          <a:effectLst/>
        </c:spPr>
        <c:crossAx val="41100000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he-I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e-I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layout>
        <c:manualLayout>
          <c:xMode val="edge"/>
          <c:yMode val="edge"/>
          <c:x val="0.70"/>
          <c:y val="0.0"/>
        </c:manualLayout>
      </c:layout>
      <c:tx>
        <c:rich>
          <a:bodyPr rot="0" spcFirstLastPara="1" vertOverflow="ellipsis" vert="horz" wrap="square" anchor="t" anchorCtr="0"/>
          <a:lstStyle/>
          <a:p>
            <a:pPr algn="r">
              <a:defRPr sz="1100" b="0" i="0" u="none" strike="noStrike" kern="1200" baseline="0">
                <a:solidFill>
                  <a:srgbClr val="5B6B82"/>
                </a:solidFill>
                <a:latin typeface="+mn-lt"/>
                <a:ea typeface="+mn-ea"/>
                <a:cs typeface="+mn-cs"/>
              </a:defRPr>
            </a:pPr>
            <a:r>
              <a:rPr lang="he-IL" sz="1100" b="0" dirty="0">
                <a:solidFill>
                  <a:srgbClr val="5B6B82"/>
                </a:solidFill>
                <a:latin typeface="+mn-lt"/>
                <a:cs typeface="+mn-lt"/>
              </a:rPr>
              <a:t>מכירות שנתיות (₪ מיליון)</a:t>
            </a:r>
          </a:p>
        </c:rich>
      </c:tx>
      <c:overlay val="0"/>
      <c:spPr>
        <a:noFill/>
        <a:ln>
          <a:noFill/>
        </a:ln>
        <a:effectLst/>
      </c:spPr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spPr>
            <a:solidFill>
              <a:srgbClr val="002F6C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5B6B82"/>
              </a:solidFill>
              <a:ln>
                <a:noFill/>
              </a:ln>
              <a:effectLst/>
            </c:spPr>
          </c:dPt>
          <c:dPt>
            <c:idx val="1"/>
            <c:invertIfNegative val="0"/>
            <c:bubble3D val="0"/>
            <c:spPr>
              <a:solidFill>
                <a:srgbClr val="5B6B82"/>
              </a:solidFill>
              <a:ln>
                <a:noFill/>
              </a:ln>
              <a:effectLst/>
            </c:spPr>
          </c:dPt>
          <c:dPt>
            <c:idx val="2"/>
            <c:invertIfNegative val="0"/>
            <c:bubble3D val="0"/>
            <c:spPr>
              <a:solidFill>
                <a:srgbClr val="5B6B82"/>
              </a:solidFill>
              <a:ln>
                <a:noFill/>
              </a:ln>
              <a:effectLst/>
            </c:spPr>
          </c:dPt>
          <c:dPt>
            <c:idx val="3"/>
            <c:invertIfNegative val="0"/>
            <c:bubble3D val="0"/>
            <c:spPr>
              <a:solidFill>
                <a:srgbClr val="5B6B82"/>
              </a:solidFill>
              <a:ln>
                <a:noFill/>
              </a:ln>
              <a:effectLst/>
            </c:spPr>
          </c:dPt>
          <c:dPt>
            <c:idx val="4"/>
            <c:invertIfNegative val="0"/>
            <c:bubble3D val="0"/>
            <c:spPr>
              <a:solidFill>
                <a:srgbClr val="002F6C"/>
              </a:solidFill>
              <a:ln>
                <a:noFill/>
              </a:ln>
              <a:effectLst/>
            </c:spPr>
          </c:dPt>
          <c:dLbls>
            <c:dLbl>
              <c:idx val="0"/>
              <c:spPr>
                <a:noFill/>
                <a:ln>
                  <a:noFill/>
                </a:ln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200" b="1" i="0" u="none" strike="noStrike" kern="1200" baseline="0">
                      <a:solidFill>
                        <a:srgbClr val="5B6B82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he-IL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pPr>
                <a:noFill/>
                <a:ln>
                  <a:noFill/>
                </a:ln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200" b="1" i="0" u="none" strike="noStrike" kern="1200" baseline="0">
                      <a:solidFill>
                        <a:srgbClr val="5B6B82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he-IL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pPr>
                <a:noFill/>
                <a:ln>
                  <a:noFill/>
                </a:ln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200" b="1" i="0" u="none" strike="noStrike" kern="1200" baseline="0">
                      <a:solidFill>
                        <a:srgbClr val="5B6B82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he-IL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pPr>
                <a:noFill/>
                <a:ln>
                  <a:noFill/>
                </a:ln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200" b="1" i="0" u="none" strike="noStrike" kern="1200" baseline="0">
                      <a:solidFill>
                        <a:srgbClr val="5B6B82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he-IL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pPr>
                <a:noFill/>
                <a:ln>
                  <a:noFill/>
                </a:ln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300" b="1" i="0" u="none" strike="noStrike" kern="1200" baseline="0">
                      <a:solidFill>
                        <a:srgbClr val="002F6C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he-IL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rgbClr val="5B6B82"/>
                    </a:solidFill>
                    <a:latin typeface="+mn-lt"/>
                    <a:ea typeface="+mn-ea"/>
                    <a:cs typeface="+mn-cs"/>
                  </a:defRPr>
                </a:pPr>
                <a:endParaRPr lang="he-I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numRef>
              <c:f>'2026'!$I$53:$I$57</c:f>
              <c:numCache>
                <c:formatCode>General</c:formatCod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</c:numCache>
            </c:numRef>
          </c:cat>
          <c:val>
            <c:numRef>
              <c:f>'2026'!$J$53:$J$57</c:f>
              <c:numCache>
                <c:formatCode>0.0</c:formatCode>
                <c:ptCount val="5"/>
                <c:pt idx="0">
                  <c:v>22.01</c:v>
                </c:pt>
                <c:pt idx="1">
                  <c:v>23.1</c:v>
                </c:pt>
                <c:pt idx="2">
                  <c:v>25.012791934000003</c:v>
                </c:pt>
                <c:pt idx="3">
                  <c:v>24.119651232000034</c:v>
                </c:pt>
                <c:pt idx="4">
                  <c:v>27.41142646300003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0B1-4468-9B05-D9DFAB9B779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-10"/>
        <c:axId val="1148800088"/>
        <c:axId val="1148801528"/>
      </c:barChart>
      <c:catAx>
        <c:axId val="1148800088"/>
        <c:scaling>
          <c:orientation val="maxMin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rgbClr val="D9D9D9"/>
            </a:solidFill>
            <a:round/>
          </a:ln>
          <a:effectLst/>
        </c:spPr>
        <c:txPr>
          <a:bodyPr rot="0" spcFirstLastPara="1" vertOverflow="ellipsis" vert="horz" wrap="square" anchor="ctr" anchorCtr="1"/>
          <a:lstStyle/>
          <a:p>
            <a:pPr>
              <a:defRPr sz="1100" b="1" i="0" u="none" strike="noStrike" kern="1200" baseline="0">
                <a:solidFill>
                  <a:srgbClr val="5B6B82"/>
                </a:solidFill>
                <a:latin typeface="+mn-lt"/>
                <a:ea typeface="+mn-ea"/>
                <a:cs typeface="+mn-cs"/>
              </a:defRPr>
            </a:pPr>
            <a:endParaRPr lang="he-IL"/>
          </a:p>
        </c:txPr>
        <c:crossAx val="1148801528"/>
        <c:crosses val="autoZero"/>
        <c:auto val="1"/>
        <c:lblAlgn val="ctr"/>
        <c:lblOffset val="100"/>
        <c:noMultiLvlLbl val="0"/>
      </c:catAx>
      <c:valAx>
        <c:axId val="1148801528"/>
        <c:scaling>
          <c:orientation val="minMax"/>
          <c:max val="33"/>
          <c:min val="0"/>
        </c:scaling>
        <c:delete val="1"/>
        <c:axPos val="r"/>
        <c:numFmt formatCode="0.0" sourceLinked="1"/>
        <c:majorTickMark val="none"/>
        <c:minorTickMark val="none"/>
        <c:tickLblPos val="nextTo"/>
        <c:crossAx val="114880008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he-IL"/>
    </a:p>
  </c:txPr>
  <c:externalData r:id="rId3">
    <c:autoUpdate val="0"/>
  </c:externalData>
  <c:userShapes r:id="rId4"/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4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9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cs:styleClr val="auto"/>
    </cs:fontRef>
    <cs:defRPr sz="1330" b="1" i="0" u="none" strike="noStrike" kern="1200" spc="0" baseline="0"/>
  </cs:dataLabel>
  <cs:dataLabelCallout>
    <cs:lnRef idx="0">
      <cs:styleClr val="auto"/>
    </cs:lnRef>
    <cs:fillRef idx="0"/>
    <cs:effectRef idx="0"/>
    <cs:fontRef idx="minor">
      <cs:styleClr val="auto"/>
    </cs:fontRef>
    <cs:spPr>
      <a:solidFill>
        <a:schemeClr val="lt1"/>
      </a:solidFill>
      <a:ln>
        <a:solidFill>
          <a:schemeClr val="phClr"/>
        </a:solidFill>
      </a:ln>
    </cs:spPr>
    <cs:defRPr sz="1330" b="1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effectLst>
        <a:outerShdw blurRad="63500" sx="102000" sy="102000" algn="ctr" rotWithShape="0">
          <a:prstClr val="black">
            <a:alpha val="20000"/>
          </a:prstClr>
        </a:outerShdw>
      </a:effectLst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effectLst>
        <a:outerShdw blurRad="88900" sx="102000" sy="102000" algn="ctr" rotWithShape="0">
          <a:prstClr val="black">
            <a:alpha val="10000"/>
          </a:prstClr>
        </a:outerShdw>
      </a:effectLst>
      <a:scene3d>
        <a:camera prst="orthographicFront"/>
        <a:lightRig rig="threePt" dir="t"/>
      </a:scene3d>
      <a:sp3d>
        <a:bevelT w="127000" h="127000"/>
        <a:bevelB w="127000" h="127000"/>
      </a:sp3d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9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cs:styleClr val="auto"/>
    </cs:fontRef>
    <cs:defRPr sz="1330" b="1" i="0" u="none" strike="noStrike" kern="1200" spc="0" baseline="0"/>
  </cs:dataLabel>
  <cs:dataLabelCallout>
    <cs:lnRef idx="0">
      <cs:styleClr val="auto"/>
    </cs:lnRef>
    <cs:fillRef idx="0"/>
    <cs:effectRef idx="0"/>
    <cs:fontRef idx="minor">
      <cs:styleClr val="auto"/>
    </cs:fontRef>
    <cs:spPr>
      <a:solidFill>
        <a:schemeClr val="lt1"/>
      </a:solidFill>
      <a:ln>
        <a:solidFill>
          <a:schemeClr val="phClr"/>
        </a:solidFill>
      </a:ln>
    </cs:spPr>
    <cs:defRPr sz="1330" b="1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effectLst>
        <a:outerShdw blurRad="63500" sx="102000" sy="102000" algn="ctr" rotWithShape="0">
          <a:prstClr val="black">
            <a:alpha val="20000"/>
          </a:prstClr>
        </a:outerShdw>
      </a:effectLst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effectLst>
        <a:outerShdw blurRad="88900" sx="102000" sy="102000" algn="ctr" rotWithShape="0">
          <a:prstClr val="black">
            <a:alpha val="10000"/>
          </a:prstClr>
        </a:outerShdw>
      </a:effectLst>
      <a:scene3d>
        <a:camera prst="orthographicFront"/>
        <a:lightRig rig="threePt" dir="t"/>
      </a:scene3d>
      <a:sp3d>
        <a:bevelT w="127000" h="127000"/>
        <a:bevelB w="127000" h="127000"/>
      </a:sp3d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0.12</cdr:x>
      <cdr:y>0.015</cdr:y>
    </cdr:from>
    <cdr:to>
      <cdr:x>0.885</cdr:x>
      <cdr:y>0.215</cdr:y>
    </cdr:to>
    <cdr:cxnSp macro="">
      <cdr:nvCxnSpPr>
        <cdr:cNvPr id="3" name="חץ מגמת צמיחה"/>
        <cdr:cNvCxnSpPr/>
      </cdr:nvCxnSpPr>
      <cdr:spPr>
        <a:xfrm xmlns:a="http://schemas.openxmlformats.org/drawingml/2006/main">
          <a:off x="0" y="0"/>
          <a:ext cx="1" cy="1"/>
        </a:xfrm>
        <a:prstGeom xmlns:a="http://schemas.openxmlformats.org/drawingml/2006/main" prst="straightConnector1">
          <a:avLst/>
        </a:prstGeom>
        <a:ln xmlns:a="http://schemas.openxmlformats.org/drawingml/2006/main" w="19050" cap="rnd">
          <a:solidFill>
            <a:srgbClr val="002F6C"/>
          </a:solidFill>
          <a:tailEnd type="triangle" w="med" len="med"/>
        </a:ln>
      </cdr:spPr>
      <cdr:style>
        <a:lnRef xmlns:a="http://schemas.openxmlformats.org/drawingml/2006/main" idx="1">
          <a:srgbClr val="002F6C"/>
        </a:lnRef>
        <a:fillRef xmlns:a="http://schemas.openxmlformats.org/drawingml/2006/main" idx="0">
          <a:srgbClr val="002F6C"/>
        </a:fillRef>
        <a:effectRef xmlns:a="http://schemas.openxmlformats.org/drawingml/2006/main" idx="0">
          <a:srgbClr val="002F6C"/>
        </a:effectRef>
        <a:fontRef xmlns:a="http://schemas.openxmlformats.org/drawingml/2006/main" idx="minor">
          <a:srgbClr val="002F6C"/>
        </a:fontRef>
      </cdr:style>
    </cdr:cxnSp>
  </cdr:relSizeAnchor>
  <cdr:relSizeAnchor xmlns:cdr="http://schemas.openxmlformats.org/drawingml/2006/chartDrawing">
    <cdr:from>
      <cdr:x>0.395</cdr:x>
      <cdr:y>0.00</cdr:y>
    </cdr:from>
    <cdr:to>
      <cdr:x>0.605</cdr:x>
      <cdr:y>0.15</cdr:y>
    </cdr:to>
    <cdr:sp macro="" textlink="">
      <cdr:nvSpPr>
        <cdr:cNvPr id="6" name="תג צמיחה"/>
        <cdr:cNvSpPr/>
      </cdr:nvSpPr>
      <cdr:spPr>
        <a:xfrm xmlns:a="http://schemas.openxmlformats.org/drawingml/2006/main">
          <a:off x="0" y="0"/>
          <a:ext cx="1" cy="1"/>
        </a:xfrm>
        <a:prstGeom xmlns:a="http://schemas.openxmlformats.org/drawingml/2006/main" prst="roundRect">
          <a:avLst>
            <a:gd name="adj" fmla="val 50000"/>
          </a:avLst>
        </a:prstGeom>
        <a:solidFill xmlns:a="http://schemas.openxmlformats.org/drawingml/2006/main">
          <a:srgbClr val="E0A62B"/>
        </a:solidFill>
        <a:ln xmlns:a="http://schemas.openxmlformats.org/drawingml/2006/main">
          <a:noFill/>
        </a:ln>
        <a:effectLst xmlns:a="http://schemas.openxmlformats.org/drawingml/2006/main">
          <a:outerShdw blurRad="63500" dist="25400" dir="5400000" rotWithShape="0">
            <a:srgbClr val="002F6C">
              <a:alpha val="25000"/>
            </a:srgbClr>
          </a:outerShdw>
        </a:effectLst>
      </cdr:spPr>
      <cdr:style>
        <a:lnRef xmlns:a="http://schemas.openxmlformats.org/drawingml/2006/main" idx="0">
          <a:srgbClr val="E0A62B"/>
        </a:lnRef>
        <a:fillRef xmlns:a="http://schemas.openxmlformats.org/drawingml/2006/main" idx="0">
          <a:srgbClr val="E0A62B"/>
        </a:fillRef>
        <a:effectRef xmlns:a="http://schemas.openxmlformats.org/drawingml/2006/main" idx="0">
          <a:srgbClr val="E0A62B"/>
        </a:effectRef>
        <a:fontRef xmlns:a="http://schemas.openxmlformats.org/drawingml/2006/main" idx="minor">
          <a:srgbClr val="FFFFFF"/>
        </a:fontRef>
      </cdr:style>
      <cdr:txBody>
        <a:bodyPr xmlns:a="http://schemas.openxmlformats.org/drawingml/2006/main" wrap="square" lIns="45720" tIns="18000" rIns="45720" bIns="18000" anchor="ctr" anchorCtr="1">
          <a:noAutofit/>
        </a:bodyPr>
        <a:lstStyle xmlns:a="http://schemas.openxmlformats.org/drawingml/2006/main"/>
        <a:p xmlns:a="http://schemas.openxmlformats.org/drawingml/2006/main">
          <a:pPr algn="ctr"/>
          <a:r>
            <a:rPr lang="he-IL" sz="1500" b="1" kern="1200" dirty="0">
              <a:solidFill>
                <a:srgbClr val="002F6C"/>
              </a:solidFill>
              <a:latin typeface="+mn-lt"/>
              <a:cs typeface="+mn-lt"/>
            </a:rPr>
            <a:t>24.5%+</a:t>
          </a:r>
        </a:p>
      </cdr:txBody>
    </cdr:sp>
  </cdr:relSizeAnchor>
</c:userShap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074227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333">
                <a:solidFill>
                  <a:schemeClr val="dk2"/>
                </a:solidFill>
              </a:defRPr>
            </a:lvl1pPr>
            <a:lvl2pPr lvl="1" algn="r">
              <a:buNone/>
              <a:defRPr sz="1333">
                <a:solidFill>
                  <a:schemeClr val="dk2"/>
                </a:solidFill>
              </a:defRPr>
            </a:lvl2pPr>
            <a:lvl3pPr lvl="2" algn="r">
              <a:buNone/>
              <a:defRPr sz="1333">
                <a:solidFill>
                  <a:schemeClr val="dk2"/>
                </a:solidFill>
              </a:defRPr>
            </a:lvl3pPr>
            <a:lvl4pPr lvl="3" algn="r">
              <a:buNone/>
              <a:defRPr sz="1333">
                <a:solidFill>
                  <a:schemeClr val="dk2"/>
                </a:solidFill>
              </a:defRPr>
            </a:lvl4pPr>
            <a:lvl5pPr lvl="4" algn="r">
              <a:buNone/>
              <a:defRPr sz="1333">
                <a:solidFill>
                  <a:schemeClr val="dk2"/>
                </a:solidFill>
              </a:defRPr>
            </a:lvl5pPr>
            <a:lvl6pPr lvl="5" algn="r">
              <a:buNone/>
              <a:defRPr sz="1333">
                <a:solidFill>
                  <a:schemeClr val="dk2"/>
                </a:solidFill>
              </a:defRPr>
            </a:lvl6pPr>
            <a:lvl7pPr lvl="6" algn="r">
              <a:buNone/>
              <a:defRPr sz="1333">
                <a:solidFill>
                  <a:schemeClr val="dk2"/>
                </a:solidFill>
              </a:defRPr>
            </a:lvl7pPr>
            <a:lvl8pPr lvl="7" algn="r">
              <a:buNone/>
              <a:defRPr sz="1333">
                <a:solidFill>
                  <a:schemeClr val="dk2"/>
                </a:solidFill>
              </a:defRPr>
            </a:lvl8pPr>
            <a:lvl9pPr lvl="8"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pPr rtl="0"/>
            <a:fld id="{00000000-1234-1234-1234-123412341234}" type="slidenum">
              <a:rPr lang="en" smtClean="0"/>
              <a:pPr rtl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4067592355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0" name="FooterLine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223001"/>
            <a:ext cx="12192000" cy="495300"/>
          </a:xfrm>
          <a:prstGeom prst="rect">
            <a:avLst/>
          </a:prstGeom>
        </p:spPr>
      </p:pic>
      <p:sp>
        <p:nvSpPr>
          <p:cNvPr id="5" name="Google Shape;107;g341c3af2acd_1_217">
            <a:extLst>
              <a:ext uri="{FF2B5EF4-FFF2-40B4-BE49-F238E27FC236}">
                <a16:creationId xmlns:a16="http://schemas.microsoft.com/office/drawing/2014/main" id="{F9CDF83A-0AE7-FE03-0942-2B1303137FD4}"/>
              </a:ext>
            </a:extLst>
          </p:cNvPr>
          <p:cNvSpPr txBox="1"/>
          <p:nvPr/>
        </p:nvSpPr>
        <p:spPr>
          <a:xfrm>
            <a:off x="3381315" y="384829"/>
            <a:ext cx="7942800" cy="3282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 defTabSz="1219170" rtl="1">
              <a:buSzPts val="1500"/>
            </a:pPr>
            <a:r>
              <a:rPr lang="he-IL" sz="2133" b="1" kern="0" dirty="0">
                <a:solidFill>
                  <a:srgbClr val="002F6C"/>
                </a:solidFill>
                <a:latin typeface="Assistant"/>
                <a:ea typeface="Assistant"/>
                <a:cs typeface="Assistant"/>
                <a:sym typeface="Assistant"/>
              </a:rPr>
              <a:t> מכירות – סטטוס אוקטובר</a:t>
            </a:r>
            <a:r>
              <a:rPr lang="en-US" sz="2133" b="1" kern="0" dirty="0">
                <a:solidFill>
                  <a:srgbClr val="002F6C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2133" b="1" kern="0" dirty="0">
                <a:solidFill>
                  <a:srgbClr val="002F6C"/>
                </a:solidFill>
                <a:latin typeface="Assistant"/>
                <a:ea typeface="Assistant"/>
                <a:cs typeface="Assistant"/>
                <a:sym typeface="Assistant"/>
              </a:rPr>
              <a:t>ביצוע מול מטרה  </a:t>
            </a:r>
          </a:p>
        </p:txBody>
      </p:sp>
      <p:graphicFrame>
        <p:nvGraphicFramePr>
          <p:cNvPr id="6" name="תרשים 5">
            <a:extLst>
              <a:ext uri="{FF2B5EF4-FFF2-40B4-BE49-F238E27FC236}">
                <a16:creationId xmlns:a16="http://schemas.microsoft.com/office/drawing/2014/main" id="{80D1267B-1FF0-4263-1152-64F11063591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13134382"/>
              </p:ext>
            </p:extLst>
          </p:nvPr>
        </p:nvGraphicFramePr>
        <p:xfrm>
          <a:off x="1438275" y="1108000"/>
          <a:ext cx="9991725" cy="40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תיבת טקסט 8">
            <a:extLst>
              <a:ext uri="{FF2B5EF4-FFF2-40B4-BE49-F238E27FC236}">
                <a16:creationId xmlns:a16="http://schemas.microsoft.com/office/drawing/2014/main" id="{A52C56A1-97C3-B411-CF67-DFD1B1B545C9}"/>
              </a:ext>
            </a:extLst>
          </p:cNvPr>
          <p:cNvSpPr txBox="1"/>
          <p:nvPr/>
        </p:nvSpPr>
        <p:spPr>
          <a:xfrm>
            <a:off x="3006461" y="5183860"/>
            <a:ext cx="7747264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defTabSz="1219170">
              <a:buClr>
                <a:srgbClr val="000000"/>
              </a:buClr>
            </a:pPr>
            <a:r>
              <a:rPr lang="en-US" sz="1050" b="1" kern="0" dirty="0">
                <a:solidFill>
                  <a:schemeClr val="accent1">
                    <a:lumMod val="50000"/>
                  </a:schemeClr>
                </a:solidFill>
                <a:sym typeface="Arial"/>
              </a:rPr>
              <a:t>YTD</a:t>
            </a:r>
            <a:r>
              <a:rPr lang="he-IL" sz="1050" b="1" kern="0" dirty="0">
                <a:solidFill>
                  <a:schemeClr val="accent1">
                    <a:lumMod val="50000"/>
                  </a:schemeClr>
                </a:solidFill>
                <a:sym typeface="Arial"/>
              </a:rPr>
              <a:t> </a:t>
            </a:r>
            <a:r>
              <a:rPr lang="en-US" sz="2000" b="1" kern="0" dirty="0">
                <a:solidFill>
                  <a:schemeClr val="accent1">
                    <a:lumMod val="50000"/>
                  </a:schemeClr>
                </a:solidFill>
                <a:sym typeface="Arial"/>
              </a:rPr>
              <a:t>21.5</a:t>
            </a:r>
            <a:r>
              <a:rPr lang="he-IL" sz="1050" b="1" kern="0" dirty="0">
                <a:solidFill>
                  <a:schemeClr val="accent1">
                    <a:lumMod val="50000"/>
                  </a:schemeClr>
                </a:solidFill>
                <a:sym typeface="Arial"/>
              </a:rPr>
              <a:t> ₪ מיליון </a:t>
            </a:r>
            <a:r>
              <a:rPr lang="en-US" sz="2000" b="1" kern="0" dirty="0">
                <a:solidFill>
                  <a:schemeClr val="accent1">
                    <a:lumMod val="50000"/>
                  </a:schemeClr>
                </a:solidFill>
                <a:sym typeface="Arial"/>
              </a:rPr>
              <a:t>86%</a:t>
            </a:r>
            <a:r>
              <a:rPr lang="he-IL" sz="1050" b="1" kern="0" dirty="0">
                <a:solidFill>
                  <a:schemeClr val="accent1">
                    <a:lumMod val="50000"/>
                  </a:schemeClr>
                </a:solidFill>
                <a:sym typeface="Arial"/>
              </a:rPr>
              <a:t> מיעד מטרה</a:t>
            </a:r>
          </a:p>
        </p:txBody>
      </p:sp>
      <p:sp>
        <p:nvSpPr>
          <p:cNvPr id="3" name="תיבת טקסט 2">
            <a:extLst>
              <a:ext uri="{FF2B5EF4-FFF2-40B4-BE49-F238E27FC236}">
                <a16:creationId xmlns:a16="http://schemas.microsoft.com/office/drawing/2014/main" id="{F659CE67-E4B5-62A9-8A26-B115E68BA0B3}"/>
              </a:ext>
            </a:extLst>
          </p:cNvPr>
          <p:cNvSpPr txBox="1"/>
          <p:nvPr/>
        </p:nvSpPr>
        <p:spPr>
          <a:xfrm>
            <a:off x="3006461" y="1254794"/>
            <a:ext cx="7747264" cy="74635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defTabSz="1219170" rtl="1">
              <a:lnSpc>
                <a:spcPct val="100000"/>
              </a:lnSpc>
              <a:buClr>
                <a:srgbClr val="000000"/>
              </a:buClr>
            </a:pPr>
            <a:r>
              <a:rPr lang="he-IL" sz="1400" b="1" kern="0" dirty="0">
                <a:solidFill>
                  <a:srgbClr val="5B6B82"/>
                </a:solidFill>
                <a:latin typeface="Arial"/>
                <a:cs typeface="Arial" panose="020B0604020202020204" pitchFamily="34" charset="0"/>
                <a:sym typeface="Arial"/>
              </a:rPr>
              <a:t>אוקטובר </a:t>
            </a:r>
            <a:r>
              <a:rPr lang="he-IL" sz="3200" b="1" kern="0" dirty="0">
                <a:solidFill>
                  <a:srgbClr val="002F6C"/>
                </a:solidFill>
                <a:latin typeface="Arial"/>
                <a:cs typeface="Arial" panose="020B0604020202020204" pitchFamily="34" charset="0"/>
                <a:sym typeface="Arial"/>
              </a:rPr>
              <a:t>2.3</a:t>
            </a:r>
            <a:r>
              <a:rPr lang="he-IL" sz="1400" b="1" kern="0" dirty="0">
                <a:solidFill>
                  <a:srgbClr val="5B6B82"/>
                </a:solidFill>
                <a:latin typeface="Arial"/>
                <a:cs typeface="Arial" panose="020B0604020202020204" pitchFamily="34" charset="0"/>
                <a:sym typeface="Arial"/>
              </a:rPr>
              <a:t> ₪ מיליון </a:t>
            </a:r>
            <a:r>
              <a:rPr lang="he-IL" sz="3200" b="1" kern="0" dirty="0">
                <a:solidFill>
                  <a:srgbClr val="002F6C"/>
                </a:solidFill>
                <a:latin typeface="Arial"/>
                <a:cs typeface="Arial" panose="020B0604020202020204" pitchFamily="34" charset="0"/>
                <a:sym typeface="Arial"/>
              </a:rPr>
              <a:t>64%</a:t>
            </a:r>
            <a:r>
              <a:rPr lang="he-IL" sz="1400" b="1" kern="0" dirty="0">
                <a:solidFill>
                  <a:srgbClr val="5B6B82"/>
                </a:solidFill>
                <a:latin typeface="Arial"/>
                <a:cs typeface="Arial" panose="020B0604020202020204" pitchFamily="34" charset="0"/>
                <a:sym typeface="Arial"/>
              </a:rPr>
              <a:t> מיעד מטרה</a:t>
            </a:r>
          </a:p>
          <a:p>
            <a:pPr defTabSz="1219170">
              <a:buClr>
                <a:srgbClr val="000000"/>
              </a:buClr>
            </a:pPr>
            <a:endParaRPr lang="en-US" sz="1050" b="1" kern="0" dirty="0">
              <a:solidFill>
                <a:srgbClr val="5B6B82"/>
              </a:solidFill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14112A-8DCB-2110-4995-6F16F947F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0" name="FooterLineLogo">
            <a:extLst>
              <a:ext uri="{FF2B5EF4-FFF2-40B4-BE49-F238E27FC236}">
                <a16:creationId xmlns:a16="http://schemas.microsoft.com/office/drawing/2014/main" id="{D5E867F3-06EA-B9A0-8332-5D6000A07C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223001"/>
            <a:ext cx="12192000" cy="495300"/>
          </a:xfrm>
          <a:prstGeom prst="rect">
            <a:avLst/>
          </a:prstGeom>
        </p:spPr>
      </p:pic>
      <p:sp>
        <p:nvSpPr>
          <p:cNvPr id="5" name="Google Shape;107;g341c3af2acd_1_217">
            <a:extLst>
              <a:ext uri="{FF2B5EF4-FFF2-40B4-BE49-F238E27FC236}">
                <a16:creationId xmlns:a16="http://schemas.microsoft.com/office/drawing/2014/main" id="{70FDBB16-6112-8523-C6A5-0201C33C1AA4}"/>
              </a:ext>
            </a:extLst>
          </p:cNvPr>
          <p:cNvSpPr txBox="1"/>
          <p:nvPr/>
        </p:nvSpPr>
        <p:spPr>
          <a:xfrm>
            <a:off x="3381315" y="384829"/>
            <a:ext cx="7942800" cy="3282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 defTabSz="1219170" rtl="1">
              <a:buSzPts val="1500"/>
            </a:pPr>
            <a:r>
              <a:rPr lang="he-IL" sz="2133" b="1" kern="0" dirty="0">
                <a:solidFill>
                  <a:srgbClr val="002F6C"/>
                </a:solidFill>
                <a:latin typeface="Assistant"/>
                <a:ea typeface="Assistant"/>
                <a:cs typeface="Assistant"/>
                <a:sym typeface="Assistant"/>
              </a:rPr>
              <a:t> מכירות – צפי לסיום 2026  </a:t>
            </a:r>
          </a:p>
        </p:txBody>
      </p:sp>
      <p:graphicFrame>
        <p:nvGraphicFramePr>
          <p:cNvPr id="2" name="טבלה 1">
            <a:extLst>
              <a:ext uri="{FF2B5EF4-FFF2-40B4-BE49-F238E27FC236}">
                <a16:creationId xmlns:a16="http://schemas.microsoft.com/office/drawing/2014/main" id="{5EF63494-99D3-FCEB-8CC8-25C9D2AD3F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9684657"/>
              </p:ext>
            </p:extLst>
          </p:nvPr>
        </p:nvGraphicFramePr>
        <p:xfrm>
          <a:off x="7352715" y="1708337"/>
          <a:ext cx="3756264" cy="2543175"/>
        </p:xfrm>
        <a:graphic>
          <a:graphicData uri="http://schemas.openxmlformats.org/drawingml/2006/table">
            <a:tbl>
              <a:tblPr rtl="1"/>
              <a:tblGrid>
                <a:gridCol w="1156464">
                  <a:extLst>
                    <a:ext uri="{9D8B030D-6E8A-4147-A177-3AD203B41FA5}">
                      <a16:colId xmlns:a16="http://schemas.microsoft.com/office/drawing/2014/main" val="2423334984"/>
                    </a:ext>
                  </a:extLst>
                </a:gridCol>
                <a:gridCol w="866600">
                  <a:extLst>
                    <a:ext uri="{9D8B030D-6E8A-4147-A177-3AD203B41FA5}">
                      <a16:colId xmlns:a16="http://schemas.microsoft.com/office/drawing/2014/main" val="4285592505"/>
                    </a:ext>
                  </a:extLst>
                </a:gridCol>
                <a:gridCol w="866600">
                  <a:extLst>
                    <a:ext uri="{9D8B030D-6E8A-4147-A177-3AD203B41FA5}">
                      <a16:colId xmlns:a16="http://schemas.microsoft.com/office/drawing/2014/main" val="2503073280"/>
                    </a:ext>
                  </a:extLst>
                </a:gridCol>
                <a:gridCol w="866600">
                  <a:extLst>
                    <a:ext uri="{9D8B030D-6E8A-4147-A177-3AD203B41FA5}">
                      <a16:colId xmlns:a16="http://schemas.microsoft.com/office/drawing/2014/main" val="3193351712"/>
                    </a:ext>
                  </a:extLst>
                </a:gridCol>
              </a:tblGrid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לקוח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F6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2026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F6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מטרה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F6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ביצוע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F6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519886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Life</a:t>
                      </a:r>
                      <a:endParaRPr lang="he-IL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2.0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1.9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>
                          <a:solidFill>
                            <a:srgbClr val="002F6C"/>
                          </a:solidFill>
                          <a:effectLst/>
                          <a:latin typeface="Arial" panose="020B0604020202020204" pitchFamily="34" charset="0"/>
                        </a:rPr>
                        <a:t>103%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2F6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4021540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סופרפארם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5.9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6.1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>
                          <a:solidFill>
                            <a:srgbClr val="002F6C"/>
                          </a:solidFill>
                          <a:effectLst/>
                          <a:latin typeface="Arial" panose="020B0604020202020204" pitchFamily="34" charset="0"/>
                        </a:rPr>
                        <a:t>98%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5863879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BE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1.0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1.0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>
                          <a:solidFill>
                            <a:srgbClr val="002F6C"/>
                          </a:solidFill>
                          <a:effectLst/>
                          <a:latin typeface="Arial" panose="020B0604020202020204" pitchFamily="34" charset="0"/>
                        </a:rPr>
                        <a:t>93%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7415884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בתי מרקחת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1.9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2.1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>
                          <a:solidFill>
                            <a:srgbClr val="002F6C"/>
                          </a:solidFill>
                          <a:effectLst/>
                          <a:latin typeface="Arial" panose="020B0604020202020204" pitchFamily="34" charset="0"/>
                        </a:rPr>
                        <a:t>92%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26682118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כללית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3.5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3.7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 dirty="0">
                          <a:solidFill>
                            <a:srgbClr val="002F6C"/>
                          </a:solidFill>
                          <a:effectLst/>
                          <a:latin typeface="Arial" panose="020B0604020202020204" pitchFamily="34" charset="0"/>
                        </a:rPr>
                        <a:t>95%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1365161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מאוחדת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0.8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0.9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 dirty="0">
                          <a:solidFill>
                            <a:srgbClr val="E0A62B"/>
                          </a:solidFill>
                          <a:effectLst/>
                          <a:latin typeface="Arial" panose="020B0604020202020204" pitchFamily="34" charset="0"/>
                        </a:rPr>
                        <a:t>83%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4776063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אורטופדיה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0.9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1.1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>
                          <a:solidFill>
                            <a:srgbClr val="E0A62B"/>
                          </a:solidFill>
                          <a:effectLst/>
                          <a:latin typeface="Arial" panose="020B0604020202020204" pitchFamily="34" charset="0"/>
                        </a:rPr>
                        <a:t>88%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5603218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פיזיותרפיה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0.2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0.2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 dirty="0">
                          <a:solidFill>
                            <a:srgbClr val="E0A62B"/>
                          </a:solidFill>
                          <a:effectLst/>
                          <a:latin typeface="Arial" panose="020B0604020202020204" pitchFamily="34" charset="0"/>
                        </a:rPr>
                        <a:t>75%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4811690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אתר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5.2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7.6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 dirty="0">
                          <a:solidFill>
                            <a:srgbClr val="E0A62B"/>
                          </a:solidFill>
                          <a:effectLst/>
                          <a:latin typeface="Arial" panose="020B0604020202020204" pitchFamily="34" charset="0"/>
                        </a:rPr>
                        <a:t>69%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8252489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אמזון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2.7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3.1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 dirty="0">
                          <a:solidFill>
                            <a:srgbClr val="E0A62B"/>
                          </a:solidFill>
                          <a:effectLst/>
                          <a:latin typeface="Arial" panose="020B0604020202020204" pitchFamily="34" charset="0"/>
                        </a:rPr>
                        <a:t>86%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222291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מפיצים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3.0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3.7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 dirty="0">
                          <a:solidFill>
                            <a:srgbClr val="E0A62B"/>
                          </a:solidFill>
                          <a:effectLst/>
                          <a:latin typeface="Arial" panose="020B0604020202020204" pitchFamily="34" charset="0"/>
                        </a:rPr>
                        <a:t>82%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2626985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אחרים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0.2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0.4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 dirty="0">
                          <a:solidFill>
                            <a:srgbClr val="E0A62B"/>
                          </a:solidFill>
                          <a:effectLst/>
                          <a:latin typeface="Arial" panose="020B0604020202020204" pitchFamily="34" charset="0"/>
                        </a:rPr>
                        <a:t>60%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377921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1" i="0" u="none" strike="noStrike">
                          <a:solidFill>
                            <a:srgbClr val="002F6C"/>
                          </a:solidFill>
                          <a:effectLst/>
                          <a:latin typeface="Arial" panose="020B0604020202020204" pitchFamily="34" charset="0"/>
                        </a:rPr>
                        <a:t>סה"כ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3EE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1" i="0" u="none" strike="noStrike">
                          <a:solidFill>
                            <a:srgbClr val="002F6C"/>
                          </a:solidFill>
                          <a:effectLst/>
                          <a:latin typeface="Arial" panose="020B0604020202020204" pitchFamily="34" charset="0"/>
                        </a:rPr>
                        <a:t>         27.4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3EE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he-IL" sz="1000" b="1" i="0" u="none" strike="noStrike" dirty="0">
                          <a:solidFill>
                            <a:srgbClr val="002F6C"/>
                          </a:solidFill>
                          <a:effectLst/>
                          <a:latin typeface="Arial" panose="020B0604020202020204" pitchFamily="34" charset="0"/>
                        </a:rPr>
                        <a:t>         31.9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3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 dirty="0">
                          <a:solidFill>
                            <a:srgbClr val="002F6C"/>
                          </a:solidFill>
                          <a:effectLst/>
                          <a:latin typeface="Arial" panose="020B0604020202020204" pitchFamily="34" charset="0"/>
                        </a:rPr>
                        <a:t>86%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3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3295717"/>
                  </a:ext>
                </a:extLst>
              </a:tr>
            </a:tbl>
          </a:graphicData>
        </a:graphic>
      </p:graphicFrame>
      <p:graphicFrame>
        <p:nvGraphicFramePr>
          <p:cNvPr id="4" name="תרשים 3">
            <a:extLst>
              <a:ext uri="{FF2B5EF4-FFF2-40B4-BE49-F238E27FC236}">
                <a16:creationId xmlns:a16="http://schemas.microsoft.com/office/drawing/2014/main" id="{8BC3A384-01F9-1D43-B6AC-A7F5550A409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11372906"/>
              </p:ext>
            </p:extLst>
          </p:nvPr>
        </p:nvGraphicFramePr>
        <p:xfrm>
          <a:off x="1349526" y="1708337"/>
          <a:ext cx="4591210" cy="277201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תיבת טקסט 7">
            <a:extLst>
              <a:ext uri="{FF2B5EF4-FFF2-40B4-BE49-F238E27FC236}">
                <a16:creationId xmlns:a16="http://schemas.microsoft.com/office/drawing/2014/main" id="{ADAEF08E-4C3A-3969-974E-BB88C18ABF9B}"/>
              </a:ext>
            </a:extLst>
          </p:cNvPr>
          <p:cNvSpPr txBox="1"/>
          <p:nvPr/>
        </p:nvSpPr>
        <p:spPr>
          <a:xfrm>
            <a:off x="946842" y="4779786"/>
            <a:ext cx="3844068" cy="7397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lang="he-IL" sz="1400" b="1" kern="0" dirty="0">
                <a:solidFill>
                  <a:srgbClr val="5B6B82"/>
                </a:solidFill>
                <a:latin typeface="Arial"/>
                <a:cs typeface="Arial" panose="020B0604020202020204" pitchFamily="34" charset="0"/>
              </a:rPr>
              <a:t>צפי עמידה ב </a:t>
            </a:r>
            <a:r>
              <a:rPr lang="he-IL" sz="3200" b="1" kern="0" dirty="0">
                <a:solidFill>
                  <a:srgbClr val="002F6C"/>
                </a:solidFill>
                <a:latin typeface="Arial"/>
                <a:cs typeface="Arial" panose="020B0604020202020204" pitchFamily="34" charset="0"/>
              </a:rPr>
              <a:t>86%</a:t>
            </a:r>
            <a:r>
              <a:rPr lang="he-IL" sz="1400" b="1" kern="0" dirty="0">
                <a:solidFill>
                  <a:srgbClr val="5B6B82"/>
                </a:solidFill>
                <a:latin typeface="Arial"/>
                <a:cs typeface="Arial" panose="020B0604020202020204" pitchFamily="34" charset="0"/>
              </a:rPr>
              <a:t> מיעד המטרה </a:t>
            </a:r>
          </a:p>
        </p:txBody>
      </p:sp>
      <p:sp>
        <p:nvSpPr>
          <p:cNvPr id="3" name="תיבת טקסט 2">
            <a:extLst>
              <a:ext uri="{FF2B5EF4-FFF2-40B4-BE49-F238E27FC236}">
                <a16:creationId xmlns:a16="http://schemas.microsoft.com/office/drawing/2014/main" id="{15367166-411C-C20C-1329-9F7028A3BBAE}"/>
              </a:ext>
            </a:extLst>
          </p:cNvPr>
          <p:cNvSpPr txBox="1"/>
          <p:nvPr/>
        </p:nvSpPr>
        <p:spPr>
          <a:xfrm rot="16200000">
            <a:off x="4059936" y="2996588"/>
            <a:ext cx="2093976" cy="276999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he-IL" sz="1200" dirty="0"/>
              <a:t>עודכן ביולי 2026</a:t>
            </a:r>
          </a:p>
        </p:txBody>
      </p:sp>
      <p:sp>
        <p:nvSpPr>
          <p:cNvPr id="6" name="סוגר מסולסל ימני 5">
            <a:extLst>
              <a:ext uri="{FF2B5EF4-FFF2-40B4-BE49-F238E27FC236}">
                <a16:creationId xmlns:a16="http://schemas.microsoft.com/office/drawing/2014/main" id="{5AA69D9C-61CC-6B04-C284-73EAD2F70250}"/>
              </a:ext>
            </a:extLst>
          </p:cNvPr>
          <p:cNvSpPr/>
          <p:nvPr/>
        </p:nvSpPr>
        <p:spPr>
          <a:xfrm rot="5400000">
            <a:off x="2688943" y="3510479"/>
            <a:ext cx="373687" cy="2313431"/>
          </a:xfrm>
          <a:prstGeom prst="rightBrace">
            <a:avLst>
              <a:gd name="adj1" fmla="val 0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238759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0B3E5B-1A14-C342-25E7-91B773BBE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0" name="FooterLineLogo">
            <a:extLst>
              <a:ext uri="{FF2B5EF4-FFF2-40B4-BE49-F238E27FC236}">
                <a16:creationId xmlns:a16="http://schemas.microsoft.com/office/drawing/2014/main" id="{1E4F773A-F76A-634D-5265-7982AAEA27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223001"/>
            <a:ext cx="12192000" cy="495300"/>
          </a:xfrm>
          <a:prstGeom prst="rect">
            <a:avLst/>
          </a:prstGeom>
        </p:spPr>
      </p:pic>
      <p:graphicFrame>
        <p:nvGraphicFramePr>
          <p:cNvPr id="3" name="תרשים 2">
            <a:extLst>
              <a:ext uri="{FF2B5EF4-FFF2-40B4-BE49-F238E27FC236}">
                <a16:creationId xmlns:a16="http://schemas.microsoft.com/office/drawing/2014/main" id="{E8D7A057-64CB-B297-FEC2-45B78BEF3B6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0511960"/>
              </p:ext>
            </p:extLst>
          </p:nvPr>
        </p:nvGraphicFramePr>
        <p:xfrm>
          <a:off x="1873576" y="1173518"/>
          <a:ext cx="8207730" cy="451096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Google Shape;107;g341c3af2acd_1_217">
            <a:extLst>
              <a:ext uri="{FF2B5EF4-FFF2-40B4-BE49-F238E27FC236}">
                <a16:creationId xmlns:a16="http://schemas.microsoft.com/office/drawing/2014/main" id="{65756CA0-7B18-CB55-C004-256FE9230512}"/>
              </a:ext>
            </a:extLst>
          </p:cNvPr>
          <p:cNvSpPr txBox="1"/>
          <p:nvPr/>
        </p:nvSpPr>
        <p:spPr>
          <a:xfrm>
            <a:off x="3381315" y="384829"/>
            <a:ext cx="7942800" cy="3282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 defTabSz="1219170" rtl="1">
              <a:buSzPts val="1500"/>
            </a:pPr>
            <a:r>
              <a:rPr lang="he-IL" sz="2133" b="1" kern="0" dirty="0">
                <a:solidFill>
                  <a:srgbClr val="002F6C"/>
                </a:solidFill>
                <a:latin typeface="Assistant"/>
                <a:ea typeface="Assistant"/>
                <a:cs typeface="Assistant"/>
                <a:sym typeface="Assistant"/>
              </a:rPr>
              <a:t> מכירות – 2026 התפלגות לפי לקוחות </a:t>
            </a:r>
          </a:p>
        </p:txBody>
      </p:sp>
    </p:spTree>
    <p:extLst>
      <p:ext uri="{BB962C8B-B14F-4D97-AF65-F5344CB8AC3E}">
        <p14:creationId xmlns:p14="http://schemas.microsoft.com/office/powerpoint/2010/main" val="8457182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E41D8-9A12-0243-5FD8-862E5497EA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0" name="FooterLineLogo">
            <a:extLst>
              <a:ext uri="{FF2B5EF4-FFF2-40B4-BE49-F238E27FC236}">
                <a16:creationId xmlns:a16="http://schemas.microsoft.com/office/drawing/2014/main" id="{376B339F-1AE6-D7AD-C2B0-DCE843B61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223001"/>
            <a:ext cx="12192000" cy="495300"/>
          </a:xfrm>
          <a:prstGeom prst="rect">
            <a:avLst/>
          </a:prstGeom>
        </p:spPr>
      </p:pic>
      <p:graphicFrame>
        <p:nvGraphicFramePr>
          <p:cNvPr id="3" name="תרשים 2">
            <a:extLst>
              <a:ext uri="{FF2B5EF4-FFF2-40B4-BE49-F238E27FC236}">
                <a16:creationId xmlns:a16="http://schemas.microsoft.com/office/drawing/2014/main" id="{68DD80F7-0FCE-58D9-C338-40331FEFC556}"/>
              </a:ext>
            </a:extLst>
          </p:cNvPr>
          <p:cNvGraphicFramePr>
            <a:graphicFrameLocks/>
          </p:cNvGraphicFramePr>
          <p:nvPr/>
        </p:nvGraphicFramePr>
        <p:xfrm>
          <a:off x="1143000" y="1143000"/>
          <a:ext cx="9906000" cy="4800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Google Shape;107;g341c3af2acd_1_217">
            <a:extLst>
              <a:ext uri="{FF2B5EF4-FFF2-40B4-BE49-F238E27FC236}">
                <a16:creationId xmlns:a16="http://schemas.microsoft.com/office/drawing/2014/main" id="{9F952E61-A20F-1C9E-1E1B-DB8270628981}"/>
              </a:ext>
            </a:extLst>
          </p:cNvPr>
          <p:cNvSpPr txBox="1"/>
          <p:nvPr/>
        </p:nvSpPr>
        <p:spPr>
          <a:xfrm>
            <a:off x="3381315" y="384829"/>
            <a:ext cx="7942800" cy="3282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 defTabSz="1219170" rtl="1">
              <a:buSzPts val="1500"/>
            </a:pPr>
            <a:r>
              <a:rPr lang="he-IL" sz="2133" b="1" kern="0" dirty="0">
                <a:solidFill>
                  <a:srgbClr val="002F6C"/>
                </a:solidFill>
                <a:latin typeface="Assistant"/>
                <a:ea typeface="Assistant"/>
                <a:cs typeface="Assistant"/>
                <a:sym typeface="Assistant"/>
              </a:rPr>
              <a:t> מכירות – 2026 התפלגות לפי לקוחות </a:t>
            </a:r>
          </a:p>
        </p:txBody>
      </p:sp>
    </p:spTree>
    <p:extLst>
      <p:ext uri="{BB962C8B-B14F-4D97-AF65-F5344CB8AC3E}">
        <p14:creationId xmlns:p14="http://schemas.microsoft.com/office/powerpoint/2010/main" val="32633475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A699CC-F467-B883-2B73-0975DA4D8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0" name="FooterLineLogo">
            <a:extLst>
              <a:ext uri="{FF2B5EF4-FFF2-40B4-BE49-F238E27FC236}">
                <a16:creationId xmlns:a16="http://schemas.microsoft.com/office/drawing/2014/main" id="{AAB179D7-3ED4-EB84-9405-AA84EC8BF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223001"/>
            <a:ext cx="12192000" cy="495300"/>
          </a:xfrm>
          <a:prstGeom prst="rect">
            <a:avLst/>
          </a:prstGeom>
        </p:spPr>
      </p:pic>
      <p:sp>
        <p:nvSpPr>
          <p:cNvPr id="5" name="Google Shape;107;g341c3af2acd_1_217">
            <a:extLst>
              <a:ext uri="{FF2B5EF4-FFF2-40B4-BE49-F238E27FC236}">
                <a16:creationId xmlns:a16="http://schemas.microsoft.com/office/drawing/2014/main" id="{99EB5DCB-20B7-7800-05E2-7AF86525993F}"/>
              </a:ext>
            </a:extLst>
          </p:cNvPr>
          <p:cNvSpPr txBox="1"/>
          <p:nvPr/>
        </p:nvSpPr>
        <p:spPr>
          <a:xfrm>
            <a:off x="3381315" y="384829"/>
            <a:ext cx="7942800" cy="3282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 defTabSz="1219170" rtl="1">
              <a:buSzPts val="1500"/>
            </a:pPr>
            <a:r>
              <a:rPr lang="he-IL" sz="2133" b="1" kern="0" dirty="0">
                <a:solidFill>
                  <a:srgbClr val="002F6C"/>
                </a:solidFill>
                <a:latin typeface="Assistant"/>
                <a:ea typeface="Assistant"/>
                <a:cs typeface="Assistant"/>
                <a:sym typeface="Assistant"/>
              </a:rPr>
              <a:t> מכירות –אוריאל חברה צומחת </a:t>
            </a:r>
            <a:endParaRPr lang="he-IL" sz="2400" b="1" dirty="0">
              <a:solidFill>
                <a:srgbClr val="002F6C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graphicFrame>
        <p:nvGraphicFramePr>
          <p:cNvPr id="4" name="תרשים 3">
            <a:extLst>
              <a:ext uri="{FF2B5EF4-FFF2-40B4-BE49-F238E27FC236}">
                <a16:creationId xmlns:a16="http://schemas.microsoft.com/office/drawing/2014/main" id="{5BDD6C8B-7685-8396-CEE9-43B3F1CAC33F}"/>
              </a:ext>
            </a:extLst>
          </p:cNvPr>
          <p:cNvGraphicFramePr>
            <a:graphicFrameLocks/>
          </p:cNvGraphicFramePr>
          <p:nvPr/>
        </p:nvGraphicFramePr>
        <p:xfrm>
          <a:off x="2712720" y="1689522"/>
          <a:ext cx="7117080" cy="35570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98540689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196</Words>
  <Application>Microsoft Office PowerPoint</Application>
  <PresentationFormat>מסך רחב</PresentationFormat>
  <Paragraphs>78</Paragraphs>
  <Slides>5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2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5</vt:i4>
      </vt:variant>
    </vt:vector>
  </HeadingPairs>
  <TitlesOfParts>
    <vt:vector size="8" baseType="lpstr">
      <vt:lpstr>Arial</vt:lpstr>
      <vt:lpstr>Assistant</vt:lpstr>
      <vt:lpstr>Simple Light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Eyal Sadot</dc:creator>
  <cp:lastModifiedBy>Eyal Sadot</cp:lastModifiedBy>
  <cp:revision>4</cp:revision>
  <dcterms:created xsi:type="dcterms:W3CDTF">2026-10-27T09:13:47Z</dcterms:created>
  <dcterms:modified xsi:type="dcterms:W3CDTF">2026-10-27T10:53:40Z</dcterms:modified>
</cp:coreProperties>
</file>