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4" r:id="rId15"/>
    <p:sldId id="256" r:id="rId2"/>
    <p:sldId id="257" r:id="rId3"/>
    <p:sldId id="258" r:id="rId4"/>
    <p:sldId id="259" r:id="rId6"/>
    <p:sldId id="273" r:id="rId7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F4BD8-F229-4431-B6C5-7F3835129780}" v="2" dt="2026-08-02T09:10:1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  <Relationship Id="rId15" Type="http://schemas.openxmlformats.org/officeDocument/2006/relationships/slide" Target="slides/slide7.xml"/>
  <Relationship Id="rId16" Type="http://schemas.openxmlformats.org/officeDocument/2006/relationships/slide" Target="slides/slide8.xml"/>
  <Relationship Id="rId17" Type="http://schemas.openxmlformats.org/officeDocument/2006/relationships/slide" Target="slides/slide9.xml"/>
  <Relationship Id="rId18" Type="http://schemas.openxmlformats.org/officeDocument/2006/relationships/slide" Target="slides/slide10.xml"/>
  <Relationship Id="rId19" Type="http://schemas.openxmlformats.org/officeDocument/2006/relationships/slide" Target="slides/slide11.xml"/>
  <Relationship Id="rId20" Type="http://schemas.openxmlformats.org/officeDocument/2006/relationships/slide" Target="slides/slide12.xml"/>
  <Relationship Id="rId21" Type="http://schemas.openxmlformats.org/officeDocument/2006/relationships/slide" Target="slides/slide13.xml"/>
  <Relationship Id="rId22" Type="http://schemas.openxmlformats.org/officeDocument/2006/relationships/slide" Target="slides/slide14.xml"/>
  <Relationship Id="rId23" Type="http://schemas.openxmlformats.org/officeDocument/2006/relationships/slide" Target="slides/slide15.xml"/>
  <Relationship Id="rId24" Type="http://schemas.openxmlformats.org/officeDocument/2006/relationships/slide" Target="slides/slide16.xml"/>
  <Relationship Id="rId25" Type="http://schemas.openxmlformats.org/officeDocument/2006/relationships/slide" Target="slides/slide17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modSld">
      <pc:chgData name="Eyal Sadot" userId="9c57a40b-08c8-435b-851c-1854c25cf41d" providerId="ADAL" clId="{02003448-2CBC-42C7-80BD-DC4C07BEB2CD}" dt="2026-08-02T09:12:25.854" v="70" actId="1076"/>
      <pc:docMkLst>
        <pc:docMk/>
      </pc:docMkLst>
      <pc:sldChg chg="addSp delSp modSp mod">
        <pc:chgData name="Eyal Sadot" userId="9c57a40b-08c8-435b-851c-1854c25cf41d" providerId="ADAL" clId="{02003448-2CBC-42C7-80BD-DC4C07BEB2CD}" dt="2026-08-02T09:03:10.866" v="11" actId="1076"/>
        <pc:sldMkLst>
          <pc:docMk/>
          <pc:sldMk cId="0" sldId="257"/>
        </pc:sldMkLst>
        <pc:picChg chg="del">
          <ac:chgData name="Eyal Sadot" userId="9c57a40b-08c8-435b-851c-1854c25cf41d" providerId="ADAL" clId="{02003448-2CBC-42C7-80BD-DC4C07BEB2CD}" dt="2026-08-02T09:02:06.761" v="0" actId="478"/>
          <ac:picMkLst>
            <pc:docMk/>
            <pc:sldMk cId="0" sldId="257"/>
            <ac:picMk id="13" creationId="{00000000-0000-0000-0000-000000000000}"/>
          </ac:picMkLst>
        </pc:picChg>
        <pc:picChg chg="add del mod">
          <ac:chgData name="Eyal Sadot" userId="9c57a40b-08c8-435b-851c-1854c25cf41d" providerId="ADAL" clId="{02003448-2CBC-42C7-80BD-DC4C07BEB2CD}" dt="2026-08-02T09:03:01.946" v="7" actId="478"/>
          <ac:picMkLst>
            <pc:docMk/>
            <pc:sldMk cId="0" sldId="257"/>
            <ac:picMk id="19" creationId="{8350A49D-E619-781B-8017-D69CEDD6C71F}"/>
          </ac:picMkLst>
        </pc:picChg>
        <pc:picChg chg="add mod">
          <ac:chgData name="Eyal Sadot" userId="9c57a40b-08c8-435b-851c-1854c25cf41d" providerId="ADAL" clId="{02003448-2CBC-42C7-80BD-DC4C07BEB2CD}" dt="2026-08-02T09:03:10.866" v="11" actId="1076"/>
          <ac:picMkLst>
            <pc:docMk/>
            <pc:sldMk cId="0" sldId="257"/>
            <ac:picMk id="20" creationId="{254F9536-A78F-490B-475B-7A0EE7125CF2}"/>
          </ac:picMkLst>
        </pc:picChg>
      </pc:sldChg>
      <pc:sldChg chg="addSp modSp mod">
        <pc:chgData name="Eyal Sadot" userId="9c57a40b-08c8-435b-851c-1854c25cf41d" providerId="ADAL" clId="{02003448-2CBC-42C7-80BD-DC4C07BEB2CD}" dt="2026-08-02T09:08:10.320" v="13" actId="1076"/>
        <pc:sldMkLst>
          <pc:docMk/>
          <pc:sldMk cId="0" sldId="258"/>
        </pc:sldMkLst>
        <pc:picChg chg="add mod">
          <ac:chgData name="Eyal Sadot" userId="9c57a40b-08c8-435b-851c-1854c25cf41d" providerId="ADAL" clId="{02003448-2CBC-42C7-80BD-DC4C07BEB2CD}" dt="2026-08-02T09:08:10.320" v="13" actId="1076"/>
          <ac:picMkLst>
            <pc:docMk/>
            <pc:sldMk cId="0" sldId="258"/>
            <ac:picMk id="32" creationId="{16A674BC-C34D-C992-3B1A-8F6EC6A2EB78}"/>
          </ac:picMkLst>
        </pc:picChg>
      </pc:sldChg>
      <pc:sldChg chg="modSp mod">
        <pc:chgData name="Eyal Sadot" userId="9c57a40b-08c8-435b-851c-1854c25cf41d" providerId="ADAL" clId="{02003448-2CBC-42C7-80BD-DC4C07BEB2CD}" dt="2026-08-02T09:12:25.854" v="70" actId="1076"/>
        <pc:sldMkLst>
          <pc:docMk/>
          <pc:sldMk cId="0" sldId="259"/>
        </pc:sldMkLst>
        <pc:picChg chg="mod">
          <ac:chgData name="Eyal Sadot" userId="9c57a40b-08c8-435b-851c-1854c25cf41d" providerId="ADAL" clId="{02003448-2CBC-42C7-80BD-DC4C07BEB2CD}" dt="2026-08-02T09:12:25.854" v="70" actId="1076"/>
          <ac:picMkLst>
            <pc:docMk/>
            <pc:sldMk cId="0" sldId="259"/>
            <ac:picMk id="6" creationId="{00000000-0000-0000-0000-000000000000}"/>
          </ac:picMkLst>
        </pc:picChg>
      </pc:sldChg>
      <pc:sldChg chg="addSp modSp new mod">
        <pc:chgData name="Eyal Sadot" userId="9c57a40b-08c8-435b-851c-1854c25cf41d" providerId="ADAL" clId="{02003448-2CBC-42C7-80BD-DC4C07BEB2CD}" dt="2026-08-02T09:08:25.838" v="16" actId="1076"/>
        <pc:sldMkLst>
          <pc:docMk/>
          <pc:sldMk cId="3153361845" sldId="260"/>
        </pc:sldMkLst>
        <pc:picChg chg="add mod">
          <ac:chgData name="Eyal Sadot" userId="9c57a40b-08c8-435b-851c-1854c25cf41d" providerId="ADAL" clId="{02003448-2CBC-42C7-80BD-DC4C07BEB2CD}" dt="2026-08-02T09:08:25.838" v="16" actId="1076"/>
          <ac:picMkLst>
            <pc:docMk/>
            <pc:sldMk cId="3153361845" sldId="260"/>
            <ac:picMk id="3" creationId="{2DC125DC-C58B-A807-085B-34B773050932}"/>
          </ac:picMkLst>
        </pc:picChg>
      </pc:sldChg>
      <pc:sldChg chg="addSp modSp add mod">
        <pc:chgData name="Eyal Sadot" userId="9c57a40b-08c8-435b-851c-1854c25cf41d" providerId="ADAL" clId="{02003448-2CBC-42C7-80BD-DC4C07BEB2CD}" dt="2026-08-02T09:10:29.998" v="69" actId="20577"/>
        <pc:sldMkLst>
          <pc:docMk/>
          <pc:sldMk cId="3390277075" sldId="273"/>
        </pc:sldMkLst>
        <pc:spChg chg="add mod">
          <ac:chgData name="Eyal Sadot" userId="9c57a40b-08c8-435b-851c-1854c25cf41d" providerId="ADAL" clId="{02003448-2CBC-42C7-80BD-DC4C07BEB2CD}" dt="2026-08-02T09:09:59.331" v="26" actId="1076"/>
          <ac:spMkLst>
            <pc:docMk/>
            <pc:sldMk cId="3390277075" sldId="273"/>
            <ac:spMk id="2" creationId="{A08415F6-86FC-B0C3-2FBF-3726C7269826}"/>
          </ac:spMkLst>
        </pc:spChg>
        <pc:spChg chg="add mod">
          <ac:chgData name="Eyal Sadot" userId="9c57a40b-08c8-435b-851c-1854c25cf41d" providerId="ADAL" clId="{02003448-2CBC-42C7-80BD-DC4C07BEB2CD}" dt="2026-08-02T09:09:50.263" v="23" actId="1076"/>
          <ac:spMkLst>
            <pc:docMk/>
            <pc:sldMk cId="3390277075" sldId="273"/>
            <ac:spMk id="5" creationId="{E61DB7B0-CC15-56FD-643B-A9E870BF1348}"/>
          </ac:spMkLst>
        </pc:spChg>
        <pc:spChg chg="add mod">
          <ac:chgData name="Eyal Sadot" userId="9c57a40b-08c8-435b-851c-1854c25cf41d" providerId="ADAL" clId="{02003448-2CBC-42C7-80BD-DC4C07BEB2CD}" dt="2026-08-02T09:10:02.456" v="28" actId="1076"/>
          <ac:spMkLst>
            <pc:docMk/>
            <pc:sldMk cId="3390277075" sldId="273"/>
            <ac:spMk id="7" creationId="{48113E13-505A-60B9-7D28-A52D1F7B06BD}"/>
          </ac:spMkLst>
        </pc:spChg>
        <pc:spChg chg="add mod">
          <ac:chgData name="Eyal Sadot" userId="9c57a40b-08c8-435b-851c-1854c25cf41d" providerId="ADAL" clId="{02003448-2CBC-42C7-80BD-DC4C07BEB2CD}" dt="2026-08-02T09:10:29.998" v="69" actId="20577"/>
          <ac:spMkLst>
            <pc:docMk/>
            <pc:sldMk cId="3390277075" sldId="273"/>
            <ac:spMk id="8" creationId="{BE62AA7F-DA22-DEA7-0CE8-AF07616112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950" Type="http://schemas.openxmlformats.org/officeDocument/2006/relationships/image" Target="../media/footer_line_logo.png"/></Relationships>
</file>

<file path=ppt/slides/_rels/slide2.xml.rels><?xml version="1.0" encoding="UTF-8" standalone="yes"?>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7" Type="http://schemas.openxmlformats.org/officeDocument/2006/relationships/image" Target="../media/image36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1.png"/><Relationship Id="rId7" Type="http://schemas.openxmlformats.org/officeDocument/2006/relationships/image" Target="../media/image45.png"/><Relationship Id="rId950" Type="http://schemas.openxmlformats.org/officeDocument/2006/relationships/image" Target="../media/footer_line_logo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0" Type="http://schemas.openxmlformats.org/officeDocument/2006/relationships/image" Target="../media/image_hq1.jpg"/><Relationship Id="rId11" Type="http://schemas.openxmlformats.org/officeDocument/2006/relationships/image" Target="../media/image_hq2.jpg"/><Relationship Id="rId12" Type="http://schemas.openxmlformats.org/officeDocument/2006/relationships/image" Target="../media/image_hq3.jpg"/><Relationship Id="rId13" Type="http://schemas.openxmlformats.org/officeDocument/2006/relationships/image" Target="../media/image_hq4.jpg"/><Relationship Id="rId950" Type="http://schemas.openxmlformats.org/officeDocument/2006/relationships/image" Target="../media/footer_line_logo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image" Target="../media/comp_sporlastic.png"/><Relationship Id="rId11" Type="http://schemas.openxmlformats.org/officeDocument/2006/relationships/image" Target="../media/comp_bauerfeind.png"/><Relationship Id="rId12" Type="http://schemas.openxmlformats.org/officeDocument/2006/relationships/image" Target="../media/comp_medi.png"/><Relationship Id="rId13" Type="http://schemas.openxmlformats.org/officeDocument/2006/relationships/image" Target="../media/comp_bort.png"/><Relationship Id="rId14" Type="http://schemas.openxmlformats.org/officeDocument/2006/relationships/image" Target="../media/comp_drscholls.png"/><Relationship Id="rId950" Type="http://schemas.openxmlformats.org/officeDocument/2006/relationships/image" Target="../media/footer_line_logo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Relationship Id="rId951" Type="http://schemas.openxmlformats.org/officeDocument/2006/relationships/image" Target="../media/channel1_pharmacy_da.jpg"/><Relationship Id="rId952" Type="http://schemas.openxmlformats.org/officeDocument/2006/relationships/image" Target="../media/channel1_pharmacy_apteka.jpg"/><Relationship Id="rId953" Type="http://schemas.openxmlformats.org/officeDocument/2006/relationships/image" Target="../media/channel2_foot_treatment.jpg"/><Relationship Id="rId954" Type="http://schemas.openxmlformats.org/officeDocument/2006/relationships/image" Target="../media/channel2_hospital_basel.jpg"/><Relationship Id="rId955" Type="http://schemas.openxmlformats.org/officeDocument/2006/relationships/image" Target="../media/channel3_digital_amazon.jpg"/><Relationship Id="rId956" Type="http://schemas.openxmlformats.org/officeDocument/2006/relationships/image" Target="../media/channel3_digital_walmart.jpg"/><Relationship Id="rId957" Type="http://schemas.openxmlformats.org/officeDocument/2006/relationships/image" Target="../media/channel4_orthopedic_building.jpg"/><Relationship Id="rId958" Type="http://schemas.openxmlformats.org/officeDocument/2006/relationships/image" Target="../media/channel4_orthopedic_roni.jpg"/><Relationship Id="rId959" Type="http://schemas.openxmlformats.org/officeDocument/2006/relationships/image" Target="../media/channel5_private_toe_cushion.jpg"/><Relationship Id="rId960" Type="http://schemas.openxmlformats.org/officeDocument/2006/relationships/image" Target="../media/channel5_private_gel_insoles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Relationship Id="rId20" Type="http://schemas.openxmlformats.org/officeDocument/2006/relationships/image" Target="../media/reg_fda.png"/><Relationship Id="rId21" Type="http://schemas.openxmlformats.org/officeDocument/2006/relationships/image" Target="../media/reg_eumdr.png"/><Relationship Id="rId22" Type="http://schemas.openxmlformats.org/officeDocument/2006/relationships/image" Target="../media/reg_ce.png"/><Relationship Id="rId23" Type="http://schemas.openxmlformats.org/officeDocument/2006/relationships/image" Target="../media/reg_moh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cal_photo.jpg"/><Relationship Id="rId3" Type="http://schemas.openxmlformats.org/officeDocument/2006/relationships/image" Target="../media/lifestyle_photo.jpg"/><Relationship Id="rId950" Type="http://schemas.openxmlformats.org/officeDocument/2006/relationships/image" Target="../media/footer_line_logo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6000">
            <a:off x="-1173142" y="-442545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" name="Image 0" descr="/tmp/claude-0/-home-user-the-5-agents/104e019b-481e-5835-b5aa-7854a99e3b07/scratchpad/uriel/assets/logo_uri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1417320" cy="538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ORTHOTICS &amp;</a:t>
            </a:r>
            <a:endParaRPr lang="en-US" sz="3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FOOTCARE MANUFACTURER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49808" y="3264408"/>
            <a:ext cx="2482537" cy="3383280"/>
          </a:xfrm>
          <a:prstGeom prst="snip1Rect">
            <a:avLst>
              <a:gd name="adj" fmla="val 12892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1" descr="/tmp/claude-0/-home-user-the-5-agents/104e019b-481e-5835-b5aa-7854a99e3b07/scratchpad/uriel/assets/runner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23240"/>
            <a:ext cx="2482537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34097" y="2723240"/>
            <a:ext cx="8108959" cy="3383280"/>
          </a:xfrm>
          <a:prstGeom prst="snip1Rect">
            <a:avLst>
              <a:gd name="adj" fmla="val 14865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4"/>
          <p:cNvSpPr/>
          <p:nvPr/>
        </p:nvSpPr>
        <p:spPr>
          <a:xfrm>
            <a:off x="3826706" y="2880000"/>
            <a:ext cx="752374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URIEL, we develop, manufacture, and market the most exceptional medical devices and services for a variety of different purposes.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products combine updated and state-of-the-art design, impact driven, high quality and innovative technologies all to provide the most efficient solutions, from injury prevention to rehabilitation, with a high level of performance, based on more than 50 years of practical experience and research.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buNone/>
            </a:pPr>
            <a:r>
              <a:rPr lang="en-US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 is to inspire and motivate people, at any age, to live a more fulfilling and active life."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8214055" y="5795624"/>
            <a:ext cx="3063240" cy="530352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6"/>
          <p:cNvSpPr/>
          <p:nvPr/>
        </p:nvSpPr>
        <p:spPr>
          <a:xfrm>
            <a:off x="8214055" y="579562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&amp; MISSION</a:t>
            </a:r>
            <a:endParaRPr lang="en-US" sz="13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72000">
            <a:off x="7818120" y="-2103120"/>
            <a:ext cx="6675120" cy="108813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9281160" y="685800"/>
            <a:ext cx="2453335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434840" cy="975156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00" name="Flag Netherlands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4791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4" name="flaglabel"/>
          <p:cNvSpPr/>
          <p:nvPr/>
        </p:nvSpPr>
        <p:spPr>
          <a:xfrm>
            <a:off x="548640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Netherlands</a:t>
            </a:r>
            <a:endParaRPr lang="en-US" sz="900" dirty="0"/>
          </a:p>
        </p:txBody>
      </p:sp>
      <p:pic>
        <p:nvPicPr>
          <p:cNvPr id="201" name="Flag Switzerland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31759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8" name="flaglabel"/>
          <p:cNvSpPr/>
          <p:nvPr/>
        </p:nvSpPr>
        <p:spPr>
          <a:xfrm>
            <a:off x="1435608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Switzerland</a:t>
            </a:r>
            <a:endParaRPr lang="en-US" sz="900" dirty="0"/>
          </a:p>
        </p:txBody>
      </p:sp>
      <p:pic>
        <p:nvPicPr>
          <p:cNvPr id="202" name="Flag Austria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18727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2" name="flaglabel"/>
          <p:cNvSpPr/>
          <p:nvPr/>
        </p:nvSpPr>
        <p:spPr>
          <a:xfrm>
            <a:off x="2322576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Austria</a:t>
            </a:r>
            <a:endParaRPr lang="en-US" sz="900" dirty="0"/>
          </a:p>
        </p:txBody>
      </p:sp>
      <p:pic>
        <p:nvPicPr>
          <p:cNvPr id="203" name="Flag Israel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05695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8" name="flaglabel"/>
          <p:cNvSpPr/>
          <p:nvPr/>
        </p:nvSpPr>
        <p:spPr>
          <a:xfrm>
            <a:off x="3209544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</a:t>
            </a:r>
            <a:endParaRPr lang="en-US" sz="900" dirty="0"/>
          </a:p>
        </p:txBody>
      </p:sp>
      <p:pic>
        <p:nvPicPr>
          <p:cNvPr id="204" name="Flag Germany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92663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2" name="flaglabel"/>
          <p:cNvSpPr/>
          <p:nvPr/>
        </p:nvSpPr>
        <p:spPr>
          <a:xfrm>
            <a:off x="4096512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/tmp/claude-0/-home-user-the-5-agents/104e019b-481e-5835-b5aa-7854a99e3b07/scratchpad/uriel/assets/hosp_us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41538"/>
            <a:ext cx="962406" cy="2434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15718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2" descr="/tmp/claude-0/-home-user-the-5-agents/104e019b-481e-5835-b5aa-7854a99e3b07/scratchpad/uriel/assets/hosp_ziekenhu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038" y="2909157"/>
            <a:ext cx="962406" cy="71050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082796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Image 3" descr="/tmp/claude-0/-home-user-the-5-agents/104e019b-481e-5835-b5aa-7854a99e3b07/scratchpad/uriel/assets/hosp_sh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116" y="2792927"/>
            <a:ext cx="962406" cy="54062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49874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7"/>
          <p:cNvSpPr/>
          <p:nvPr/>
        </p:nvSpPr>
        <p:spPr>
          <a:xfrm>
            <a:off x="548640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5" name="Image 5" descr="/tmp/claude-0/-home-user-the-5-agents/104e019b-481e-5835-b5aa-7854a99e3b07/scratchpad/uriel/assets/hosp_hadass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701473"/>
            <a:ext cx="962406" cy="9663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315718" y="4471416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6" descr="/tmp/claude-0/-home-user-the-5-agents/104e019b-481e-5835-b5aa-7854a99e3b07/scratchpad/uriel/assets/hosp_char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038" y="5177101"/>
            <a:ext cx="962406" cy="417429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082796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תמונה 20" descr="Tel Aviv Medical Center | LinkedIn">
            <a:extLst>
              <a:ext uri="{FF2B5EF4-FFF2-40B4-BE49-F238E27FC236}">
                <a16:creationId xmlns:a16="http://schemas.microsoft.com/office/drawing/2014/main" id="{A2AE2E27-FF24-1B05-C425-A33682E830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514" y="4766213"/>
            <a:ext cx="901610" cy="901610"/>
          </a:xfrm>
          <a:prstGeom prst="rect">
            <a:avLst/>
          </a:prstGeom>
        </p:spPr>
      </p:pic>
      <p:pic>
        <p:nvPicPr>
          <p:cNvPr id="20" name="תמונה 19" descr="Christian Friends of Rambam | Haifa">
            <a:extLst>
              <a:ext uri="{FF2B5EF4-FFF2-40B4-BE49-F238E27FC236}">
                <a16:creationId xmlns:a16="http://schemas.microsoft.com/office/drawing/2014/main" id="{254F9536-A78F-490B-475B-7A0EE7125C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1300" y="2876021"/>
            <a:ext cx="1029444" cy="915061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URIEL?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17099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outstanding reputation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4871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materials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32644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products designed by doctors and physiotherapists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404164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48188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brand, sold in 20+ countries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0432" y="55961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CE - regulation approved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491248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4" name="Card Overlay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gradFill flip="none" rotWithShape="1">
            <a:gsLst>
              <a:gs pos="0">
                <a:srgbClr val="140D41">
                  <a:alpha val="54000"/>
                </a:srgbClr>
              </a:gs>
              <a:gs pos="20000">
                <a:srgbClr val="140D41">
                  <a:alpha val="71000"/>
                </a:srgbClr>
              </a:gs>
              <a:gs pos="60000">
                <a:srgbClr val="140D41">
                  <a:alpha val="79000"/>
                </a:srgbClr>
              </a:gs>
              <a:gs pos="100000">
                <a:srgbClr val="140D41">
                  <a:alpha val="69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7909560" y="610120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092440" y="1446906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1959774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650+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092440" y="2796560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3309429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8092440" y="4146215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5108968"/>
            <a:ext cx="3230575" cy="512064"/>
          </a:xfrm>
          <a:prstGeom prst="snip1Rect">
            <a:avLst>
              <a:gd name="adj" fmla="val 89286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8183880" y="5108968"/>
            <a:ext cx="32305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· CE APPROVED</a:t>
            </a:r>
            <a:endParaRPr lang="en-US" sz="12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6000">
            <a:off x="-1097280" y="-3520440"/>
            <a:ext cx="14447520" cy="56235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FOR THE</a:t>
            </a:r>
            <a:endParaRPr lang="en-US" sz="3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BODY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Uriel's product line covers the full range of possible needs from neck to toe and comes in a full range of sizes to accommodate all body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46520" y="766487"/>
            <a:ext cx="5608015" cy="5373667"/>
          </a:xfrm>
          <a:prstGeom prst="snip1Rect">
            <a:avLst>
              <a:gd name="adj" fmla="val 5105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/tmp/claude-0/-home-user-the-5-agents/104e019b-481e-5835-b5aa-7854a99e3b07/scratchpad/uriel/assets/runner_solutions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583607"/>
            <a:ext cx="5608015" cy="5373667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G"/>
          <p:cNvSpPr/>
          <p:nvPr/>
        </p:nvSpPr>
        <p:spPr>
          <a:xfrm rot="186000">
            <a:off x="-1173142" y="-1629411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itle"/>
          <p:cNvSpPr/>
          <p:nvPr/>
        </p:nvSpPr>
        <p:spPr>
          <a:xfrm>
            <a:off x="548640" y="502920"/>
            <a:ext cx="900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LEADERSHIP TEAM</a:t>
            </a:r>
            <a:endParaRPr lang="en-US" sz="3600" dirty="0"/>
          </a:p>
        </p:txBody>
      </p:sp>
      <p:sp>
        <p:nvSpPr>
          <p:cNvPr id="4" name="Subtitle"/>
          <p:cNvSpPr/>
          <p:nvPr/>
        </p:nvSpPr>
        <p:spPr>
          <a:xfrm>
            <a:off x="551180" y="1110000"/>
            <a:ext cx="9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driving 50 years of orthotics &amp; footcare excellence</a:t>
            </a:r>
            <a:endParaRPr lang="en-US" sz="1300" dirty="0"/>
          </a:p>
        </p:txBody>
      </p:sp>
      <p:sp>
        <p:nvSpPr>
          <p:cNvPr id="101" name="Card"/>
          <p:cNvSpPr/>
          <p:nvPr/>
        </p:nvSpPr>
        <p:spPr>
          <a:xfrm>
            <a:off x="4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2" name="Portra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3" name="Name"/>
          <p:cNvSpPr/>
          <p:nvPr/>
        </p:nvSpPr>
        <p:spPr>
          <a:xfrm>
            <a:off x="4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SHACHAR HIRSH</a:t>
            </a:r>
            <a:endParaRPr lang="en-US" sz="1300" dirty="0"/>
          </a:p>
        </p:txBody>
      </p:sp>
      <p:sp>
        <p:nvSpPr>
          <p:cNvPr id="104" name="Role"/>
          <p:cNvSpPr/>
          <p:nvPr/>
        </p:nvSpPr>
        <p:spPr>
          <a:xfrm>
            <a:off x="4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900" dirty="0"/>
          </a:p>
        </p:txBody>
      </p:sp>
      <p:sp>
        <p:nvSpPr>
          <p:cNvPr id="105" name="Card"/>
          <p:cNvSpPr/>
          <p:nvPr/>
        </p:nvSpPr>
        <p:spPr>
          <a:xfrm>
            <a:off x="23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6" name="Portra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7" name="Name"/>
          <p:cNvSpPr/>
          <p:nvPr/>
        </p:nvSpPr>
        <p:spPr>
          <a:xfrm>
            <a:off x="23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 KATZ</a:t>
            </a:r>
            <a:endParaRPr lang="en-US" sz="1300" dirty="0"/>
          </a:p>
        </p:txBody>
      </p:sp>
      <p:sp>
        <p:nvSpPr>
          <p:cNvPr id="108" name="Role"/>
          <p:cNvSpPr/>
          <p:nvPr/>
        </p:nvSpPr>
        <p:spPr>
          <a:xfrm>
            <a:off x="23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R&amp;D</a:t>
            </a:r>
            <a:endParaRPr lang="en-US" sz="900" dirty="0"/>
          </a:p>
        </p:txBody>
      </p:sp>
      <p:sp>
        <p:nvSpPr>
          <p:cNvPr id="109" name="Card"/>
          <p:cNvSpPr/>
          <p:nvPr/>
        </p:nvSpPr>
        <p:spPr>
          <a:xfrm>
            <a:off x="42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0" name="Portra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1" name="Name"/>
          <p:cNvSpPr/>
          <p:nvPr/>
        </p:nvSpPr>
        <p:spPr>
          <a:xfrm>
            <a:off x="42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RACHEL HIRSH</a:t>
            </a:r>
            <a:endParaRPr lang="en-US" sz="1300" dirty="0"/>
          </a:p>
        </p:txBody>
      </p:sp>
      <p:sp>
        <p:nvSpPr>
          <p:cNvPr id="112" name="Role"/>
          <p:cNvSpPr/>
          <p:nvPr/>
        </p:nvSpPr>
        <p:spPr>
          <a:xfrm>
            <a:off x="42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&amp; COS</a:t>
            </a:r>
            <a:endParaRPr lang="en-US" sz="900" dirty="0"/>
          </a:p>
        </p:txBody>
      </p:sp>
      <p:sp>
        <p:nvSpPr>
          <p:cNvPr id="113" name="Card"/>
          <p:cNvSpPr/>
          <p:nvPr/>
        </p:nvSpPr>
        <p:spPr>
          <a:xfrm>
            <a:off x="61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4" name="Portrai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5" name="Name"/>
          <p:cNvSpPr/>
          <p:nvPr/>
        </p:nvSpPr>
        <p:spPr>
          <a:xfrm>
            <a:off x="61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 ZOLOTOV</a:t>
            </a:r>
            <a:endParaRPr lang="en-US" sz="1300" dirty="0"/>
          </a:p>
        </p:txBody>
      </p:sp>
      <p:sp>
        <p:nvSpPr>
          <p:cNvPr id="116" name="Role"/>
          <p:cNvSpPr/>
          <p:nvPr/>
        </p:nvSpPr>
        <p:spPr>
          <a:xfrm>
            <a:off x="61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EXPORT MANAGER</a:t>
            </a:r>
            <a:endParaRPr lang="en-US" sz="900" dirty="0"/>
          </a:p>
        </p:txBody>
      </p:sp>
      <p:sp>
        <p:nvSpPr>
          <p:cNvPr id="117" name="Card"/>
          <p:cNvSpPr/>
          <p:nvPr/>
        </p:nvSpPr>
        <p:spPr>
          <a:xfrm>
            <a:off x="80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8" name="Portra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9" name="Name"/>
          <p:cNvSpPr/>
          <p:nvPr/>
        </p:nvSpPr>
        <p:spPr>
          <a:xfrm>
            <a:off x="80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ISSA NEIMA</a:t>
            </a:r>
            <a:endParaRPr lang="en-US" sz="1300" dirty="0"/>
          </a:p>
        </p:txBody>
      </p:sp>
      <p:sp>
        <p:nvSpPr>
          <p:cNvPr id="120" name="Role"/>
          <p:cNvSpPr/>
          <p:nvPr/>
        </p:nvSpPr>
        <p:spPr>
          <a:xfrm>
            <a:off x="80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DIRECTOR</a:t>
            </a:r>
            <a:endParaRPr lang="en-US" sz="900" dirty="0"/>
          </a:p>
        </p:txBody>
      </p:sp>
      <p:sp>
        <p:nvSpPr>
          <p:cNvPr id="121" name="Card"/>
          <p:cNvSpPr/>
          <p:nvPr/>
        </p:nvSpPr>
        <p:spPr>
          <a:xfrm>
            <a:off x="99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2" name="PlaceholderFrame"/>
          <p:cNvSpPr/>
          <p:nvPr/>
        </p:nvSpPr>
        <p:spPr>
          <a:xfrm>
            <a:off x="10061000" y="3330000"/>
            <a:ext cx="1570000" cy="1661400"/>
          </a:xfrm>
          <a:prstGeom prst="snip1Rect">
            <a:avLst>
              <a:gd name="adj" fmla="val 6000"/>
            </a:avLst>
          </a:prstGeom>
          <a:solidFill>
            <a:srgbClr val="F2F2F5"/>
          </a:solidFill>
          <a:ln w="9525">
            <a:solidFill>
              <a:srgbClr val="E6E6EC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23" name="SilhouetteHead"/>
          <p:cNvSpPr/>
          <p:nvPr/>
        </p:nvSpPr>
        <p:spPr>
          <a:xfrm>
            <a:off x="10579100" y="3695508"/>
            <a:ext cx="533800" cy="533800"/>
          </a:xfrm>
          <a:prstGeom prst="ellipse">
            <a:avLst/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4" name="SilhouetteBody"/>
          <p:cNvSpPr/>
          <p:nvPr/>
        </p:nvSpPr>
        <p:spPr>
          <a:xfrm>
            <a:off x="10359300" y="4360068"/>
            <a:ext cx="973400" cy="49842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5" name="Name"/>
          <p:cNvSpPr/>
          <p:nvPr/>
        </p:nvSpPr>
        <p:spPr>
          <a:xfrm>
            <a:off x="99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SADOT</a:t>
            </a:r>
            <a:endParaRPr lang="en-US" sz="1300" dirty="0"/>
          </a:p>
        </p:txBody>
      </p:sp>
      <p:sp>
        <p:nvSpPr>
          <p:cNvPr id="126" name="Role"/>
          <p:cNvSpPr/>
          <p:nvPr/>
        </p:nvSpPr>
        <p:spPr>
          <a:xfrm>
            <a:off x="99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140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Frame"/>
          <p:cNvSpPr/>
          <p:nvPr/>
        </p:nvSpPr>
        <p:spPr>
          <a:xfrm>
            <a:off x="6650000" y="520000"/>
            <a:ext cx="5150000" cy="5980000"/>
          </a:xfrm>
          <a:prstGeom prst="snip1Rect">
            <a:avLst>
              <a:gd name="adj" fmla="val 9000"/>
            </a:avLst>
          </a:prstGeom>
          <a:noFill/>
          <a:ln w="28575">
            <a:solidFill>
              <a:srgbClr val="FFD5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" y="700000"/>
            <a:ext cx="2000000" cy="759300"/>
          </a:xfrm>
          <a:prstGeom prst="rect">
            <a:avLst/>
          </a:prstGeom>
        </p:spPr>
      </p:pic>
      <p:sp>
        <p:nvSpPr>
          <p:cNvPr id="5" name="Tagline"/>
          <p:cNvSpPr/>
          <p:nvPr/>
        </p:nvSpPr>
        <p:spPr>
          <a:xfrm>
            <a:off x="750000" y="1650000"/>
            <a:ext cx="55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 PERFORM</a:t>
            </a:r>
            <a:endParaRPr lang="en-US" sz="3200" dirty="0"/>
          </a:p>
        </p:txBody>
      </p:sp>
      <p:sp>
        <p:nvSpPr>
          <p:cNvPr id="6" name="Subtitle"/>
          <p:cNvSpPr/>
          <p:nvPr/>
        </p:nvSpPr>
        <p:spPr>
          <a:xfrm>
            <a:off x="750000" y="2420000"/>
            <a:ext cx="51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orthotics &amp; footcare manufacturer</a:t>
            </a:r>
            <a:endParaRPr lang="en-US" sz="1400" dirty="0"/>
          </a:p>
        </p:txBody>
      </p:sp>
      <p:sp>
        <p:nvSpPr>
          <p:cNvPr id="7" name="Badge"/>
          <p:cNvSpPr/>
          <p:nvPr/>
        </p:nvSpPr>
        <p:spPr>
          <a:xfrm>
            <a:off x="750000" y="6100000"/>
            <a:ext cx="2650000" cy="480000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Badge Text"/>
          <p:cNvSpPr/>
          <p:nvPr/>
        </p:nvSpPr>
        <p:spPr>
          <a:xfrm>
            <a:off x="750000" y="6100000"/>
            <a:ext cx="265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300" dirty="0"/>
          </a:p>
        </p:txBody>
      </p:sp>
      <p:pic>
        <p:nvPicPr>
          <p:cNvPr id="9" name="Athle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00" y="638000"/>
            <a:ext cx="5073000" cy="61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ing with Exper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69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EXPERTS</a:t>
            </a:r>
            <a:endParaRPr lang="en-US" sz="3200" dirty="0"/>
          </a:p>
        </p:txBody>
      </p:sp>
      <p:sp>
        <p:nvSpPr>
          <p:cNvPr id="3" name="Badge"/>
          <p:cNvSpPr/>
          <p:nvPr/>
        </p:nvSpPr>
        <p:spPr>
          <a:xfrm>
            <a:off x="548640" y="1320000"/>
            <a:ext cx="2950000" cy="460000"/>
          </a:xfrm>
          <a:prstGeom prst="snip1Rect">
            <a:avLst>
              <a:gd name="adj" fmla="val 89286"/>
            </a:avLst>
          </a:prstGeom>
          <a:solidFill>
            <a:srgbClr val="9A82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ADVISORY BOARD</a:t>
            </a:r>
            <a:endParaRPr lang="en-US" sz="1100" dirty="0"/>
          </a:p>
        </p:txBody>
      </p:sp>
      <p:sp>
        <p:nvSpPr>
          <p:cNvPr id="10" name="Card1"/>
          <p:cNvSpPr/>
          <p:nvPr/>
        </p:nvSpPr>
        <p:spPr>
          <a:xfrm>
            <a:off x="5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Portrait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12" name="Name1"/>
          <p:cNvSpPr/>
          <p:nvPr/>
        </p:nvSpPr>
        <p:spPr>
          <a:xfrm>
            <a:off x="5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REIS</a:t>
            </a:r>
            <a:endParaRPr lang="en-US" sz="1200" dirty="0"/>
          </a:p>
        </p:txBody>
      </p:sp>
      <p:sp>
        <p:nvSpPr>
          <p:cNvPr id="13" name="Role1"/>
          <p:cNvSpPr/>
          <p:nvPr/>
        </p:nvSpPr>
        <p:spPr>
          <a:xfrm>
            <a:off x="5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specialist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president of the Israeli Association for Orthopedics</a:t>
            </a:r>
            <a:endParaRPr lang="en-US" sz="900" dirty="0"/>
          </a:p>
        </p:txBody>
      </p:sp>
      <p:sp>
        <p:nvSpPr>
          <p:cNvPr id="20" name="Card2"/>
          <p:cNvSpPr/>
          <p:nvPr/>
        </p:nvSpPr>
        <p:spPr>
          <a:xfrm>
            <a:off x="23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Portrait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22" name="Name2"/>
          <p:cNvSpPr/>
          <p:nvPr/>
        </p:nvSpPr>
        <p:spPr>
          <a:xfrm>
            <a:off x="23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BOAZ LAZAR</a:t>
            </a:r>
            <a:endParaRPr lang="en-US" sz="1200" dirty="0"/>
          </a:p>
        </p:txBody>
      </p:sp>
      <p:sp>
        <p:nvSpPr>
          <p:cNvPr id="23" name="Role2"/>
          <p:cNvSpPr/>
          <p:nvPr/>
        </p:nvSpPr>
        <p:spPr>
          <a:xfrm>
            <a:off x="23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Textile product expert</a:t>
            </a:r>
            <a:endParaRPr lang="en-US" sz="900" dirty="0"/>
          </a:p>
        </p:txBody>
      </p:sp>
      <p:sp>
        <p:nvSpPr>
          <p:cNvPr id="30" name="Card3"/>
          <p:cNvSpPr/>
          <p:nvPr/>
        </p:nvSpPr>
        <p:spPr>
          <a:xfrm>
            <a:off x="41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1" name="Portrait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32" name="Name3"/>
          <p:cNvSpPr/>
          <p:nvPr/>
        </p:nvSpPr>
        <p:spPr>
          <a:xfrm>
            <a:off x="41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ZUR</a:t>
            </a:r>
            <a:endParaRPr lang="en-US" sz="1200" dirty="0"/>
          </a:p>
        </p:txBody>
      </p:sp>
      <p:sp>
        <p:nvSpPr>
          <p:cNvPr id="33" name="Role3"/>
          <p:cNvSpPr/>
          <p:nvPr/>
        </p:nvSpPr>
        <p:spPr>
          <a:xfrm>
            <a:off x="41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&amp; Innovative Smart Textile consultant</a:t>
            </a:r>
            <a:endParaRPr lang="en-US" sz="900" dirty="0"/>
          </a:p>
        </p:txBody>
      </p:sp>
      <p:sp>
        <p:nvSpPr>
          <p:cNvPr id="40" name="Card4"/>
          <p:cNvSpPr/>
          <p:nvPr/>
        </p:nvSpPr>
        <p:spPr>
          <a:xfrm>
            <a:off x="59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41" name="Portrait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42" name="Name4"/>
          <p:cNvSpPr/>
          <p:nvPr/>
        </p:nvSpPr>
        <p:spPr>
          <a:xfrm>
            <a:off x="59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URIA MORAN</a:t>
            </a:r>
            <a:endParaRPr lang="en-US" sz="1200" dirty="0"/>
          </a:p>
        </p:txBody>
      </p:sp>
      <p:sp>
        <p:nvSpPr>
          <p:cNvPr id="43" name="Role4"/>
          <p:cNvSpPr/>
          <p:nvPr/>
        </p:nvSpPr>
        <p:spPr>
          <a:xfrm>
            <a:off x="59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Physiotherapist, BPT, MSc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IDF head of physiotherapy</a:t>
            </a:r>
            <a:endParaRPr lang="en-US" sz="900" dirty="0"/>
          </a:p>
        </p:txBody>
      </p:sp>
      <p:sp>
        <p:nvSpPr>
          <p:cNvPr id="50" name="MedicalPanel"/>
          <p:cNvSpPr/>
          <p:nvPr/>
        </p:nvSpPr>
        <p:spPr>
          <a:xfrm>
            <a:off x="7909560" y="560080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140D41"/>
          </a:solidFill>
          <a:ln w="9525">
            <a:solidFill>
              <a:srgbClr val="9A8200"/>
            </a:solidFill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1" name="MedicalPhot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9560" y="710080"/>
            <a:ext cx="3479215" cy="3479215"/>
          </a:xfrm>
          <a:prstGeom prst="snip1Rect">
            <a:avLst>
              <a:gd name="adj" fmla="val 4500"/>
            </a:avLst>
          </a:prstGeom>
          <a:ln w="12700">
            <a:solidFill>
              <a:srgbClr val="FFD500"/>
            </a:solidFill>
          </a:ln>
        </p:spPr>
      </p:pic>
      <p:sp>
        <p:nvSpPr>
          <p:cNvPr id="54" name="MedicalCaption"/>
          <p:cNvSpPr/>
          <p:nvPr/>
        </p:nvSpPr>
        <p:spPr>
          <a:xfrm>
            <a:off x="8109560" y="4300000"/>
            <a:ext cx="3379215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INPUT</a:t>
            </a:r>
            <a:endParaRPr lang="en-US" sz="1000" dirty="0"/>
          </a:p>
        </p:txBody>
      </p:sp>
      <p:sp>
        <p:nvSpPr>
          <p:cNvPr id="53" name="MedicalLabel"/>
          <p:cNvSpPr/>
          <p:nvPr/>
        </p:nvSpPr>
        <p:spPr>
          <a:xfrm>
            <a:off x="8109560" y="4710000"/>
            <a:ext cx="3379215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ORTHOPEDIC EXPERTISE</a:t>
            </a:r>
            <a:endParaRPr lang="en-US" sz="1400" dirty="0"/>
          </a:p>
        </p:txBody>
      </p:sp>
      <p:sp>
        <p:nvSpPr>
          <p:cNvPr id="55" name="MedicalSub"/>
          <p:cNvSpPr/>
          <p:nvPr/>
        </p:nvSpPr>
        <p:spPr>
          <a:xfrm>
            <a:off x="8109560" y="5560000"/>
            <a:ext cx="3379215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clinical &amp; biomechanical research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ld Map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orld Map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0000"/>
            <a:ext cx="12192000" cy="5558000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48640" y="140000"/>
            <a:ext cx="850000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MOVEMENT</a:t>
            </a:r>
            <a:endParaRPr lang="en-US" sz="3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20 COUNTRIES</a:t>
            </a:r>
            <a:endParaRPr lang="en-US" sz="34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Categori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280000"/>
            <a:ext cx="450000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</a:t>
            </a:r>
            <a:endParaRPr lang="en-US" sz="4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4000" dirty="0"/>
          </a:p>
        </p:txBody>
      </p:sp>
      <p:sp>
        <p:nvSpPr>
          <p:cNvPr id="3" name="Subtitle"/>
          <p:cNvSpPr/>
          <p:nvPr/>
        </p:nvSpPr>
        <p:spPr>
          <a:xfrm>
            <a:off x="548640" y="3620000"/>
            <a:ext cx="35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9A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800" dirty="0"/>
          </a:p>
        </p:txBody>
      </p:sp>
      <p:pic>
        <p:nvPicPr>
          <p:cNvPr id="100" name="Panel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000" y="2100000"/>
            <a:ext cx="1345869" cy="2145710"/>
          </a:xfrm>
          <a:prstGeom prst="rect">
            <a:avLst/>
          </a:prstGeom>
        </p:spPr>
      </p:pic>
      <p:pic>
        <p:nvPicPr>
          <p:cNvPr id="101" name="Panel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326" y="2340319"/>
            <a:ext cx="1353114" cy="1665070"/>
          </a:xfrm>
          <a:prstGeom prst="rect">
            <a:avLst/>
          </a:prstGeom>
        </p:spPr>
      </p:pic>
      <p:pic>
        <p:nvPicPr>
          <p:cNvPr id="102" name="Panel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897" y="2449750"/>
            <a:ext cx="632898" cy="1446208"/>
          </a:xfrm>
          <a:prstGeom prst="rect">
            <a:avLst/>
          </a:prstGeom>
        </p:spPr>
      </p:pic>
      <p:pic>
        <p:nvPicPr>
          <p:cNvPr id="103" name="Panel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497" y="2340319"/>
            <a:ext cx="1345932" cy="1665070"/>
          </a:xfrm>
          <a:prstGeom prst="rect">
            <a:avLst/>
          </a:prstGeom>
        </p:spPr>
      </p:pic>
      <p:pic>
        <p:nvPicPr>
          <p:cNvPr id="104" name="Panel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4131" y="2100000"/>
            <a:ext cx="1345869" cy="214571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Headquarters and Warehou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2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HEADQUARTERS AND WAREHOUSE</a:t>
            </a:r>
            <a:endParaRPr lang="en-US" sz="3200" dirty="0"/>
          </a:p>
        </p:txBody>
      </p:sp>
      <p:pic>
        <p:nvPicPr>
          <p:cNvPr id="110" name="Photo1_HQ"/>
          <p:cNvPicPr>
            <a:picLocks noChangeAspect="1"/>
          </p:cNvPicPr>
          <p:nvPr/>
        </p:nvPicPr>
        <p:blipFill>
          <a:blip r:embed="rId10"/>
          <a:srcRect t="16694" b="8989"/>
          <a:stretch>
            <a:fillRect/>
          </a:stretch>
        </p:blipFill>
        <p:spPr>
          <a:xfrm>
            <a:off x="548640" y="1600000"/>
            <a:ext cx="4600000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Factory"/>
          <p:cNvPicPr>
            <a:picLocks noChangeAspect="1"/>
          </p:cNvPicPr>
          <p:nvPr/>
        </p:nvPicPr>
        <p:blipFill>
          <a:blip r:embed="rId11"/>
          <a:srcRect t="7404" b="7404"/>
          <a:stretch>
            <a:fillRect/>
          </a:stretch>
        </p:blipFill>
        <p:spPr>
          <a:xfrm>
            <a:off x="5422960" y="1600000"/>
            <a:ext cx="4012748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2" name="Photo3_Shelves"/>
          <p:cNvPicPr>
            <a:picLocks noChangeAspect="1"/>
          </p:cNvPicPr>
          <p:nvPr/>
        </p:nvPicPr>
        <p:blipFill>
          <a:blip r:embed="rId12"/>
          <a:srcRect t="9272" b="6181"/>
          <a:stretch>
            <a:fillRect/>
          </a:stretch>
        </p:blipFill>
        <p:spPr>
          <a:xfrm>
            <a:off x="9710028" y="1600000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3" name="Photo4_Cartons"/>
          <p:cNvPicPr>
            <a:picLocks noChangeAspect="1"/>
          </p:cNvPicPr>
          <p:nvPr/>
        </p:nvPicPr>
        <p:blipFill>
          <a:blip r:embed="rId13"/>
          <a:srcRect t="9272" b="6181"/>
          <a:stretch>
            <a:fillRect/>
          </a:stretch>
        </p:blipFill>
        <p:spPr>
          <a:xfrm>
            <a:off x="9710028" y="4016135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riving Growth Potenti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GROWTH POTENTIAL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ORTHOPEDIC CATEGORY</a:t>
            </a:r>
            <a:endParaRPr lang="en-US" sz="3200" dirty="0"/>
          </a:p>
        </p:txBody>
      </p:sp>
      <p:sp>
        <p:nvSpPr>
          <p:cNvPr id="3" name="Badge1"/>
          <p:cNvSpPr/>
          <p:nvPr/>
        </p:nvSpPr>
        <p:spPr>
          <a:xfrm>
            <a:off x="548640" y="19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4" name="Item1"/>
          <p:cNvSpPr/>
          <p:nvPr/>
        </p:nvSpPr>
        <p:spPr>
          <a:xfrm>
            <a:off x="1170432" y="19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with Confidence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life spans mean more need for lasting support.</a:t>
            </a:r>
          </a:p>
        </p:txBody>
      </p:sp>
      <p:sp>
        <p:nvSpPr>
          <p:cNvPr id="5" name="Badge2"/>
          <p:cNvSpPr/>
          <p:nvPr/>
        </p:nvSpPr>
        <p:spPr>
          <a:xfrm>
            <a:off x="548640" y="329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6" name="Item2"/>
          <p:cNvSpPr/>
          <p:nvPr/>
        </p:nvSpPr>
        <p:spPr>
          <a:xfrm>
            <a:off x="1170432" y="325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Lifestyles, Active Demand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Health-conscious consumers are seeking solutions for better mobility.</a:t>
            </a:r>
          </a:p>
        </p:txBody>
      </p:sp>
      <p:sp>
        <p:nvSpPr>
          <p:cNvPr id="7" name="Badge3"/>
          <p:cNvSpPr/>
          <p:nvPr/>
        </p:nvSpPr>
        <p:spPr>
          <a:xfrm>
            <a:off x="548640" y="46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8" name="Item3"/>
          <p:cNvSpPr/>
          <p:nvPr/>
        </p:nvSpPr>
        <p:spPr>
          <a:xfrm>
            <a:off x="1170432" y="46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Today, Perform Tomorrow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prevention is key to staying active and strong.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avigating a Competitive Landscap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NAVIGATING A COMPETITIVE LANDSCAPE</a:t>
            </a:r>
          </a:p>
        </p:txBody>
      </p:sp>
      <p:sp>
        <p:nvSpPr>
          <p:cNvPr id="3" name="Card1"/>
          <p:cNvSpPr/>
          <p:nvPr/>
        </p:nvSpPr>
        <p:spPr>
          <a:xfrm>
            <a:off x="54864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" name="Card1Head"/>
          <p:cNvSpPr/>
          <p:nvPr/>
        </p:nvSpPr>
        <p:spPr>
          <a:xfrm>
            <a:off x="89864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Competition</a:t>
            </a:r>
          </a:p>
        </p:txBody>
      </p:sp>
      <p:sp>
        <p:nvSpPr>
          <p:cNvPr id="5" name="Card1Desc"/>
          <p:cNvSpPr/>
          <p:nvPr/>
        </p:nvSpPr>
        <p:spPr>
          <a:xfrm>
            <a:off x="89864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filled with many players who hold geographic dominance, but lack comprehensive expertise across all categories.</a:t>
            </a:r>
          </a:p>
        </p:txBody>
      </p:sp>
      <p:sp>
        <p:nvSpPr>
          <p:cNvPr id="6" name="Card2"/>
          <p:cNvSpPr/>
          <p:nvPr/>
        </p:nvSpPr>
        <p:spPr>
          <a:xfrm>
            <a:off x="629600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Card2Head"/>
          <p:cNvSpPr/>
          <p:nvPr/>
        </p:nvSpPr>
        <p:spPr>
          <a:xfrm>
            <a:off x="664600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Solutions</a:t>
            </a:r>
          </a:p>
        </p:txBody>
      </p:sp>
      <p:sp>
        <p:nvSpPr>
          <p:cNvPr id="8" name="Card2Desc"/>
          <p:cNvSpPr/>
          <p:nvPr/>
        </p:nvSpPr>
        <p:spPr>
          <a:xfrm>
            <a:off x="664600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others focus on volume, we prioritize tailored solutions that empower movement and enhance well-being.</a:t>
            </a:r>
          </a:p>
        </p:txBody>
      </p:sp>
      <p:sp>
        <p:nvSpPr>
          <p:cNvPr id="20" name="LogoCard1"/>
          <p:cNvSpPr/>
          <p:nvPr/>
        </p:nvSpPr>
        <p:spPr>
          <a:xfrm>
            <a:off x="548640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LogoSporlastic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892" y="4395805"/>
            <a:ext cx="1482439" cy="398388"/>
          </a:xfrm>
          <a:prstGeom prst="rect">
            <a:avLst/>
          </a:prstGeom>
        </p:spPr>
      </p:pic>
      <p:sp>
        <p:nvSpPr>
          <p:cNvPr id="22" name="LogoCard2"/>
          <p:cNvSpPr/>
          <p:nvPr/>
        </p:nvSpPr>
        <p:spPr>
          <a:xfrm>
            <a:off x="2807584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3" name="LogoBauerfeind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95836" y="4357663"/>
            <a:ext cx="1482439" cy="474672"/>
          </a:xfrm>
          <a:prstGeom prst="rect">
            <a:avLst/>
          </a:prstGeom>
        </p:spPr>
      </p:pic>
      <p:sp>
        <p:nvSpPr>
          <p:cNvPr id="24" name="LogoCard3"/>
          <p:cNvSpPr/>
          <p:nvPr/>
        </p:nvSpPr>
        <p:spPr>
          <a:xfrm>
            <a:off x="5066528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5" name="LogoMedi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48142" y="4192000"/>
            <a:ext cx="1095714" cy="806000"/>
          </a:xfrm>
          <a:prstGeom prst="rect">
            <a:avLst/>
          </a:prstGeom>
        </p:spPr>
      </p:pic>
      <p:sp>
        <p:nvSpPr>
          <p:cNvPr id="26" name="LogoCard4"/>
          <p:cNvSpPr/>
          <p:nvPr/>
        </p:nvSpPr>
        <p:spPr>
          <a:xfrm>
            <a:off x="7325472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7" name="LogoBor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5545" y="4192000"/>
            <a:ext cx="898796" cy="806000"/>
          </a:xfrm>
          <a:prstGeom prst="rect">
            <a:avLst/>
          </a:prstGeom>
        </p:spPr>
      </p:pic>
      <p:sp>
        <p:nvSpPr>
          <p:cNvPr id="28" name="LogoCard5"/>
          <p:cNvSpPr/>
          <p:nvPr/>
        </p:nvSpPr>
        <p:spPr>
          <a:xfrm>
            <a:off x="9584416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9" name="LogoDrScholl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72668" y="4197224"/>
            <a:ext cx="1482439" cy="79555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r Growth Engin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GROWTH ENGINES</a:t>
            </a:r>
          </a:p>
        </p:txBody>
      </p:sp>
      <p:sp>
        <p:nvSpPr>
          <p:cNvPr id="10" name="Card1"/>
          <p:cNvSpPr/>
          <p:nvPr/>
        </p:nvSpPr>
        <p:spPr>
          <a:xfrm>
            <a:off x="54864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Circle1"/>
          <p:cNvSpPr/>
          <p:nvPr/>
        </p:nvSpPr>
        <p:spPr>
          <a:xfrm>
            <a:off x="194776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2" name="Head1"/>
          <p:cNvSpPr/>
          <p:nvPr/>
        </p:nvSpPr>
        <p:spPr>
          <a:xfrm>
            <a:off x="74864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Expansion</a:t>
            </a:r>
          </a:p>
        </p:txBody>
      </p:sp>
      <p:sp>
        <p:nvSpPr>
          <p:cNvPr id="13" name="Desc1"/>
          <p:cNvSpPr/>
          <p:nvPr/>
        </p:nvSpPr>
        <p:spPr>
          <a:xfrm>
            <a:off x="84864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with the world, expanding the distributor network worldwide.</a:t>
            </a:r>
          </a:p>
        </p:txBody>
      </p:sp>
      <p:sp>
        <p:nvSpPr>
          <p:cNvPr id="20" name="Card2"/>
          <p:cNvSpPr/>
          <p:nvPr/>
        </p:nvSpPr>
        <p:spPr>
          <a:xfrm>
            <a:off x="434688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1" name="Circle2"/>
          <p:cNvSpPr/>
          <p:nvPr/>
        </p:nvSpPr>
        <p:spPr>
          <a:xfrm>
            <a:off x="574600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sp>
        <p:nvSpPr>
          <p:cNvPr id="22" name="Head2"/>
          <p:cNvSpPr/>
          <p:nvPr/>
        </p:nvSpPr>
        <p:spPr>
          <a:xfrm>
            <a:off x="454688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Revolution</a:t>
            </a:r>
          </a:p>
        </p:txBody>
      </p:sp>
      <p:sp>
        <p:nvSpPr>
          <p:cNvPr id="23" name="Desc2"/>
          <p:cNvSpPr/>
          <p:nvPr/>
        </p:nvSpPr>
        <p:spPr>
          <a:xfrm>
            <a:off x="464688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reshape shopping while our website drives direct sales, both essential for growth.</a:t>
            </a:r>
          </a:p>
        </p:txBody>
      </p:sp>
      <p:sp>
        <p:nvSpPr>
          <p:cNvPr id="30" name="Card3"/>
          <p:cNvSpPr/>
          <p:nvPr/>
        </p:nvSpPr>
        <p:spPr>
          <a:xfrm>
            <a:off x="814512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1" name="Circle3"/>
          <p:cNvSpPr/>
          <p:nvPr/>
        </p:nvSpPr>
        <p:spPr>
          <a:xfrm>
            <a:off x="954424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32" name="Head3"/>
          <p:cNvSpPr/>
          <p:nvPr/>
        </p:nvSpPr>
        <p:spPr>
          <a:xfrm>
            <a:off x="834512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Acquisitions</a:t>
            </a:r>
          </a:p>
        </p:txBody>
      </p:sp>
      <p:sp>
        <p:nvSpPr>
          <p:cNvPr id="33" name="Desc3"/>
          <p:cNvSpPr/>
          <p:nvPr/>
        </p:nvSpPr>
        <p:spPr>
          <a:xfrm>
            <a:off x="844512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stronger portfolio through smart partnerships.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ales Channel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0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CHANNELS</a:t>
            </a:r>
          </a:p>
        </p:txBody>
      </p:sp>
      <p:sp>
        <p:nvSpPr>
          <p:cNvPr id="3" name="PillarsBox"/>
          <p:cNvSpPr/>
          <p:nvPr/>
        </p:nvSpPr>
        <p:spPr>
          <a:xfrm>
            <a:off x="4796000" y="1550000"/>
            <a:ext cx="2600000" cy="500000"/>
          </a:xfrm>
          <a:prstGeom prst="roundRect">
            <a:avLst>
              <a:gd name="adj" fmla="val 15000"/>
            </a:avLst>
          </a:prstGeom>
          <a:solidFill>
            <a:srgbClr val="140D41"/>
          </a:solidFill>
          <a:ln/>
          <a:effectLst>
            <a:outerShdw blurRad="101600" dist="38100" dir="5400000" algn="bl" rotWithShape="0">
              <a:srgbClr val="0A0630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PILLARS</a:t>
            </a:r>
          </a:p>
        </p:txBody>
      </p:sp>
      <p:cxnSp>
        <p:nvCxnSpPr>
          <p:cNvPr id="10" name="TrunkVertical"/>
          <p:cNvCxnSpPr/>
          <p:nvPr/>
        </p:nvCxnSpPr>
        <p:spPr>
          <a:xfrm>
            <a:off x="6096000" y="20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1" name="TrunkHorizontal"/>
          <p:cNvCxnSpPr/>
          <p:nvPr/>
        </p:nvCxnSpPr>
        <p:spPr>
          <a:xfrm>
            <a:off x="1578112" y="2350000"/>
            <a:ext cx="9035776" cy="1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2" name="Drop1"/>
          <p:cNvCxnSpPr/>
          <p:nvPr/>
        </p:nvCxnSpPr>
        <p:spPr>
          <a:xfrm>
            <a:off x="1578112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3" name="Drop2"/>
          <p:cNvCxnSpPr/>
          <p:nvPr/>
        </p:nvCxnSpPr>
        <p:spPr>
          <a:xfrm>
            <a:off x="3837056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4" name="Drop3"/>
          <p:cNvCxnSpPr/>
          <p:nvPr/>
        </p:nvCxnSpPr>
        <p:spPr>
          <a:xfrm>
            <a:off x="6096000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5" name="Drop4"/>
          <p:cNvCxnSpPr/>
          <p:nvPr/>
        </p:nvCxnSpPr>
        <p:spPr>
          <a:xfrm>
            <a:off x="8354944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6" name="Drop5"/>
          <p:cNvCxnSpPr/>
          <p:nvPr/>
        </p:nvCxnSpPr>
        <p:spPr>
          <a:xfrm>
            <a:off x="10613888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00" name="Card1"/>
          <p:cNvSpPr/>
          <p:nvPr/>
        </p:nvSpPr>
        <p:spPr>
          <a:xfrm>
            <a:off x="548640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1" name="Name1"/>
          <p:cNvSpPr/>
          <p:nvPr/>
        </p:nvSpPr>
        <p:spPr>
          <a:xfrm>
            <a:off x="628640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pharmacies &amp; Drug stores</a:t>
            </a:r>
          </a:p>
        </p:txBody>
      </p:sp>
      <p:sp>
        <p:nvSpPr>
          <p:cNvPr id="102" name="PhotoFrame1"/>
          <p:cNvSpPr/>
          <p:nvPr/>
        </p:nvSpPr>
        <p:spPr>
          <a:xfrm>
            <a:off x="698640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03" name="Photo1_PharmacyDA"/>
          <p:cNvPicPr>
            <a:picLocks noChangeAspect="1"/>
          </p:cNvPicPr>
          <p:nvPr/>
        </p:nvPicPr>
        <p:blipFill>
          <a:blip r:embed="rId951"/>
          <a:stretch>
            <a:fillRect/>
          </a:stretch>
        </p:blipFill>
        <p:spPr>
          <a:xfrm>
            <a:off x="728640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04" name="PhotoDivider1"/>
          <p:nvPr/>
        </p:nvCxnSpPr>
        <p:spPr>
          <a:xfrm>
            <a:off x="1578112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06" name="Photo2_PharmacyApteka"/>
          <p:cNvPicPr>
            <a:picLocks noChangeAspect="1"/>
          </p:cNvPicPr>
          <p:nvPr/>
        </p:nvPicPr>
        <p:blipFill>
          <a:blip r:embed="rId952"/>
          <a:stretch>
            <a:fillRect/>
          </a:stretch>
        </p:blipFill>
        <p:spPr>
          <a:xfrm>
            <a:off x="1598112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5" name="NumCircle1"/>
          <p:cNvSpPr/>
          <p:nvPr/>
        </p:nvSpPr>
        <p:spPr>
          <a:xfrm>
            <a:off x="1298112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10" name="Card2"/>
          <p:cNvSpPr/>
          <p:nvPr/>
        </p:nvSpPr>
        <p:spPr>
          <a:xfrm>
            <a:off x="2807584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1" name="Name2"/>
          <p:cNvSpPr/>
          <p:nvPr/>
        </p:nvSpPr>
        <p:spPr>
          <a:xfrm>
            <a:off x="2887584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</a:p>
        </p:txBody>
      </p:sp>
      <p:sp>
        <p:nvSpPr>
          <p:cNvPr id="112" name="PhotoFrame2"/>
          <p:cNvSpPr/>
          <p:nvPr/>
        </p:nvSpPr>
        <p:spPr>
          <a:xfrm>
            <a:off x="2957584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13" name="Photo1_FootTreatment"/>
          <p:cNvPicPr>
            <a:picLocks noChangeAspect="1"/>
          </p:cNvPicPr>
          <p:nvPr/>
        </p:nvPicPr>
        <p:blipFill>
          <a:blip r:embed="rId953"/>
          <a:stretch>
            <a:fillRect/>
          </a:stretch>
        </p:blipFill>
        <p:spPr>
          <a:xfrm>
            <a:off x="2987584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14" name="PhotoDivider2"/>
          <p:nvPr/>
        </p:nvCxnSpPr>
        <p:spPr>
          <a:xfrm>
            <a:off x="3837056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sp>
        <p:nvSpPr>
          <p:cNvPr id="115" name="NumCircle2"/>
          <p:cNvSpPr/>
          <p:nvPr/>
        </p:nvSpPr>
        <p:spPr>
          <a:xfrm>
            <a:off x="3557056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pic>
        <p:nvPicPr>
          <p:cNvPr id="116" name="Photo2_HospitalBasel"/>
          <p:cNvPicPr>
            <a:picLocks noChangeAspect="1"/>
          </p:cNvPicPr>
          <p:nvPr/>
        </p:nvPicPr>
        <p:blipFill>
          <a:blip r:embed="rId954"/>
          <a:stretch>
            <a:fillRect/>
          </a:stretch>
        </p:blipFill>
        <p:spPr>
          <a:xfrm>
            <a:off x="3857056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0" name="Card3"/>
          <p:cNvSpPr/>
          <p:nvPr/>
        </p:nvSpPr>
        <p:spPr>
          <a:xfrm>
            <a:off x="5066528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1" name="Name3"/>
          <p:cNvSpPr/>
          <p:nvPr/>
        </p:nvSpPr>
        <p:spPr>
          <a:xfrm>
            <a:off x="5146528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</a:p>
        </p:txBody>
      </p:sp>
      <p:sp>
        <p:nvSpPr>
          <p:cNvPr id="122" name="PhotoFrame3"/>
          <p:cNvSpPr/>
          <p:nvPr/>
        </p:nvSpPr>
        <p:spPr>
          <a:xfrm>
            <a:off x="5216528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23" name="Photo1_DigitalAmazon"/>
          <p:cNvPicPr>
            <a:picLocks noChangeAspect="1"/>
          </p:cNvPicPr>
          <p:nvPr/>
        </p:nvPicPr>
        <p:blipFill>
          <a:blip r:embed="rId955"/>
          <a:stretch>
            <a:fillRect/>
          </a:stretch>
        </p:blipFill>
        <p:spPr>
          <a:xfrm>
            <a:off x="5246528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24" name="PhotoDivider3"/>
          <p:nvPr/>
        </p:nvCxnSpPr>
        <p:spPr>
          <a:xfrm>
            <a:off x="6096000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26" name="Photo2_DigitalWalmart"/>
          <p:cNvPicPr>
            <a:picLocks noChangeAspect="1"/>
          </p:cNvPicPr>
          <p:nvPr/>
        </p:nvPicPr>
        <p:blipFill>
          <a:blip r:embed="rId956"/>
          <a:stretch>
            <a:fillRect/>
          </a:stretch>
        </p:blipFill>
        <p:spPr>
          <a:xfrm>
            <a:off x="6116000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5" name="NumCircle3"/>
          <p:cNvSpPr/>
          <p:nvPr/>
        </p:nvSpPr>
        <p:spPr>
          <a:xfrm>
            <a:off x="5816000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130" name="Card4"/>
          <p:cNvSpPr/>
          <p:nvPr/>
        </p:nvSpPr>
        <p:spPr>
          <a:xfrm>
            <a:off x="7325472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1" name="Name4"/>
          <p:cNvSpPr/>
          <p:nvPr/>
        </p:nvSpPr>
        <p:spPr>
          <a:xfrm>
            <a:off x="7405472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and physiotherapy institutes</a:t>
            </a:r>
          </a:p>
        </p:txBody>
      </p:sp>
      <p:sp>
        <p:nvSpPr>
          <p:cNvPr id="132" name="PhotoFrame4"/>
          <p:cNvSpPr/>
          <p:nvPr/>
        </p:nvSpPr>
        <p:spPr>
          <a:xfrm>
            <a:off x="7475472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33" name="Photo1_OrthopedicBuilding"/>
          <p:cNvPicPr>
            <a:picLocks noChangeAspect="1"/>
          </p:cNvPicPr>
          <p:nvPr/>
        </p:nvPicPr>
        <p:blipFill>
          <a:blip r:embed="rId957"/>
          <a:stretch>
            <a:fillRect/>
          </a:stretch>
        </p:blipFill>
        <p:spPr>
          <a:xfrm>
            <a:off x="7505472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34" name="PhotoDivider4"/>
          <p:nvPr/>
        </p:nvCxnSpPr>
        <p:spPr>
          <a:xfrm>
            <a:off x="8354944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36" name="Photo2_OrthopedicRoni"/>
          <p:cNvPicPr>
            <a:picLocks noChangeAspect="1"/>
          </p:cNvPicPr>
          <p:nvPr/>
        </p:nvPicPr>
        <p:blipFill>
          <a:blip r:embed="rId958"/>
          <a:stretch>
            <a:fillRect/>
          </a:stretch>
        </p:blipFill>
        <p:spPr>
          <a:xfrm>
            <a:off x="8374944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35" name="NumCircle4"/>
          <p:cNvSpPr/>
          <p:nvPr/>
        </p:nvSpPr>
        <p:spPr>
          <a:xfrm>
            <a:off x="8074944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</a:p>
        </p:txBody>
      </p:sp>
      <p:sp>
        <p:nvSpPr>
          <p:cNvPr id="140" name="Card5"/>
          <p:cNvSpPr/>
          <p:nvPr/>
        </p:nvSpPr>
        <p:spPr>
          <a:xfrm>
            <a:off x="9584416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1" name="Name5"/>
          <p:cNvSpPr/>
          <p:nvPr/>
        </p:nvSpPr>
        <p:spPr>
          <a:xfrm>
            <a:off x="9664416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labels</a:t>
            </a:r>
          </a:p>
        </p:txBody>
      </p:sp>
      <p:sp>
        <p:nvSpPr>
          <p:cNvPr id="142" name="PhotoFrame5"/>
          <p:cNvSpPr/>
          <p:nvPr/>
        </p:nvSpPr>
        <p:spPr>
          <a:xfrm>
            <a:off x="9734416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46" name="Photo1_PrivateToeCushion"/>
          <p:cNvPicPr>
            <a:picLocks noChangeAspect="1"/>
          </p:cNvPicPr>
          <p:nvPr/>
        </p:nvPicPr>
        <p:blipFill>
          <a:blip r:embed="rId959"/>
          <a:stretch>
            <a:fillRect/>
          </a:stretch>
        </p:blipFill>
        <p:spPr>
          <a:xfrm>
            <a:off x="9764416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Pr id="147" name="PhotoDivider5"/>
          <p:cNvCxnSpPr/>
          <p:nvPr/>
        </p:nvCxnSpPr>
        <p:spPr>
          <a:xfrm>
            <a:off x="10613888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48" name="Photo2_PrivateGelInsoles"/>
          <p:cNvPicPr>
            <a:picLocks noChangeAspect="1"/>
          </p:cNvPicPr>
          <p:nvPr/>
        </p:nvPicPr>
        <p:blipFill>
          <a:blip r:embed="rId960"/>
          <a:stretch>
            <a:fillRect/>
          </a:stretch>
        </p:blipFill>
        <p:spPr>
          <a:xfrm>
            <a:off x="10633888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45" name="NumCircle5"/>
          <p:cNvSpPr/>
          <p:nvPr/>
        </p:nvSpPr>
        <p:spPr>
          <a:xfrm>
            <a:off x="10333888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ulation Around The World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00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THE WORLD</a:t>
            </a:r>
          </a:p>
        </p:txBody>
      </p:sp>
      <p:sp>
        <p:nvSpPr>
          <p:cNvPr id="3" name="Body"/>
          <p:cNvSpPr/>
          <p:nvPr/>
        </p:nvSpPr>
        <p:spPr>
          <a:xfrm>
            <a:off x="548640" y="2350000"/>
            <a:ext cx="95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 meets the highest standards of the authorities in Israel and around the world.</a:t>
            </a:r>
          </a:p>
        </p:txBody>
      </p:sp>
      <p:sp>
        <p:nvSpPr>
          <p:cNvPr id="100" name="LogoCard1"/>
          <p:cNvSpPr/>
          <p:nvPr/>
        </p:nvSpPr>
        <p:spPr>
          <a:xfrm>
            <a:off x="54864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1" name="Logo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5825" y="4475000"/>
            <a:ext cx="1674309" cy="950000"/>
          </a:xfrm>
          <a:prstGeom prst="rect">
            <a:avLst/>
          </a:prstGeom>
        </p:spPr>
      </p:pic>
      <p:sp>
        <p:nvSpPr>
          <p:cNvPr id="110" name="LogoCard2"/>
          <p:cNvSpPr/>
          <p:nvPr/>
        </p:nvSpPr>
        <p:spPr>
          <a:xfrm>
            <a:off x="339732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1" name="Logo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05108" y="4598652"/>
            <a:ext cx="1733102" cy="702694"/>
          </a:xfrm>
          <a:prstGeom prst="rect">
            <a:avLst/>
          </a:prstGeom>
        </p:spPr>
      </p:pic>
      <p:sp>
        <p:nvSpPr>
          <p:cNvPr id="120" name="LogoCard3"/>
          <p:cNvSpPr/>
          <p:nvPr/>
        </p:nvSpPr>
        <p:spPr>
          <a:xfrm>
            <a:off x="624600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21" name="Logo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91493" y="4475000"/>
            <a:ext cx="1257692" cy="950000"/>
          </a:xfrm>
          <a:prstGeom prst="rect">
            <a:avLst/>
          </a:prstGeom>
        </p:spPr>
      </p:pic>
      <p:sp>
        <p:nvSpPr>
          <p:cNvPr id="130" name="LogoCard4"/>
          <p:cNvSpPr/>
          <p:nvPr/>
        </p:nvSpPr>
        <p:spPr>
          <a:xfrm>
            <a:off x="909468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31" name="Logo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02468" y="4522763"/>
            <a:ext cx="1733102" cy="854473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edical to Lifesty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5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LIFESTYLE</a:t>
            </a:r>
          </a:p>
        </p:txBody>
      </p:sp>
      <p:pic>
        <p:nvPicPr>
          <p:cNvPr id="110" name="Photo1_Medic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50000"/>
            <a:ext cx="5213750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Lifesty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025" y="1350000"/>
            <a:ext cx="5196335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cxnSp>
        <p:nvCxnSpPr>
          <p:cNvPr id="200" name="DividerArrow"/>
          <p:cNvCxnSpPr/>
          <p:nvPr/>
        </p:nvCxnSpPr>
        <p:spPr>
          <a:xfrm>
            <a:off x="5842390" y="3600000"/>
            <a:ext cx="524635" cy="0"/>
          </a:xfrm>
          <a:prstGeom prst="line">
            <a:avLst/>
          </a:prstGeom>
          <a:ln w="50800" cap="flat">
            <a:solidFill>
              <a:srgbClr val="FFD500"/>
            </a:solidFill>
            <a:headEnd type="triangle" w="med" len="med"/>
            <a:tailEnd type="triangle" w="med" len="med"/>
          </a:ln>
        </p:spPr>
      </p:cxnSp>
      <p:sp>
        <p:nvSpPr>
          <p:cNvPr id="210" name="MedicalBadge"/>
          <p:cNvSpPr/>
          <p:nvPr/>
        </p:nvSpPr>
        <p:spPr>
          <a:xfrm>
            <a:off x="698640" y="1500000"/>
            <a:ext cx="14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</a:t>
            </a:r>
          </a:p>
        </p:txBody>
      </p:sp>
      <p:sp>
        <p:nvSpPr>
          <p:cNvPr id="211" name="LifestyleBadge"/>
          <p:cNvSpPr/>
          <p:nvPr/>
        </p:nvSpPr>
        <p:spPr>
          <a:xfrm>
            <a:off x="6597025" y="1500000"/>
            <a:ext cx="16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208</Words>
  <Application>Microsoft Office PowerPoint</Application>
  <PresentationFormat>מסך רחב</PresentationFormat>
  <Paragraphs>41</Paragraphs>
  <Slides>6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2</cp:revision>
  <dcterms:created xsi:type="dcterms:W3CDTF">2026-08-02T08:27:24Z</dcterms:created>
  <dcterms:modified xsi:type="dcterms:W3CDTF">2026-08-02T09:12:36Z</dcterms:modified>
</cp:coreProperties>
</file>