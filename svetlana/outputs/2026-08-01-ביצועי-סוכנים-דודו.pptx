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he-5-agents/104e019b-481e-5835-b5aa-7854a99e3b07/scratchpad/work/assets/bg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384048"/>
            <a:ext cx="512064" cy="512064"/>
          </a:xfrm>
          <a:prstGeom prst="ellipse">
            <a:avLst/>
          </a:prstGeom>
          <a:solidFill>
            <a:srgbClr val="002F6C"/>
          </a:solidFill>
          <a:ln/>
        </p:spPr>
      </p:sp>
      <p:sp>
        <p:nvSpPr>
          <p:cNvPr id="4" name="Text 1"/>
          <p:cNvSpPr/>
          <p:nvPr/>
        </p:nvSpPr>
        <p:spPr>
          <a:xfrm>
            <a:off x="548640" y="38404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1234440" y="347472"/>
            <a:ext cx="10408615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002F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דודו — 20 הסניפים המובילים באורתופדיה מול ביצועי מכירות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457200" y="950976"/>
            <a:ext cx="112772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דירוג יחסי בין 68 סניפי דודו באורתופדיה בלבד (לא הדירוג הכללי ברשת) · פער = דירוג מכירות פחות דירוג אורתופדיה</a:t>
            </a:r>
            <a:endParaRPr lang="en-US" sz="10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242255" y="1298448"/>
          <a:ext cx="649224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640080"/>
                <a:gridCol w="868680"/>
                <a:gridCol w="914400"/>
                <a:gridCol w="914400"/>
                <a:gridCol w="777240"/>
                <a:gridCol w="192024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פער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F6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דירוג מכירות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F6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מול קצב 2025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F6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מכירות 2025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F6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מכירות 2026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F6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דירוג אורתופדיה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F6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שם הסניף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F6C"/>
                    </a:solidFill>
                  </a:tcPr>
                </a:tc>
              </a:tr>
              <a:tr h="23134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14.7%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70,290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40,303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הדסה עין כרם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134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6B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17.2%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52,742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30,919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קניון-מודיעין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</a:tr>
              <a:tr h="23134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63,212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34,182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אשדוד סטאר-סנטר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134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2-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0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0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47.3%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0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46,443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0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34,208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0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0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6B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גאלרי כיכר-ציון  ▲ לשכפל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0E2"/>
                    </a:solidFill>
                  </a:tcPr>
                </a:tc>
              </a:tr>
              <a:tr h="23134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6B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B326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5.1%-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50,792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24,092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קניון רחובות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134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1-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20.4%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51,667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31,106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מודיעין ישפרו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</a:tr>
              <a:tr h="23134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6B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12.6%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39,006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21,970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בילו סנטר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134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B326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2.8%-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52,586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25,566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גאלרי מלחה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</a:tr>
              <a:tr h="23134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2-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5.3%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56,803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29,917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אשקלון גירון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134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6-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14.3%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58,295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33,329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רמות ירושלים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</a:tr>
              <a:tr h="23134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1-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B326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3.5%-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46,558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22,455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תלפיות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134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6B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36,775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18,435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אשדוד סיטי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</a:tr>
              <a:tr h="23134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21.6%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36,086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21,940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ביג קרית-גת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134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6B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13.3%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35,954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20,373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ביג קסטינה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</a:tr>
              <a:tr h="23134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1-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40,253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21,729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בית שמש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134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6B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16.9%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29,529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17,266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ביג אילת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</a:tr>
              <a:tr h="23134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6B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32.3%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28,337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18,750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התמרים אילת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134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7-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42,012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22,142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ניות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</a:tr>
              <a:tr h="23134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3-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37,059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19,761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שער אשקלון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134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3-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B326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12.9%-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45,292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19,716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בית-האומות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18288" marB="18288" anchor="ctr">
                    <a:lnL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457200" y="1298448"/>
            <a:ext cx="4510735" cy="5084064"/>
          </a:xfrm>
          <a:prstGeom prst="roundRect">
            <a:avLst>
              <a:gd name="adj" fmla="val 2433"/>
            </a:avLst>
          </a:prstGeom>
          <a:solidFill>
            <a:srgbClr val="002F6C"/>
          </a:solidFill>
          <a:ln/>
          <a:effectLst>
            <a:outerShdw sx="100000" sy="100000" kx="0" ky="0" algn="bl" rotWithShape="0" blurRad="76200" dist="25400" dir="5400000">
              <a:srgbClr val="1A1A1A">
                <a:alpha val="25000"/>
              </a:srgbClr>
            </a:outerShdw>
          </a:effectLst>
        </p:spPr>
      </p:sp>
      <p:sp>
        <p:nvSpPr>
          <p:cNvPr id="9" name="Text 5"/>
          <p:cNvSpPr/>
          <p:nvPr/>
        </p:nvSpPr>
        <p:spPr>
          <a:xfrm>
            <a:off x="777240" y="1554480"/>
            <a:ext cx="38706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FFC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תובנות והמלצות</a:t>
            </a:r>
            <a:endParaRPr lang="en-US" sz="1900" dirty="0"/>
          </a:p>
        </p:txBody>
      </p:sp>
      <p:sp>
        <p:nvSpPr>
          <p:cNvPr id="10" name="Text 6"/>
          <p:cNvSpPr/>
          <p:nvPr/>
        </p:nvSpPr>
        <p:spPr>
          <a:xfrm>
            <a:off x="3413455" y="2011680"/>
            <a:ext cx="1033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קורס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3395167" y="206654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9B93"/>
          </a:solidFill>
          <a:ln/>
        </p:spPr>
      </p:sp>
      <p:sp>
        <p:nvSpPr>
          <p:cNvPr id="12" name="Text 8"/>
          <p:cNvSpPr/>
          <p:nvPr/>
        </p:nvSpPr>
        <p:spPr>
          <a:xfrm>
            <a:off x="2105863" y="2011680"/>
            <a:ext cx="1033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מומלץ לחזק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2087575" y="206654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FCB66"/>
          </a:solidFill>
          <a:ln/>
        </p:spPr>
      </p:sp>
      <p:sp>
        <p:nvSpPr>
          <p:cNvPr id="14" name="Text 10"/>
          <p:cNvSpPr/>
          <p:nvPr/>
        </p:nvSpPr>
        <p:spPr>
          <a:xfrm>
            <a:off x="798271" y="2011680"/>
            <a:ext cx="1033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לשכפל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779983" y="206654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8FD9A8"/>
          </a:solidFill>
          <a:ln/>
        </p:spPr>
      </p:sp>
      <p:sp>
        <p:nvSpPr>
          <p:cNvPr id="16" name="Shape 12"/>
          <p:cNvSpPr/>
          <p:nvPr/>
        </p:nvSpPr>
        <p:spPr>
          <a:xfrm>
            <a:off x="4501591" y="2478024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FF9B93"/>
          </a:solidFill>
          <a:ln/>
        </p:spPr>
      </p:sp>
      <p:sp>
        <p:nvSpPr>
          <p:cNvPr id="17" name="Text 13"/>
          <p:cNvSpPr/>
          <p:nvPr/>
        </p:nvSpPr>
        <p:spPr>
          <a:xfrm>
            <a:off x="777240" y="2432304"/>
            <a:ext cx="363291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9B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קורס — 2 סניפים בירידה חדה</a:t>
            </a:r>
            <a:endParaRPr lang="en-US" sz="1300" dirty="0"/>
          </a:p>
        </p:txBody>
      </p:sp>
      <p:sp>
        <p:nvSpPr>
          <p:cNvPr id="18" name="Text 14"/>
          <p:cNvSpPr/>
          <p:nvPr/>
        </p:nvSpPr>
        <p:spPr>
          <a:xfrm>
            <a:off x="777240" y="2724912"/>
            <a:ext cx="387065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קניון מבשרת (-64%) והרצל רחובות (-52%) מול קצב 2025. מומלץ: לבדוק מיידית מול הסוכן מלאי, סגל ותחרות מקומית בסניפים אלו, לפני שהמגמה ממשיכה.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4501591" y="3794760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FFCB66"/>
          </a:solidFill>
          <a:ln/>
        </p:spPr>
      </p:sp>
      <p:sp>
        <p:nvSpPr>
          <p:cNvPr id="20" name="Text 16"/>
          <p:cNvSpPr/>
          <p:nvPr/>
        </p:nvSpPr>
        <p:spPr>
          <a:xfrm>
            <a:off x="777240" y="3749040"/>
            <a:ext cx="363291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CB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מומלץ לחזק — 3 סניפים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777240" y="4041648"/>
            <a:ext cx="387065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שדרות (פער +16), שחמון אילת (+12) ויכין-סנטר (+10) — חזקים באורתופדיה יחסית לשאר סניפי דודו, אך מוכרים חלש יחסית אליהם. מומלץ: לחדד תמהיל והצגת הקטגוריה.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4501591" y="5111496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8FD9A8"/>
          </a:solidFill>
          <a:ln/>
        </p:spPr>
      </p:sp>
      <p:sp>
        <p:nvSpPr>
          <p:cNvPr id="23" name="Text 19"/>
          <p:cNvSpPr/>
          <p:nvPr/>
        </p:nvSpPr>
        <p:spPr>
          <a:xfrm>
            <a:off x="777240" y="5065776"/>
            <a:ext cx="363291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8FD9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לשכפל — 3 סניפים בצמיחה חזקה</a:t>
            </a:r>
            <a:endParaRPr lang="en-US" sz="1300" dirty="0"/>
          </a:p>
        </p:txBody>
      </p:sp>
      <p:sp>
        <p:nvSpPr>
          <p:cNvPr id="24" name="Text 20"/>
          <p:cNvSpPr/>
          <p:nvPr/>
        </p:nvSpPr>
        <p:spPr>
          <a:xfrm>
            <a:off x="777240" y="5358384"/>
            <a:ext cx="387065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הר-יונה (+147%), אופקים (+90%) וגאלרי כיכר-ציון (+47%, מדורג #4 בטבלה) מול קצב 2025. מומלץ: לזהות מה עובד בסניפים אלו (מבצע / מלאי / סגל) ולשכפל לסניפים חלשים יותר.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2026-08-01T14:52:13Z</dcterms:created>
  <dcterms:modified xsi:type="dcterms:W3CDTF">2026-08-01T14:52:13Z</dcterms:modified>
</cp:coreProperties>
</file>