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work/assets/bg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384048"/>
            <a:ext cx="512064" cy="512064"/>
          </a:xfrm>
          <a:prstGeom prst="ellipse">
            <a:avLst/>
          </a:prstGeom>
          <a:solidFill>
            <a:srgbClr val="002F6C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3840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234440" y="347472"/>
            <a:ext cx="10408615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02F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חדש — 20 הסניפים המובילים באורתופדיה מול ביצועי מכירות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950976"/>
            <a:ext cx="112772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דירוג יחסי בין 88 סניפי חדש באורתופדיה בלבד (לא הדירוג הכללי ברשת) · פער = דירוג מכירות פחות דירוג אורתופדיה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242255" y="1298448"/>
          <a:ext cx="6492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640080"/>
                <a:gridCol w="868680"/>
                <a:gridCol w="914400"/>
                <a:gridCol w="914400"/>
                <a:gridCol w="777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פער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דירוג מכירות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מול קצב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קצב 2025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מכירות 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דירוג אורתופדיה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שם הסניף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F6C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34,329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34,994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כרמיאל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27,941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28,101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גרנד קניון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20,474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24,424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קרית אונו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13,795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12,186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גאלרי קריון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23.1%-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35,760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27,485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חורב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13,333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13,584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עמק-סנטר עפולה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11,642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12,979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קרית אתא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11,884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13,635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מול כנרת צמח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14.1%-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13,276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11,409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נוף הגליל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30.1%-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12,393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8,663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C9720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נהריה געתון  ● מומלץ לחזק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8CE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13,037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12,274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גן שמואל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12,755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12,859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ביג-יקנעם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24.7%-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12,072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רמת-ישי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11,550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11,760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ביג קרית-שמונה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12,161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10,310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שפרעם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10,640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10,966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רמב"ם חיפה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9,458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10,897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אודיטוריום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7,219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8,588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מול-זכרון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1E6B3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7.0%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8,621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9,224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עפולה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134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B3261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0.1%-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9,295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9,285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3A3A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נווה שאנן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2004" marR="32004" marT="18288" marB="18288" anchor="ctr">
                    <a:lnL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F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1298448"/>
            <a:ext cx="4510735" cy="5084064"/>
          </a:xfrm>
          <a:prstGeom prst="roundRect">
            <a:avLst>
              <a:gd name="adj" fmla="val 2433"/>
            </a:avLst>
          </a:prstGeom>
          <a:solidFill>
            <a:srgbClr val="002F6C"/>
          </a:solidFill>
          <a:ln/>
          <a:effectLst>
            <a:outerShdw sx="100000" sy="100000" kx="0" ky="0" algn="bl" rotWithShape="0" blurRad="76200" dist="25400" dir="5400000">
              <a:srgbClr val="1A1A1A">
                <a:alpha val="25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777240" y="1554480"/>
            <a:ext cx="3870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900" b="1" dirty="0">
                <a:solidFill>
                  <a:srgbClr val="FFC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תובנות והמלצות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3413455" y="201168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קורס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395167" y="20665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F9B93"/>
          </a:solidFill>
          <a:ln/>
        </p:spPr>
      </p:sp>
      <p:sp>
        <p:nvSpPr>
          <p:cNvPr id="12" name="Text 8"/>
          <p:cNvSpPr/>
          <p:nvPr/>
        </p:nvSpPr>
        <p:spPr>
          <a:xfrm>
            <a:off x="2105863" y="201168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מומלץ לחזק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087575" y="20665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FFCB66"/>
          </a:solidFill>
          <a:ln/>
        </p:spPr>
      </p:sp>
      <p:sp>
        <p:nvSpPr>
          <p:cNvPr id="14" name="Text 10"/>
          <p:cNvSpPr/>
          <p:nvPr/>
        </p:nvSpPr>
        <p:spPr>
          <a:xfrm>
            <a:off x="798271" y="201168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לשכפל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779983" y="206654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8FD9A8"/>
          </a:solidFill>
          <a:ln/>
        </p:spPr>
      </p:sp>
      <p:sp>
        <p:nvSpPr>
          <p:cNvPr id="16" name="Shape 12"/>
          <p:cNvSpPr/>
          <p:nvPr/>
        </p:nvSpPr>
        <p:spPr>
          <a:xfrm>
            <a:off x="4501591" y="2478024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F9B93"/>
          </a:solidFill>
          <a:ln/>
        </p:spPr>
      </p:sp>
      <p:sp>
        <p:nvSpPr>
          <p:cNvPr id="17" name="Text 13"/>
          <p:cNvSpPr/>
          <p:nvPr/>
        </p:nvSpPr>
        <p:spPr>
          <a:xfrm>
            <a:off x="777240" y="2432304"/>
            <a:ext cx="3632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9B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קורס — 4 סניפים בירידה חדה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777240" y="2724912"/>
            <a:ext cx="3870655" cy="816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סינמול (-160%), ארמון חיפה (-99%), ביג פרדס-חנה (-94%) ומול-החוף חדרה (-70%) מול קצב 2025. מומלץ: לבדוק מיידית מול הסוכן מלאי, סגל ותחרות מקומית בסניפים אלו, לפני שהמגמה ממשיכה.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501591" y="3678936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FFCB66"/>
          </a:solidFill>
          <a:ln/>
        </p:spPr>
      </p:sp>
      <p:sp>
        <p:nvSpPr>
          <p:cNvPr id="20" name="Text 16"/>
          <p:cNvSpPr/>
          <p:nvPr/>
        </p:nvSpPr>
        <p:spPr>
          <a:xfrm>
            <a:off x="777240" y="3633216"/>
            <a:ext cx="3632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FFCB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מומלץ לחזק — 9 סניפים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777240" y="3925824"/>
            <a:ext cx="3870655" cy="1007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צפת (פער +33), כפר כנא (+17), קרית-ים (+16), נצרת (+15), נהריה געתון (+13, בטבלה #10), עכו (+13), ביג-פוריה (+10), נהריה רגבה (+10) וראש-פינה (+10) — חזקים באורתופדיה יחסית לשאר סניפי חדש, אך מוכרים חלש יחסית אליהם. מומלץ: לחדד תמהיל והצגת הקטגוריה.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501591" y="5070348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8FD9A8"/>
          </a:solidFill>
          <a:ln/>
        </p:spPr>
      </p:sp>
      <p:sp>
        <p:nvSpPr>
          <p:cNvPr id="23" name="Text 19"/>
          <p:cNvSpPr/>
          <p:nvPr/>
        </p:nvSpPr>
        <p:spPr>
          <a:xfrm>
            <a:off x="777240" y="5024628"/>
            <a:ext cx="3632911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FD9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לשכפל — 5 סניפים בצמיחה חזקה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777240" y="5317236"/>
            <a:ext cx="3870655" cy="626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טירה (+120%), קניון לב כרמיאל (+105%), טבריה (+92%), עראבה (+74%) ודושי סנטר נצרת (+53%) מול קצב 2025. מומלץ: לזהות מה עובד בסניפים אלו ולשכפל לסניפים חלשים יותר.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2026-08-01T15:05:11Z</dcterms:created>
  <dcterms:modified xsi:type="dcterms:W3CDTF">2026-08-01T15:05:11Z</dcterms:modified>
</cp:coreProperties>
</file>