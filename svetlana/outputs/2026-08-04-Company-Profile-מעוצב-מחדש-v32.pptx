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  <Relationship Id="rId24" Type="http://schemas.openxmlformats.org/officeDocument/2006/relationships/slide" Target="slides/slide16.xml"/>
  <Relationship Id="rId25" Type="http://schemas.openxmlformats.org/officeDocument/2006/relationships/slide" Target="slides/slide17.xml"/>
  <Relationship Id="rId26" Type="http://schemas.openxmlformats.org/officeDocument/2006/relationships/slide" Target="slides/slide18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950" Type="http://schemas.openxmlformats.org/officeDocument/2006/relationships/image" Target="../media/footer_line_logo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.png"/><Relationship Id="rId7" Type="http://schemas.openxmlformats.org/officeDocument/2006/relationships/image" Target="../media/image45.png"/><Relationship Id="rId950" Type="http://schemas.openxmlformats.org/officeDocument/2006/relationships/image" Target="../media/footer_line_logo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Relationship Id="rId950" Type="http://schemas.openxmlformats.org/officeDocument/2006/relationships/image" Target="../media/footer_line_logo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comp_sporlastic.png"/><Relationship Id="rId11" Type="http://schemas.openxmlformats.org/officeDocument/2006/relationships/image" Target="../media/comp_bauerfeind.png"/><Relationship Id="rId12" Type="http://schemas.openxmlformats.org/officeDocument/2006/relationships/image" Target="../media/comp_medi.png"/><Relationship Id="rId13" Type="http://schemas.openxmlformats.org/officeDocument/2006/relationships/image" Target="../media/comp_bort.png"/><Relationship Id="rId14" Type="http://schemas.openxmlformats.org/officeDocument/2006/relationships/image" Target="../media/comp_drscholls.png"/><Relationship Id="rId950" Type="http://schemas.openxmlformats.org/officeDocument/2006/relationships/image" Target="../media/footer_line_logo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951" Type="http://schemas.openxmlformats.org/officeDocument/2006/relationships/image" Target="../media/channel1_pharmacy_da.jpg"/><Relationship Id="rId952" Type="http://schemas.openxmlformats.org/officeDocument/2006/relationships/image" Target="../media/channel1_pharmacy_apteka.jpg"/><Relationship Id="rId953" Type="http://schemas.openxmlformats.org/officeDocument/2006/relationships/image" Target="../media/channel2_foot_treatment.jpg"/><Relationship Id="rId954" Type="http://schemas.openxmlformats.org/officeDocument/2006/relationships/image" Target="../media/channel2_hospital_basel.jpg"/><Relationship Id="rId955" Type="http://schemas.openxmlformats.org/officeDocument/2006/relationships/image" Target="../media/channel3_digital_amazon.jpg"/><Relationship Id="rId956" Type="http://schemas.openxmlformats.org/officeDocument/2006/relationships/image" Target="../media/channel3_digital_walmart.jpg"/><Relationship Id="rId957" Type="http://schemas.openxmlformats.org/officeDocument/2006/relationships/image" Target="../media/channel4_orthopedic_building.jpg"/><Relationship Id="rId958" Type="http://schemas.openxmlformats.org/officeDocument/2006/relationships/image" Target="../media/channel4_orthopedic_roni.jpg"/><Relationship Id="rId959" Type="http://schemas.openxmlformats.org/officeDocument/2006/relationships/image" Target="../media/channel5_private_toe_cushion.jpg"/><Relationship Id="rId960" Type="http://schemas.openxmlformats.org/officeDocument/2006/relationships/image" Target="../media/channel5_private_gel_insoles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20" Type="http://schemas.openxmlformats.org/officeDocument/2006/relationships/image" Target="../media/reg_fda.png"/><Relationship Id="rId21" Type="http://schemas.openxmlformats.org/officeDocument/2006/relationships/image" Target="../media/reg_eumdr.png"/><Relationship Id="rId22" Type="http://schemas.openxmlformats.org/officeDocument/2006/relationships/image" Target="../media/reg_ce.png"/><Relationship Id="rId23" Type="http://schemas.openxmlformats.org/officeDocument/2006/relationships/image" Target="../media/reg_moh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cal_photo.jpg"/><Relationship Id="rId3" Type="http://schemas.openxmlformats.org/officeDocument/2006/relationships/image" Target="../media/lifestyle_photo.jpg"/><Relationship Id="rId950" Type="http://schemas.openxmlformats.org/officeDocument/2006/relationships/image" Target="../media/footer_line_logo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272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288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579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579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49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61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44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195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279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30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14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10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10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76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83607"/>
            <a:ext cx="5608015" cy="5373667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56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1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0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1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56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rcRect t="16694" b="8989"/>
          <a:stretch>
            <a:fillRect/>
          </a:stretch>
        </p:blipFill>
        <p:spPr>
          <a:xfrm>
            <a:off x="548640" y="1600000"/>
            <a:ext cx="4600000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rcRect t="7404" b="7404"/>
          <a:stretch>
            <a:fillRect/>
          </a:stretch>
        </p:blipFill>
        <p:spPr>
          <a:xfrm>
            <a:off x="5422960" y="1600000"/>
            <a:ext cx="4012748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rcRect t="9272" b="6181"/>
          <a:stretch>
            <a:fillRect/>
          </a:stretch>
        </p:blipFill>
        <p:spPr>
          <a:xfrm>
            <a:off x="9710028" y="1600000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rcRect t="9272" b="6181"/>
          <a:stretch>
            <a:fillRect/>
          </a:stretch>
        </p:blipFill>
        <p:spPr>
          <a:xfrm>
            <a:off x="9710028" y="4016135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riving Growth Potent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GROWTH POTENTIAL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ORTHOPEDIC CATEGORY</a:t>
            </a:r>
            <a:endParaRPr lang="en-US" sz="3200" dirty="0"/>
          </a:p>
        </p:txBody>
      </p:sp>
      <p:sp>
        <p:nvSpPr>
          <p:cNvPr id="3" name="Badge1"/>
          <p:cNvSpPr/>
          <p:nvPr/>
        </p:nvSpPr>
        <p:spPr>
          <a:xfrm>
            <a:off x="548640" y="19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4" name="Item1"/>
          <p:cNvSpPr/>
          <p:nvPr/>
        </p:nvSpPr>
        <p:spPr>
          <a:xfrm>
            <a:off x="1170432" y="19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with Confidence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life spans mean more need for lasting support.</a:t>
            </a:r>
          </a:p>
        </p:txBody>
      </p:sp>
      <p:sp>
        <p:nvSpPr>
          <p:cNvPr id="5" name="Badge2"/>
          <p:cNvSpPr/>
          <p:nvPr/>
        </p:nvSpPr>
        <p:spPr>
          <a:xfrm>
            <a:off x="548640" y="329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6" name="Item2"/>
          <p:cNvSpPr/>
          <p:nvPr/>
        </p:nvSpPr>
        <p:spPr>
          <a:xfrm>
            <a:off x="1170432" y="325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Lifestyles, Active Demand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consumers are seeking solutions for better mobility.</a:t>
            </a:r>
          </a:p>
        </p:txBody>
      </p:sp>
      <p:sp>
        <p:nvSpPr>
          <p:cNvPr id="7" name="Badge3"/>
          <p:cNvSpPr/>
          <p:nvPr/>
        </p:nvSpPr>
        <p:spPr>
          <a:xfrm>
            <a:off x="548640" y="46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8" name="Item3"/>
          <p:cNvSpPr/>
          <p:nvPr/>
        </p:nvSpPr>
        <p:spPr>
          <a:xfrm>
            <a:off x="1170432" y="46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Today, Perform Tomorrow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prevention is key to staying active and strong.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vigating a Competitive Landscap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A COMPETITIVE LANDSCAPE</a:t>
            </a:r>
          </a:p>
        </p:txBody>
      </p:sp>
      <p:sp>
        <p:nvSpPr>
          <p:cNvPr id="3" name="Card1"/>
          <p:cNvSpPr/>
          <p:nvPr/>
        </p:nvSpPr>
        <p:spPr>
          <a:xfrm>
            <a:off x="54864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Card1Head"/>
          <p:cNvSpPr/>
          <p:nvPr/>
        </p:nvSpPr>
        <p:spPr>
          <a:xfrm>
            <a:off x="89864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Competition</a:t>
            </a:r>
          </a:p>
        </p:txBody>
      </p:sp>
      <p:sp>
        <p:nvSpPr>
          <p:cNvPr id="5" name="Card1Desc"/>
          <p:cNvSpPr/>
          <p:nvPr/>
        </p:nvSpPr>
        <p:spPr>
          <a:xfrm>
            <a:off x="89864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filled with many players who hold geographic dominance, but lack comprehensive expertise across all categories.</a:t>
            </a:r>
          </a:p>
        </p:txBody>
      </p:sp>
      <p:sp>
        <p:nvSpPr>
          <p:cNvPr id="6" name="Card2"/>
          <p:cNvSpPr/>
          <p:nvPr/>
        </p:nvSpPr>
        <p:spPr>
          <a:xfrm>
            <a:off x="629600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Card2Head"/>
          <p:cNvSpPr/>
          <p:nvPr/>
        </p:nvSpPr>
        <p:spPr>
          <a:xfrm>
            <a:off x="664600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Solutions</a:t>
            </a:r>
          </a:p>
        </p:txBody>
      </p:sp>
      <p:sp>
        <p:nvSpPr>
          <p:cNvPr id="8" name="Card2Desc"/>
          <p:cNvSpPr/>
          <p:nvPr/>
        </p:nvSpPr>
        <p:spPr>
          <a:xfrm>
            <a:off x="664600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others focus on volume, we prioritize tailored solutions that empower movement and enhance well-being.</a:t>
            </a:r>
          </a:p>
        </p:txBody>
      </p:sp>
      <p:sp>
        <p:nvSpPr>
          <p:cNvPr id="20" name="LogoCard1"/>
          <p:cNvSpPr/>
          <p:nvPr/>
        </p:nvSpPr>
        <p:spPr>
          <a:xfrm>
            <a:off x="548640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LogoSporlast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892" y="4395805"/>
            <a:ext cx="1482439" cy="398388"/>
          </a:xfrm>
          <a:prstGeom prst="rect">
            <a:avLst/>
          </a:prstGeom>
        </p:spPr>
      </p:pic>
      <p:sp>
        <p:nvSpPr>
          <p:cNvPr id="22" name="LogoCard2"/>
          <p:cNvSpPr/>
          <p:nvPr/>
        </p:nvSpPr>
        <p:spPr>
          <a:xfrm>
            <a:off x="2807584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LogoBauerfein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5836" y="4357663"/>
            <a:ext cx="1482439" cy="474672"/>
          </a:xfrm>
          <a:prstGeom prst="rect">
            <a:avLst/>
          </a:prstGeom>
        </p:spPr>
      </p:pic>
      <p:sp>
        <p:nvSpPr>
          <p:cNvPr id="24" name="LogoCard3"/>
          <p:cNvSpPr/>
          <p:nvPr/>
        </p:nvSpPr>
        <p:spPr>
          <a:xfrm>
            <a:off x="5066528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5" name="LogoMedi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8142" y="4192000"/>
            <a:ext cx="1095714" cy="806000"/>
          </a:xfrm>
          <a:prstGeom prst="rect">
            <a:avLst/>
          </a:prstGeom>
        </p:spPr>
      </p:pic>
      <p:sp>
        <p:nvSpPr>
          <p:cNvPr id="26" name="LogoCard4"/>
          <p:cNvSpPr/>
          <p:nvPr/>
        </p:nvSpPr>
        <p:spPr>
          <a:xfrm>
            <a:off x="7325472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7" name="LogoBor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545" y="4192000"/>
            <a:ext cx="898796" cy="806000"/>
          </a:xfrm>
          <a:prstGeom prst="rect">
            <a:avLst/>
          </a:prstGeom>
        </p:spPr>
      </p:pic>
      <p:sp>
        <p:nvSpPr>
          <p:cNvPr id="28" name="LogoCard5"/>
          <p:cNvSpPr/>
          <p:nvPr/>
        </p:nvSpPr>
        <p:spPr>
          <a:xfrm>
            <a:off x="9584416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9" name="LogoDrScholl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2668" y="4197224"/>
            <a:ext cx="1482439" cy="79555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Growth Engin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GROWTH ENGINES</a:t>
            </a:r>
          </a:p>
        </p:txBody>
      </p:sp>
      <p:sp>
        <p:nvSpPr>
          <p:cNvPr id="10" name="Card1"/>
          <p:cNvSpPr/>
          <p:nvPr/>
        </p:nvSpPr>
        <p:spPr>
          <a:xfrm>
            <a:off x="54864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Circle1"/>
          <p:cNvSpPr/>
          <p:nvPr/>
        </p:nvSpPr>
        <p:spPr>
          <a:xfrm>
            <a:off x="194776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2" name="Head1"/>
          <p:cNvSpPr/>
          <p:nvPr/>
        </p:nvSpPr>
        <p:spPr>
          <a:xfrm>
            <a:off x="74864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</a:p>
        </p:txBody>
      </p:sp>
      <p:sp>
        <p:nvSpPr>
          <p:cNvPr id="13" name="Desc1"/>
          <p:cNvSpPr/>
          <p:nvPr/>
        </p:nvSpPr>
        <p:spPr>
          <a:xfrm>
            <a:off x="84864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with the world, expanding the distributor network worldwide.</a:t>
            </a:r>
          </a:p>
        </p:txBody>
      </p:sp>
      <p:sp>
        <p:nvSpPr>
          <p:cNvPr id="20" name="Card2"/>
          <p:cNvSpPr/>
          <p:nvPr/>
        </p:nvSpPr>
        <p:spPr>
          <a:xfrm>
            <a:off x="434688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Circle2"/>
          <p:cNvSpPr/>
          <p:nvPr/>
        </p:nvSpPr>
        <p:spPr>
          <a:xfrm>
            <a:off x="574600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22" name="Head2"/>
          <p:cNvSpPr/>
          <p:nvPr/>
        </p:nvSpPr>
        <p:spPr>
          <a:xfrm>
            <a:off x="454688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Revolution</a:t>
            </a:r>
          </a:p>
        </p:txBody>
      </p:sp>
      <p:sp>
        <p:nvSpPr>
          <p:cNvPr id="23" name="Desc2"/>
          <p:cNvSpPr/>
          <p:nvPr/>
        </p:nvSpPr>
        <p:spPr>
          <a:xfrm>
            <a:off x="464688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reshape shopping while our website drives direct sales, both essential for growth.</a:t>
            </a:r>
          </a:p>
        </p:txBody>
      </p:sp>
      <p:sp>
        <p:nvSpPr>
          <p:cNvPr id="30" name="Card3"/>
          <p:cNvSpPr/>
          <p:nvPr/>
        </p:nvSpPr>
        <p:spPr>
          <a:xfrm>
            <a:off x="814512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1" name="Circle3"/>
          <p:cNvSpPr/>
          <p:nvPr/>
        </p:nvSpPr>
        <p:spPr>
          <a:xfrm>
            <a:off x="954424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32" name="Head3"/>
          <p:cNvSpPr/>
          <p:nvPr/>
        </p:nvSpPr>
        <p:spPr>
          <a:xfrm>
            <a:off x="834512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Acquisitions</a:t>
            </a:r>
          </a:p>
        </p:txBody>
      </p:sp>
      <p:sp>
        <p:nvSpPr>
          <p:cNvPr id="33" name="Desc3"/>
          <p:cNvSpPr/>
          <p:nvPr/>
        </p:nvSpPr>
        <p:spPr>
          <a:xfrm>
            <a:off x="844512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stronger portfolio through smart partnerships.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les Channe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CHANNELS</a:t>
            </a:r>
          </a:p>
        </p:txBody>
      </p:sp>
      <p:sp>
        <p:nvSpPr>
          <p:cNvPr id="3" name="PillarsBox"/>
          <p:cNvSpPr/>
          <p:nvPr/>
        </p:nvSpPr>
        <p:spPr>
          <a:xfrm>
            <a:off x="4796000" y="1550000"/>
            <a:ext cx="2600000" cy="500000"/>
          </a:xfrm>
          <a:prstGeom prst="roundRect">
            <a:avLst>
              <a:gd name="adj" fmla="val 15000"/>
            </a:avLst>
          </a:prstGeom>
          <a:solidFill>
            <a:srgbClr val="140D41"/>
          </a:solidFill>
          <a:ln/>
          <a:effectLst>
            <a:outerShdw blurRad="101600" dist="38100" dir="5400000" algn="bl" rotWithShape="0">
              <a:srgbClr val="0A063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PILLARS</a:t>
            </a:r>
          </a:p>
        </p:txBody>
      </p:sp>
      <p:cxnSp>
        <p:nvCxnSpPr>
          <p:cNvPr id="10" name="TrunkVertical"/>
          <p:cNvCxnSpPr/>
          <p:nvPr/>
        </p:nvCxnSpPr>
        <p:spPr>
          <a:xfrm>
            <a:off x="6096000" y="20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1" name="TrunkHorizontal"/>
          <p:cNvCxnSpPr/>
          <p:nvPr/>
        </p:nvCxnSpPr>
        <p:spPr>
          <a:xfrm>
            <a:off x="1578112" y="2350000"/>
            <a:ext cx="9035776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2" name="Drop1"/>
          <p:cNvCxnSpPr/>
          <p:nvPr/>
        </p:nvCxnSpPr>
        <p:spPr>
          <a:xfrm>
            <a:off x="1578112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3" name="Drop2"/>
          <p:cNvCxnSpPr/>
          <p:nvPr/>
        </p:nvCxnSpPr>
        <p:spPr>
          <a:xfrm>
            <a:off x="3837056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4" name="Drop3"/>
          <p:cNvCxnSpPr/>
          <p:nvPr/>
        </p:nvCxnSpPr>
        <p:spPr>
          <a:xfrm>
            <a:off x="6096000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5" name="Drop4"/>
          <p:cNvCxnSpPr/>
          <p:nvPr/>
        </p:nvCxnSpPr>
        <p:spPr>
          <a:xfrm>
            <a:off x="8354944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6" name="Drop5"/>
          <p:cNvCxnSpPr/>
          <p:nvPr/>
        </p:nvCxnSpPr>
        <p:spPr>
          <a:xfrm>
            <a:off x="10613888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0" name="Card1"/>
          <p:cNvSpPr/>
          <p:nvPr/>
        </p:nvSpPr>
        <p:spPr>
          <a:xfrm>
            <a:off x="548640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1" name="Name1"/>
          <p:cNvSpPr/>
          <p:nvPr/>
        </p:nvSpPr>
        <p:spPr>
          <a:xfrm>
            <a:off x="628640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Pharmacies &amp; Drug Stores</a:t>
            </a:r>
          </a:p>
        </p:txBody>
      </p:sp>
      <p:sp>
        <p:nvSpPr>
          <p:cNvPr id="102" name="PhotoFrame1"/>
          <p:cNvSpPr/>
          <p:nvPr/>
        </p:nvSpPr>
        <p:spPr>
          <a:xfrm>
            <a:off x="698640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03" name="Photo1_PharmacyDA"/>
          <p:cNvPicPr>
            <a:picLocks noChangeAspect="1"/>
          </p:cNvPicPr>
          <p:nvPr/>
        </p:nvPicPr>
        <p:blipFill>
          <a:blip r:embed="rId951"/>
          <a:stretch>
            <a:fillRect/>
          </a:stretch>
        </p:blipFill>
        <p:spPr>
          <a:xfrm>
            <a:off x="72864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04" name="PhotoDivider1"/>
          <p:nvPr/>
        </p:nvCxnSpPr>
        <p:spPr>
          <a:xfrm>
            <a:off x="1578112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06" name="Photo2_PharmacyApteka"/>
          <p:cNvPicPr>
            <a:picLocks noChangeAspect="1"/>
          </p:cNvPicPr>
          <p:nvPr/>
        </p:nvPicPr>
        <p:blipFill>
          <a:blip r:embed="rId952"/>
          <a:stretch>
            <a:fillRect/>
          </a:stretch>
        </p:blipFill>
        <p:spPr>
          <a:xfrm>
            <a:off x="159811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5" name="NumCircle1"/>
          <p:cNvSpPr/>
          <p:nvPr/>
        </p:nvSpPr>
        <p:spPr>
          <a:xfrm>
            <a:off x="1298112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10" name="Card2"/>
          <p:cNvSpPr/>
          <p:nvPr/>
        </p:nvSpPr>
        <p:spPr>
          <a:xfrm>
            <a:off x="2807584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1" name="Name2"/>
          <p:cNvSpPr/>
          <p:nvPr/>
        </p:nvSpPr>
        <p:spPr>
          <a:xfrm>
            <a:off x="2887584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</a:p>
        </p:txBody>
      </p:sp>
      <p:sp>
        <p:nvSpPr>
          <p:cNvPr id="112" name="PhotoFrame2"/>
          <p:cNvSpPr/>
          <p:nvPr/>
        </p:nvSpPr>
        <p:spPr>
          <a:xfrm>
            <a:off x="2957584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13" name="Photo1_FootTreatment"/>
          <p:cNvPicPr>
            <a:picLocks noChangeAspect="1"/>
          </p:cNvPicPr>
          <p:nvPr/>
        </p:nvPicPr>
        <p:blipFill>
          <a:blip r:embed="rId953"/>
          <a:stretch>
            <a:fillRect/>
          </a:stretch>
        </p:blipFill>
        <p:spPr>
          <a:xfrm>
            <a:off x="298758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14" name="PhotoDivider2"/>
          <p:nvPr/>
        </p:nvCxnSpPr>
        <p:spPr>
          <a:xfrm>
            <a:off x="3837056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sp>
        <p:nvSpPr>
          <p:cNvPr id="115" name="NumCircle2"/>
          <p:cNvSpPr/>
          <p:nvPr/>
        </p:nvSpPr>
        <p:spPr>
          <a:xfrm>
            <a:off x="3557056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pic>
        <p:nvPicPr>
          <p:cNvPr id="116" name="Photo2_HospitalBasel"/>
          <p:cNvPicPr>
            <a:picLocks noChangeAspect="1"/>
          </p:cNvPicPr>
          <p:nvPr/>
        </p:nvPicPr>
        <p:blipFill>
          <a:blip r:embed="rId954"/>
          <a:stretch>
            <a:fillRect/>
          </a:stretch>
        </p:blipFill>
        <p:spPr>
          <a:xfrm>
            <a:off x="3857056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0" name="Card3"/>
          <p:cNvSpPr/>
          <p:nvPr/>
        </p:nvSpPr>
        <p:spPr>
          <a:xfrm>
            <a:off x="5066528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1" name="Name3"/>
          <p:cNvSpPr/>
          <p:nvPr/>
        </p:nvSpPr>
        <p:spPr>
          <a:xfrm>
            <a:off x="5146528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</a:p>
        </p:txBody>
      </p:sp>
      <p:sp>
        <p:nvSpPr>
          <p:cNvPr id="122" name="PhotoFrame3"/>
          <p:cNvSpPr/>
          <p:nvPr/>
        </p:nvSpPr>
        <p:spPr>
          <a:xfrm>
            <a:off x="5216528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23" name="Photo1_DigitalAmazon"/>
          <p:cNvPicPr>
            <a:picLocks noChangeAspect="1"/>
          </p:cNvPicPr>
          <p:nvPr/>
        </p:nvPicPr>
        <p:blipFill>
          <a:blip r:embed="rId955"/>
          <a:stretch>
            <a:fillRect/>
          </a:stretch>
        </p:blipFill>
        <p:spPr>
          <a:xfrm>
            <a:off x="5246528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24" name="PhotoDivider3"/>
          <p:nvPr/>
        </p:nvCxnSpPr>
        <p:spPr>
          <a:xfrm>
            <a:off x="6096000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26" name="Photo2_DigitalWalmart"/>
          <p:cNvPicPr>
            <a:picLocks noChangeAspect="1"/>
          </p:cNvPicPr>
          <p:nvPr/>
        </p:nvPicPr>
        <p:blipFill>
          <a:blip r:embed="rId956"/>
          <a:stretch>
            <a:fillRect/>
          </a:stretch>
        </p:blipFill>
        <p:spPr>
          <a:xfrm>
            <a:off x="611600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5" name="NumCircle3"/>
          <p:cNvSpPr/>
          <p:nvPr/>
        </p:nvSpPr>
        <p:spPr>
          <a:xfrm>
            <a:off x="5816000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130" name="Card4"/>
          <p:cNvSpPr/>
          <p:nvPr/>
        </p:nvSpPr>
        <p:spPr>
          <a:xfrm>
            <a:off x="7325472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1" name="Name4"/>
          <p:cNvSpPr/>
          <p:nvPr/>
        </p:nvSpPr>
        <p:spPr>
          <a:xfrm>
            <a:off x="7405472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And Physiotherapy Institutes</a:t>
            </a:r>
          </a:p>
        </p:txBody>
      </p:sp>
      <p:sp>
        <p:nvSpPr>
          <p:cNvPr id="132" name="PhotoFrame4"/>
          <p:cNvSpPr/>
          <p:nvPr/>
        </p:nvSpPr>
        <p:spPr>
          <a:xfrm>
            <a:off x="7475472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33" name="Photo1_OrthopedicBuilding"/>
          <p:cNvPicPr>
            <a:picLocks noChangeAspect="1"/>
          </p:cNvPicPr>
          <p:nvPr/>
        </p:nvPicPr>
        <p:blipFill>
          <a:blip r:embed="rId957"/>
          <a:stretch>
            <a:fillRect/>
          </a:stretch>
        </p:blipFill>
        <p:spPr>
          <a:xfrm>
            <a:off x="750547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34" name="PhotoDivider4"/>
          <p:nvPr/>
        </p:nvCxnSpPr>
        <p:spPr>
          <a:xfrm>
            <a:off x="8354944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36" name="Photo2_OrthopedicRoni"/>
          <p:cNvPicPr>
            <a:picLocks noChangeAspect="1"/>
          </p:cNvPicPr>
          <p:nvPr/>
        </p:nvPicPr>
        <p:blipFill>
          <a:blip r:embed="rId958"/>
          <a:stretch>
            <a:fillRect/>
          </a:stretch>
        </p:blipFill>
        <p:spPr>
          <a:xfrm>
            <a:off x="837494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35" name="NumCircle4"/>
          <p:cNvSpPr/>
          <p:nvPr/>
        </p:nvSpPr>
        <p:spPr>
          <a:xfrm>
            <a:off x="8074944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140" name="Card5"/>
          <p:cNvSpPr/>
          <p:nvPr/>
        </p:nvSpPr>
        <p:spPr>
          <a:xfrm>
            <a:off x="9584416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1" name="Name5"/>
          <p:cNvSpPr/>
          <p:nvPr/>
        </p:nvSpPr>
        <p:spPr>
          <a:xfrm>
            <a:off x="9664416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Labels</a:t>
            </a:r>
          </a:p>
        </p:txBody>
      </p:sp>
      <p:sp>
        <p:nvSpPr>
          <p:cNvPr id="142" name="PhotoFrame5"/>
          <p:cNvSpPr/>
          <p:nvPr/>
        </p:nvSpPr>
        <p:spPr>
          <a:xfrm>
            <a:off x="9734416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46" name="Photo1_PrivateToeCushion"/>
          <p:cNvPicPr>
            <a:picLocks noChangeAspect="1"/>
          </p:cNvPicPr>
          <p:nvPr/>
        </p:nvPicPr>
        <p:blipFill>
          <a:blip r:embed="rId959"/>
          <a:stretch>
            <a:fillRect/>
          </a:stretch>
        </p:blipFill>
        <p:spPr>
          <a:xfrm>
            <a:off x="9764416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Pr id="147" name="PhotoDivider5"/>
          <p:cNvCxnSpPr/>
          <p:nvPr/>
        </p:nvCxnSpPr>
        <p:spPr>
          <a:xfrm>
            <a:off x="10613888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48" name="Photo2_PrivateGelInsoles"/>
          <p:cNvPicPr>
            <a:picLocks noChangeAspect="1"/>
          </p:cNvPicPr>
          <p:nvPr/>
        </p:nvPicPr>
        <p:blipFill>
          <a:blip r:embed="rId960"/>
          <a:stretch>
            <a:fillRect/>
          </a:stretch>
        </p:blipFill>
        <p:spPr>
          <a:xfrm>
            <a:off x="10633888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45" name="NumCircle5"/>
          <p:cNvSpPr/>
          <p:nvPr/>
        </p:nvSpPr>
        <p:spPr>
          <a:xfrm>
            <a:off x="10333888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ulation Around The World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0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THE WORLD</a:t>
            </a:r>
          </a:p>
        </p:txBody>
      </p:sp>
      <p:sp>
        <p:nvSpPr>
          <p:cNvPr id="3" name="Body"/>
          <p:cNvSpPr/>
          <p:nvPr/>
        </p:nvSpPr>
        <p:spPr>
          <a:xfrm>
            <a:off x="548640" y="2350000"/>
            <a:ext cx="95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 meets the highest standards of the authorities in Israel and around the world.</a:t>
            </a:r>
          </a:p>
        </p:txBody>
      </p:sp>
      <p:sp>
        <p:nvSpPr>
          <p:cNvPr id="100" name="LogoCard1"/>
          <p:cNvSpPr/>
          <p:nvPr/>
        </p:nvSpPr>
        <p:spPr>
          <a:xfrm>
            <a:off x="54864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1" name="Logo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825" y="4475000"/>
            <a:ext cx="1674309" cy="950000"/>
          </a:xfrm>
          <a:prstGeom prst="rect">
            <a:avLst/>
          </a:prstGeom>
        </p:spPr>
      </p:pic>
      <p:sp>
        <p:nvSpPr>
          <p:cNvPr id="110" name="LogoCard2"/>
          <p:cNvSpPr/>
          <p:nvPr/>
        </p:nvSpPr>
        <p:spPr>
          <a:xfrm>
            <a:off x="339732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1" name="Logo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05108" y="4598652"/>
            <a:ext cx="1733102" cy="702694"/>
          </a:xfrm>
          <a:prstGeom prst="rect">
            <a:avLst/>
          </a:prstGeom>
        </p:spPr>
      </p:pic>
      <p:sp>
        <p:nvSpPr>
          <p:cNvPr id="120" name="LogoCard3"/>
          <p:cNvSpPr/>
          <p:nvPr/>
        </p:nvSpPr>
        <p:spPr>
          <a:xfrm>
            <a:off x="624600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21" name="Logo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91493" y="4475000"/>
            <a:ext cx="1257692" cy="950000"/>
          </a:xfrm>
          <a:prstGeom prst="rect">
            <a:avLst/>
          </a:prstGeom>
        </p:spPr>
      </p:pic>
      <p:sp>
        <p:nvSpPr>
          <p:cNvPr id="130" name="LogoCard4"/>
          <p:cNvSpPr/>
          <p:nvPr/>
        </p:nvSpPr>
        <p:spPr>
          <a:xfrm>
            <a:off x="909468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1" name="Logo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02468" y="4522763"/>
            <a:ext cx="1733102" cy="854473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dical to Lifesty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5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LIFESTYLE</a:t>
            </a:r>
          </a:p>
        </p:txBody>
      </p:sp>
      <p:pic>
        <p:nvPicPr>
          <p:cNvPr id="110" name="Photo1_Medic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0000"/>
            <a:ext cx="5213750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Lifesty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25" y="1350000"/>
            <a:ext cx="5196335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cxnSp>
        <p:nvCxnSpPr>
          <p:cNvPr id="200" name="ConnectorBeam"/>
          <p:cNvCxnSpPr/>
          <p:nvPr/>
        </p:nvCxnSpPr>
        <p:spPr>
          <a:xfrm>
            <a:off x="5762390" y="3600000"/>
            <a:ext cx="684635" cy="0"/>
          </a:xfrm>
          <a:prstGeom prst="line">
            <a:avLst/>
          </a:prstGeom>
          <a:ln w="139700" cap="rnd">
            <a:solidFill>
              <a:srgbClr val="FFD500"/>
            </a:solidFill>
            <a:headEnd type="triangle" w="lg" len="lg"/>
            <a:tailEnd type="triangle" w="lg" len="lg"/>
          </a:ln>
        </p:spPr>
      </p:cxnSp>
      <p:sp>
        <p:nvSpPr>
          <p:cNvPr id="201" name="SynergyBadge"/>
          <p:cNvSpPr/>
          <p:nvPr/>
        </p:nvSpPr>
        <p:spPr>
          <a:xfrm>
            <a:off x="5654707" y="3150000"/>
            <a:ext cx="900000" cy="900000"/>
          </a:xfrm>
          <a:prstGeom prst="ellipse">
            <a:avLst/>
          </a:prstGeom>
          <a:solidFill>
            <a:srgbClr val="140D41"/>
          </a:solidFill>
          <a:ln w="38100">
            <a:solidFill>
              <a:srgbClr val="FFD500"/>
            </a:solidFill>
          </a:ln>
          <a:effectLst>
            <a:outerShdw blurRad="127000" dist="50800" dir="5400000" algn="bl" rotWithShape="0">
              <a:srgbClr val="0A0630">
                <a:alpha val="35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</a:p>
        </p:txBody>
      </p:sp>
      <p:sp>
        <p:nvSpPr>
          <p:cNvPr id="210" name="MedicalBadge"/>
          <p:cNvSpPr/>
          <p:nvPr/>
        </p:nvSpPr>
        <p:spPr>
          <a:xfrm>
            <a:off x="698640" y="1500000"/>
            <a:ext cx="14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</a:p>
        </p:txBody>
      </p:sp>
      <p:sp>
        <p:nvSpPr>
          <p:cNvPr id="211" name="LifestyleBadge"/>
          <p:cNvSpPr/>
          <p:nvPr/>
        </p:nvSpPr>
        <p:spPr>
          <a:xfrm>
            <a:off x="6597025" y="1500000"/>
            <a:ext cx="16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Sto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STORY</a:t>
            </a:r>
          </a:p>
        </p:txBody>
      </p:sp>
      <p:cxnSp>
        <p:nvCxnSpPr>
          <p:cNvPr id="10" name="Trunk"/>
          <p:cNvCxnSpPr/>
          <p:nvPr/>
        </p:nvCxnSpPr>
        <p:spPr>
          <a:xfrm>
            <a:off x="1341120" y="3825000"/>
            <a:ext cx="9509760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00" name="Connector0"/>
          <p:cNvCxnSpPr/>
          <p:nvPr/>
        </p:nvCxnSpPr>
        <p:spPr>
          <a:xfrm>
            <a:off x="1341120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1" name="Card0"/>
          <p:cNvSpPr/>
          <p:nvPr/>
        </p:nvSpPr>
        <p:spPr>
          <a:xfrm>
            <a:off x="516120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established by Mr. Uriel Rozen</a:t>
            </a:r>
          </a:p>
        </p:txBody>
      </p:sp>
      <p:sp>
        <p:nvSpPr>
          <p:cNvPr id="102" name="YearCircle0"/>
          <p:cNvSpPr/>
          <p:nvPr/>
        </p:nvSpPr>
        <p:spPr>
          <a:xfrm>
            <a:off x="96612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</a:t>
            </a:r>
          </a:p>
        </p:txBody>
      </p:sp>
      <p:cxnSp>
        <p:nvCxnSpPr>
          <p:cNvPr id="110" name="Connector1"/>
          <p:cNvCxnSpPr/>
          <p:nvPr/>
        </p:nvCxnSpPr>
        <p:spPr>
          <a:xfrm>
            <a:off x="2699657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11" name="Card1"/>
          <p:cNvSpPr/>
          <p:nvPr/>
        </p:nvSpPr>
        <p:spPr>
          <a:xfrm>
            <a:off x="1874657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Meditex Group LTD,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Market leader</a:t>
            </a:r>
          </a:p>
        </p:txBody>
      </p:sp>
      <p:sp>
        <p:nvSpPr>
          <p:cNvPr id="112" name="YearCircle1"/>
          <p:cNvSpPr/>
          <p:nvPr/>
        </p:nvSpPr>
        <p:spPr>
          <a:xfrm>
            <a:off x="2324657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1982</a:t>
            </a:r>
          </a:p>
        </p:txBody>
      </p:sp>
      <p:cxnSp>
        <p:nvCxnSpPr>
          <p:cNvPr id="120" name="Connector2"/>
          <p:cNvCxnSpPr/>
          <p:nvPr/>
        </p:nvCxnSpPr>
        <p:spPr>
          <a:xfrm>
            <a:off x="4058194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21" name="Card2"/>
          <p:cNvSpPr/>
          <p:nvPr/>
        </p:nvSpPr>
        <p:spPr>
          <a:xfrm>
            <a:off x="3233194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to the orthopedic world</a:t>
            </a:r>
          </a:p>
        </p:txBody>
      </p:sp>
      <p:sp>
        <p:nvSpPr>
          <p:cNvPr id="122" name="YearCircle2"/>
          <p:cNvSpPr/>
          <p:nvPr/>
        </p:nvSpPr>
        <p:spPr>
          <a:xfrm>
            <a:off x="3683194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</a:p>
        </p:txBody>
      </p:sp>
      <p:cxnSp>
        <p:nvCxnSpPr>
          <p:cNvPr id="130" name="Connector3"/>
          <p:cNvCxnSpPr/>
          <p:nvPr/>
        </p:nvCxnSpPr>
        <p:spPr>
          <a:xfrm>
            <a:off x="5416731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31" name="Card3"/>
          <p:cNvSpPr/>
          <p:nvPr/>
        </p:nvSpPr>
        <p:spPr>
          <a:xfrm>
            <a:off x="4591731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Becoming official supplier of Hospitals</a:t>
            </a:r>
          </a:p>
        </p:txBody>
      </p:sp>
      <p:sp>
        <p:nvSpPr>
          <p:cNvPr id="132" name="YearCircle3"/>
          <p:cNvSpPr/>
          <p:nvPr/>
        </p:nvSpPr>
        <p:spPr>
          <a:xfrm>
            <a:off x="5041731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</a:p>
        </p:txBody>
      </p:sp>
      <p:cxnSp>
        <p:nvCxnSpPr>
          <p:cNvPr id="140" name="Connector4"/>
          <p:cNvCxnSpPr/>
          <p:nvPr/>
        </p:nvCxnSpPr>
        <p:spPr>
          <a:xfrm>
            <a:off x="6775268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41" name="Card4"/>
          <p:cNvSpPr/>
          <p:nvPr/>
        </p:nvSpPr>
        <p:spPr>
          <a:xfrm>
            <a:off x="5950268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Going worldwide,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Serving over 20 countries </a:t>
            </a:r>
          </a:p>
        </p:txBody>
      </p:sp>
      <p:sp>
        <p:nvSpPr>
          <p:cNvPr id="142" name="YearCircle4"/>
          <p:cNvSpPr/>
          <p:nvPr/>
        </p:nvSpPr>
        <p:spPr>
          <a:xfrm>
            <a:off x="6400268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</a:p>
        </p:txBody>
      </p:sp>
      <p:cxnSp>
        <p:nvCxnSpPr>
          <p:cNvPr id="150" name="Connector5"/>
          <p:cNvCxnSpPr/>
          <p:nvPr/>
        </p:nvCxnSpPr>
        <p:spPr>
          <a:xfrm>
            <a:off x="8133805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51" name="Card5"/>
          <p:cNvSpPr/>
          <p:nvPr/>
        </p:nvSpPr>
        <p:spPr>
          <a:xfrm>
            <a:off x="7308805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ownership</a:t>
            </a:r>
          </a:p>
        </p:txBody>
      </p:sp>
      <p:sp>
        <p:nvSpPr>
          <p:cNvPr id="152" name="YearCircle5"/>
          <p:cNvSpPr/>
          <p:nvPr/>
        </p:nvSpPr>
        <p:spPr>
          <a:xfrm>
            <a:off x="7758805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</a:p>
        </p:txBody>
      </p:sp>
      <p:cxnSp>
        <p:nvCxnSpPr>
          <p:cNvPr id="160" name="Connector6"/>
          <p:cNvCxnSpPr/>
          <p:nvPr/>
        </p:nvCxnSpPr>
        <p:spPr>
          <a:xfrm>
            <a:off x="9492342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61" name="Card6"/>
          <p:cNvSpPr/>
          <p:nvPr/>
        </p:nvSpPr>
        <p:spPr>
          <a:xfrm>
            <a:off x="8667342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Opening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Uriel.co.il</a:t>
            </a:r>
          </a:p>
        </p:txBody>
      </p:sp>
      <p:sp>
        <p:nvSpPr>
          <p:cNvPr id="162" name="YearCircle6"/>
          <p:cNvSpPr/>
          <p:nvPr/>
        </p:nvSpPr>
        <p:spPr>
          <a:xfrm>
            <a:off x="9117342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</a:p>
        </p:txBody>
      </p:sp>
      <p:cxnSp>
        <p:nvCxnSpPr>
          <p:cNvPr id="170" name="Connector7"/>
          <p:cNvCxnSpPr/>
          <p:nvPr/>
        </p:nvCxnSpPr>
        <p:spPr>
          <a:xfrm>
            <a:off x="10850880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71" name="Card7"/>
          <p:cNvSpPr/>
          <p:nvPr/>
        </p:nvSpPr>
        <p:spPr>
          <a:xfrm>
            <a:off x="10025880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Acquisitions and JV's</a:t>
            </a:r>
          </a:p>
        </p:txBody>
      </p:sp>
      <p:sp>
        <p:nvSpPr>
          <p:cNvPr id="172" name="YearCircle7"/>
          <p:cNvSpPr/>
          <p:nvPr/>
        </p:nvSpPr>
        <p:spPr>
          <a:xfrm>
            <a:off x="1047588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