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he-5-agents/104e019b-481e-5835-b5aa-7854a99e3b07/scratchpad/work/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84048"/>
            <a:ext cx="512064" cy="512064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234440" y="347472"/>
            <a:ext cx="104086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2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כלל הרשת — 20 הסניפים החזקים ביותר באורתופדיה, לפי סוכן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950976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מבוסס על 308 סניפי הרשת (סופר פארם) · דירוג לפי מיקום באורתופדיה ברמת הרשת כולה, ללא סינון לפי סוכן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42255" y="1298448"/>
          <a:ext cx="6492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463040"/>
                <a:gridCol w="3200400"/>
                <a:gridCol w="5486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מכירות 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שם הסוכן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שם הסניף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</a:tr>
              <a:tr h="2350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47,114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B4B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סטאס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ביג באר שבע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0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52,371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6EA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חיים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תל השומר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50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40,303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2F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דודו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הדסה עין כרם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0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30,919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2F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דודו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קניון-מודיעין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50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34,182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2F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דודו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אשדוד סטאר-סנטר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0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24,534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6EA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חיים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רמת אביב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50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ללא סוכן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אתר סחר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0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31,154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6EA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חיים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לונדון מיניסטור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50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34,994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7A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חדש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כרמיאל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0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28,101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7A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חדש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גרנד קניון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50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34,208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2F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דודו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גאלרי כיכר-ציון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0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23,252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6EA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חיים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איכילוב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50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24,092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2F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דודו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קניון רחובות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0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31,106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2F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דודו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מודיעין ישפרו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50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21,970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2F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דודו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בילו סנטר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0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25,566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2F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דודו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גאלרי מלחה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50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29,917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2F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דודו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אשקלון גירון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0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26,015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B4B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סטאס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קניון איילון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50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24,424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7A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חדש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קרית אונו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0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22,057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6EA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חיים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שיכון דן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1298448"/>
            <a:ext cx="4510735" cy="5084064"/>
          </a:xfrm>
          <a:prstGeom prst="roundRect">
            <a:avLst>
              <a:gd name="adj" fmla="val 2433"/>
            </a:avLst>
          </a:prstGeom>
          <a:solidFill>
            <a:srgbClr val="002F6C"/>
          </a:solidFill>
          <a:ln/>
          <a:effectLst>
            <a:outerShdw sx="100000" sy="100000" kx="0" ky="0" algn="bl" rotWithShape="0" blurRad="76200" dist="25400" dir="5400000">
              <a:srgbClr val="1A1A1A">
                <a:alpha val="2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77240" y="1554480"/>
            <a:ext cx="3870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כמה סניפים יש לכל סוכן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4501591" y="217627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9DB6DC"/>
          </a:solidFill>
          <a:ln/>
        </p:spPr>
      </p:sp>
      <p:sp>
        <p:nvSpPr>
          <p:cNvPr id="11" name="Text 7"/>
          <p:cNvSpPr/>
          <p:nvPr/>
        </p:nvSpPr>
        <p:spPr>
          <a:xfrm>
            <a:off x="777240" y="2139696"/>
            <a:ext cx="36329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דודו</a:t>
            </a:r>
            <a:pPr algn="r" indent="0" marL="0">
              <a:buNone/>
            </a:pPr>
            <a:r>
              <a:rPr lang="en-US" sz="1300" dirty="0">
                <a:solidFill>
                  <a:srgbClr val="C7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68 סניפים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1656934" y="2432304"/>
            <a:ext cx="2990961" cy="201168"/>
          </a:xfrm>
          <a:prstGeom prst="roundRect">
            <a:avLst>
              <a:gd name="adj" fmla="val 22727"/>
            </a:avLst>
          </a:prstGeom>
          <a:solidFill>
            <a:srgbClr val="FFC72C"/>
          </a:solidFill>
          <a:ln/>
        </p:spPr>
      </p:sp>
      <p:sp>
        <p:nvSpPr>
          <p:cNvPr id="13" name="Shape 9"/>
          <p:cNvSpPr/>
          <p:nvPr/>
        </p:nvSpPr>
        <p:spPr>
          <a:xfrm>
            <a:off x="4501591" y="283464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9CC0E6"/>
          </a:solidFill>
          <a:ln/>
        </p:spPr>
      </p:sp>
      <p:sp>
        <p:nvSpPr>
          <p:cNvPr id="14" name="Text 10"/>
          <p:cNvSpPr/>
          <p:nvPr/>
        </p:nvSpPr>
        <p:spPr>
          <a:xfrm>
            <a:off x="777240" y="2798064"/>
            <a:ext cx="36329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חיים</a:t>
            </a:r>
            <a:pPr algn="r" indent="0" marL="0">
              <a:buNone/>
            </a:pPr>
            <a:r>
              <a:rPr lang="en-US" sz="1300" dirty="0">
                <a:solidFill>
                  <a:srgbClr val="C7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84 סניפים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953179" y="3090672"/>
            <a:ext cx="3694716" cy="201168"/>
          </a:xfrm>
          <a:prstGeom prst="roundRect">
            <a:avLst>
              <a:gd name="adj" fmla="val 22727"/>
            </a:avLst>
          </a:prstGeom>
          <a:solidFill>
            <a:srgbClr val="FFC72C"/>
          </a:solidFill>
          <a:ln/>
        </p:spPr>
      </p:sp>
      <p:sp>
        <p:nvSpPr>
          <p:cNvPr id="16" name="Shape 12"/>
          <p:cNvSpPr/>
          <p:nvPr/>
        </p:nvSpPr>
        <p:spPr>
          <a:xfrm>
            <a:off x="4501591" y="349300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CDA6DC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3456432"/>
            <a:ext cx="36329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סטאס</a:t>
            </a:r>
            <a:pPr algn="r" indent="0" marL="0">
              <a:buNone/>
            </a:pPr>
            <a:r>
              <a:rPr lang="en-US" sz="1300" dirty="0">
                <a:solidFill>
                  <a:srgbClr val="C7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66 סניפים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1744904" y="3749040"/>
            <a:ext cx="2902991" cy="201168"/>
          </a:xfrm>
          <a:prstGeom prst="roundRect">
            <a:avLst>
              <a:gd name="adj" fmla="val 22727"/>
            </a:avLst>
          </a:prstGeom>
          <a:solidFill>
            <a:srgbClr val="FFC72C"/>
          </a:solidFill>
          <a:ln/>
        </p:spPr>
      </p:sp>
      <p:sp>
        <p:nvSpPr>
          <p:cNvPr id="19" name="Shape 15"/>
          <p:cNvSpPr/>
          <p:nvPr/>
        </p:nvSpPr>
        <p:spPr>
          <a:xfrm>
            <a:off x="4501591" y="415137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8FD3CB"/>
          </a:solidFill>
          <a:ln/>
        </p:spPr>
      </p:sp>
      <p:sp>
        <p:nvSpPr>
          <p:cNvPr id="20" name="Text 16"/>
          <p:cNvSpPr/>
          <p:nvPr/>
        </p:nvSpPr>
        <p:spPr>
          <a:xfrm>
            <a:off x="777240" y="4114800"/>
            <a:ext cx="36329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חדש</a:t>
            </a:r>
            <a:pPr algn="r" indent="0" marL="0">
              <a:buNone/>
            </a:pPr>
            <a:r>
              <a:rPr lang="en-US" sz="1300" dirty="0">
                <a:solidFill>
                  <a:srgbClr val="C7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88 סניפים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777240" y="4407408"/>
            <a:ext cx="3870655" cy="201168"/>
          </a:xfrm>
          <a:prstGeom prst="roundRect">
            <a:avLst>
              <a:gd name="adj" fmla="val 22727"/>
            </a:avLst>
          </a:prstGeom>
          <a:solidFill>
            <a:srgbClr val="FFC72C"/>
          </a:solidFill>
          <a:ln/>
        </p:spPr>
      </p:sp>
      <p:sp>
        <p:nvSpPr>
          <p:cNvPr id="22" name="Shape 18"/>
          <p:cNvSpPr/>
          <p:nvPr/>
        </p:nvSpPr>
        <p:spPr>
          <a:xfrm>
            <a:off x="4501591" y="480974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C3C8D1"/>
          </a:solidFill>
          <a:ln/>
        </p:spPr>
      </p:sp>
      <p:sp>
        <p:nvSpPr>
          <p:cNvPr id="23" name="Text 19"/>
          <p:cNvSpPr/>
          <p:nvPr/>
        </p:nvSpPr>
        <p:spPr>
          <a:xfrm>
            <a:off x="777240" y="4773168"/>
            <a:ext cx="36329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ללא סוכן</a:t>
            </a:r>
            <a:pPr algn="r" indent="0" marL="0">
              <a:buNone/>
            </a:pPr>
            <a:r>
              <a:rPr lang="en-US" sz="1300" dirty="0">
                <a:solidFill>
                  <a:srgbClr val="C7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2 סניפים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4538167" y="5065776"/>
            <a:ext cx="109728" cy="201168"/>
          </a:xfrm>
          <a:prstGeom prst="roundRect">
            <a:avLst>
              <a:gd name="adj" fmla="val 41667"/>
            </a:avLst>
          </a:prstGeom>
          <a:solidFill>
            <a:srgbClr val="FFC72C"/>
          </a:solidFill>
          <a:ln/>
        </p:spPr>
      </p:sp>
      <p:sp>
        <p:nvSpPr>
          <p:cNvPr id="25" name="Text 21"/>
          <p:cNvSpPr/>
          <p:nvPr/>
        </p:nvSpPr>
        <p:spPr>
          <a:xfrm>
            <a:off x="777240" y="5522976"/>
            <a:ext cx="3870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סה"כ 308 </a:t>
            </a:r>
            <a:pPr algn="r" indent="0" marL="0">
              <a:buNone/>
            </a:pPr>
            <a:r>
              <a:rPr lang="en-US" sz="1300" dirty="0">
                <a:solidFill>
                  <a:srgbClr val="C7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סניפים ברשת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2026-08-01T16:41:09Z</dcterms:created>
  <dcterms:modified xsi:type="dcterms:W3CDTF">2026-08-01T16:41:09Z</dcterms:modified>
</cp:coreProperties>
</file>