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"/>
            <a:ext cx="100584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2500" b="1">
                <a:solidFill>
                  <a:srgbClr val="2F5597"/>
                </a:solidFill>
                <a:latin typeface="Calibri"/>
              </a:rPr>
              <a:t>EPIC GEL </a:t>
            </a:r>
            <a:r>
              <a:rPr sz="2500" b="1">
                <a:solidFill>
                  <a:srgbClr val="2F5597"/>
                </a:solidFill>
                <a:latin typeface="Calibri"/>
                <a:cs typeface="Arial"/>
              </a:rPr>
              <a:t>מדרסי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078992"/>
            <a:ext cx="5285232" cy="3950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 marL="228600" indent="-228600">
              <a:spcAft>
                <a:spcPts val="1100"/>
              </a:spcAft>
              <a:buFont typeface="Arial" pitchFamily="34" charset="0"/>
              <a:buChar char="•"/>
            </a:pPr>
            <a:r>
              <a:rPr sz="1500" b="1">
                <a:solidFill>
                  <a:srgbClr val="2F5597"/>
                </a:solidFill>
                <a:latin typeface="Calibri"/>
                <a:cs typeface="Arial"/>
              </a:rPr>
              <a:t>EPIC GEL Work - לאנשים שרוב היום על הרגליים.</a:t>
            </a:r>
          </a:p>
          <a:p>
            <a:pPr algn="r" rtl="1" marL="228600" indent="-228600">
              <a:spcAft>
                <a:spcPts val="1100"/>
              </a:spcAft>
              <a:buFont typeface="Arial" pitchFamily="34" charset="0"/>
              <a:buChar char="•"/>
            </a:pPr>
            <a:r>
              <a:rPr sz="1500" b="1">
                <a:solidFill>
                  <a:srgbClr val="2F5597"/>
                </a:solidFill>
                <a:latin typeface="Calibri"/>
                <a:cs typeface="Arial"/>
              </a:rPr>
              <a:t>EPIC GEL comfort - לאנשים שרוב היום בבית או במשרד.</a:t>
            </a:r>
          </a:p>
          <a:p>
            <a:pPr algn="r" rtl="1" marL="228600" indent="-228600">
              <a:spcAft>
                <a:spcPts val="1100"/>
              </a:spcAft>
              <a:buFont typeface="Arial" pitchFamily="34" charset="0"/>
              <a:buChar char="•"/>
            </a:pPr>
            <a:r>
              <a:rPr sz="1500" b="1">
                <a:solidFill>
                  <a:srgbClr val="2F5597"/>
                </a:solidFill>
                <a:latin typeface="Calibri"/>
                <a:cs typeface="Arial"/>
              </a:rPr>
              <a:t>EPIC GEL Multisport - לאנשים בעלי אורח חיים ספורטיבי.</a:t>
            </a:r>
          </a:p>
          <a:p>
            <a:pPr algn="r" rtl="1" marL="0" indent="0">
              <a:spcAft>
                <a:spcPts val="1100"/>
              </a:spcAft>
              <a:buNone/>
            </a:pPr>
            <a:r>
              <a:rPr sz="1500" b="1">
                <a:solidFill>
                  <a:srgbClr val="2F5597"/>
                </a:solidFill>
                <a:latin typeface="Calibri"/>
                <a:cs typeface="Arial"/>
              </a:rPr>
              <a:t>המדרסים מורכבים מג'ל פטנטי ייחודי בעלי 3 שכבות למיטוב ביצועים והקלה על כפות הרגליים:</a:t>
            </a:r>
          </a:p>
          <a:p>
            <a:pPr algn="r" rtl="1" marL="228600" indent="-228600">
              <a:spcAft>
                <a:spcPts val="1100"/>
              </a:spcAft>
              <a:buFont typeface="Arial" pitchFamily="34" charset="0"/>
              <a:buChar char="•"/>
            </a:pPr>
            <a:r>
              <a:rPr sz="1500" b="1">
                <a:solidFill>
                  <a:srgbClr val="2F5597"/>
                </a:solidFill>
                <a:latin typeface="Calibri"/>
                <a:cs typeface="Arial"/>
              </a:rPr>
              <a:t>שכבה עליונה - עשויה מיקרופייבר אנטיבקטריאלי בשילוב טכנולוגיית ייבוש מהיר.</a:t>
            </a:r>
          </a:p>
          <a:p>
            <a:pPr algn="r" rtl="1" marL="228600" indent="-228600">
              <a:spcAft>
                <a:spcPts val="1100"/>
              </a:spcAft>
              <a:buFont typeface="Arial" pitchFamily="34" charset="0"/>
              <a:buChar char="•"/>
            </a:pPr>
            <a:r>
              <a:rPr sz="1500" b="1">
                <a:solidFill>
                  <a:srgbClr val="2F5597"/>
                </a:solidFill>
                <a:latin typeface="Calibri"/>
                <a:cs typeface="Arial"/>
              </a:rPr>
              <a:t>שכבה אמצעית - 100% ספוג נושם המשלב פחם אקטיבי למניעת זיעה וריחות רעים.</a:t>
            </a:r>
          </a:p>
          <a:p>
            <a:pPr algn="r" rtl="1" marL="228600" indent="-228600">
              <a:spcAft>
                <a:spcPts val="1100"/>
              </a:spcAft>
              <a:buFont typeface="Arial" pitchFamily="34" charset="0"/>
              <a:buChar char="•"/>
            </a:pPr>
            <a:r>
              <a:rPr sz="1500" b="1">
                <a:solidFill>
                  <a:srgbClr val="2F5597"/>
                </a:solidFill>
                <a:latin typeface="Calibri"/>
                <a:cs typeface="Arial"/>
              </a:rPr>
              <a:t>שכבה תחתונה - שכבת ג'ל פטנטי לבלימת זעזועים ופיזור עומסים.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1078992"/>
            <a:ext cx="2926080" cy="1679704"/>
          </a:xfrm>
          <a:prstGeom prst="rect">
            <a:avLst/>
          </a:prstGeom>
        </p:spPr>
      </p:pic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580" y="2923288"/>
            <a:ext cx="3840480" cy="2169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19379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175504"/>
            <a:ext cx="100858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400" b="1">
                <a:solidFill>
                  <a:srgbClr val="2F5597"/>
                </a:solidFill>
                <a:latin typeface="Calibri"/>
              </a:rPr>
              <a:t>SELL OUT </a:t>
            </a:r>
            <a:r>
              <a:rPr sz="1400" b="1">
                <a:solidFill>
                  <a:srgbClr val="2F5597"/>
                </a:solidFill>
                <a:latin typeface="Calibri"/>
                <a:cs typeface="Arial"/>
              </a:rPr>
              <a:t>סופרפארם – 26 אוקטובר–דצמבר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68112"/>
            <a:ext cx="111831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 rtl="1"/>
            <a:r>
              <a:rPr sz="1100" b="1">
                <a:solidFill>
                  <a:srgbClr val="2F5597"/>
                </a:solidFill>
                <a:latin typeface="Calibri"/>
                <a:cs typeface="Arial"/>
              </a:rPr>
              <a:t>בחודשים אוקטובר–דצמבר נתרכז במבצע סייל אאוט בסופרפארם.  מבצע לצרכן – 149.90 ₪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423160" y="5705856"/>
          <a:ext cx="7342632" cy="731520"/>
        </p:xfrm>
        <a:graphic>
          <a:graphicData uri="http://schemas.openxmlformats.org/drawingml/2006/table">
            <a:tbl>
              <a:tblPr firstRow="0" bandRow="0"/>
              <a:tblGrid>
                <a:gridCol w="1835658"/>
                <a:gridCol w="1835658"/>
                <a:gridCol w="1835658"/>
                <a:gridCol w="1835658"/>
              </a:tblGrid>
              <a:tr h="347472">
                <a:tc>
                  <a:txBody>
                    <a:bodyPr wrap="square"/>
                    <a:lstStyle/>
                    <a:p>
                      <a:pPr algn="ctr" rtl="1"/>
                      <a:r>
                        <a:rPr sz="1000" b="1">
                          <a:solidFill>
                            <a:srgbClr val="2F5597"/>
                          </a:solidFill>
                          <a:latin typeface="Calibri"/>
                          <a:cs typeface="Arial"/>
                        </a:rPr>
                        <a:t>מחיר קניה שוטף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9525" cap="flat" cmpd="sng" algn="ctr">
                      <a:solidFill>
                        <a:srgbClr val="2F5597"/>
                      </a:solidFill>
                    </a:lnL>
                    <a:lnR w="9525" cap="flat" cmpd="sng" algn="ctr">
                      <a:solidFill>
                        <a:srgbClr val="2F5597"/>
                      </a:solidFill>
                    </a:lnR>
                    <a:lnT w="9525" cap="flat" cmpd="sng" algn="ctr">
                      <a:solidFill>
                        <a:srgbClr val="2F5597"/>
                      </a:solidFill>
                    </a:lnT>
                    <a:lnB w="9525" cap="flat" cmpd="sng" algn="ctr">
                      <a:solidFill>
                        <a:srgbClr val="2F559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000" b="1">
                          <a:solidFill>
                            <a:srgbClr val="2F5597"/>
                          </a:solidFill>
                          <a:latin typeface="Calibri"/>
                          <a:cs typeface="Arial"/>
                        </a:rPr>
                        <a:t>מחיר קניה כולל הנחת החדרה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9525" cap="flat" cmpd="sng" algn="ctr">
                      <a:solidFill>
                        <a:srgbClr val="2F5597"/>
                      </a:solidFill>
                    </a:lnL>
                    <a:lnR w="9525" cap="flat" cmpd="sng" algn="ctr">
                      <a:solidFill>
                        <a:srgbClr val="2F5597"/>
                      </a:solidFill>
                    </a:lnR>
                    <a:lnT w="9525" cap="flat" cmpd="sng" algn="ctr">
                      <a:solidFill>
                        <a:srgbClr val="2F5597"/>
                      </a:solidFill>
                    </a:lnT>
                    <a:lnB w="9525" cap="flat" cmpd="sng" algn="ctr">
                      <a:solidFill>
                        <a:srgbClr val="2F559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000" b="1">
                          <a:solidFill>
                            <a:srgbClr val="2F5597"/>
                          </a:solidFill>
                          <a:latin typeface="Calibri"/>
                          <a:cs typeface="Arial"/>
                        </a:rPr>
                        <a:t>מחיר מומלץ לצרכן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9525" cap="flat" cmpd="sng" algn="ctr">
                      <a:solidFill>
                        <a:srgbClr val="2F5597"/>
                      </a:solidFill>
                    </a:lnL>
                    <a:lnR w="9525" cap="flat" cmpd="sng" algn="ctr">
                      <a:solidFill>
                        <a:srgbClr val="2F5597"/>
                      </a:solidFill>
                    </a:lnR>
                    <a:lnT w="9525" cap="flat" cmpd="sng" algn="ctr">
                      <a:solidFill>
                        <a:srgbClr val="2F5597"/>
                      </a:solidFill>
                    </a:lnT>
                    <a:lnB w="9525" cap="flat" cmpd="sng" algn="ctr">
                      <a:solidFill>
                        <a:srgbClr val="2F559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000" b="1">
                          <a:solidFill>
                            <a:srgbClr val="2F5597"/>
                          </a:solidFill>
                          <a:latin typeface="Calibri"/>
                          <a:cs typeface="Arial"/>
                        </a:rPr>
                        <a:t>ריווחיות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9525" cap="flat" cmpd="sng" algn="ctr">
                      <a:solidFill>
                        <a:srgbClr val="2F5597"/>
                      </a:solidFill>
                    </a:lnL>
                    <a:lnR w="9525" cap="flat" cmpd="sng" algn="ctr">
                      <a:solidFill>
                        <a:srgbClr val="2F5597"/>
                      </a:solidFill>
                    </a:lnR>
                    <a:lnT w="9525" cap="flat" cmpd="sng" algn="ctr">
                      <a:solidFill>
                        <a:srgbClr val="2F5597"/>
                      </a:solidFill>
                    </a:lnT>
                    <a:lnB w="9525" cap="flat" cmpd="sng" algn="ctr">
                      <a:solidFill>
                        <a:srgbClr val="2F5597"/>
                      </a:solidFill>
                    </a:lnB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ctr" rtl="1"/>
                      <a:r>
                        <a:rPr sz="1000" b="1">
                          <a:solidFill>
                            <a:srgbClr val="2F5597"/>
                          </a:solidFill>
                          <a:latin typeface="Calibri"/>
                          <a:cs typeface="Arial"/>
                        </a:rPr>
                        <a:t>102.73 ₪</a:t>
                      </a:r>
                    </a:p>
                  </a:txBody>
                  <a:tcPr anchor="ctr" marL="45720" marR="45720" marT="9144" marB="9144">
                    <a:solidFill>
                      <a:srgbClr val="D9E2F3"/>
                    </a:solidFill>
                    <a:lnL w="9525" cap="flat" cmpd="sng" algn="ctr">
                      <a:solidFill>
                        <a:srgbClr val="2F5597"/>
                      </a:solidFill>
                    </a:lnL>
                    <a:lnR w="9525" cap="flat" cmpd="sng" algn="ctr">
                      <a:solidFill>
                        <a:srgbClr val="2F5597"/>
                      </a:solidFill>
                    </a:lnR>
                    <a:lnT w="9525" cap="flat" cmpd="sng" algn="ctr">
                      <a:solidFill>
                        <a:srgbClr val="2F5597"/>
                      </a:solidFill>
                    </a:lnT>
                    <a:lnB w="9525" cap="flat" cmpd="sng" algn="ctr">
                      <a:solidFill>
                        <a:srgbClr val="2F559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000" b="1">
                          <a:solidFill>
                            <a:srgbClr val="2F5597"/>
                          </a:solidFill>
                          <a:latin typeface="Calibri"/>
                          <a:cs typeface="Arial"/>
                        </a:rPr>
                        <a:t>92.46 ₪</a:t>
                      </a:r>
                    </a:p>
                  </a:txBody>
                  <a:tcPr anchor="ctr" marL="45720" marR="45720" marT="9144" marB="9144">
                    <a:solidFill>
                      <a:srgbClr val="D9E2F3"/>
                    </a:solidFill>
                    <a:lnL w="9525" cap="flat" cmpd="sng" algn="ctr">
                      <a:solidFill>
                        <a:srgbClr val="2F5597"/>
                      </a:solidFill>
                    </a:lnL>
                    <a:lnR w="9525" cap="flat" cmpd="sng" algn="ctr">
                      <a:solidFill>
                        <a:srgbClr val="2F5597"/>
                      </a:solidFill>
                    </a:lnR>
                    <a:lnT w="9525" cap="flat" cmpd="sng" algn="ctr">
                      <a:solidFill>
                        <a:srgbClr val="2F5597"/>
                      </a:solidFill>
                    </a:lnT>
                    <a:lnB w="9525" cap="flat" cmpd="sng" algn="ctr">
                      <a:solidFill>
                        <a:srgbClr val="2F559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000" b="1">
                          <a:solidFill>
                            <a:srgbClr val="2F5597"/>
                          </a:solidFill>
                          <a:latin typeface="Calibri"/>
                          <a:cs typeface="Arial"/>
                        </a:rPr>
                        <a:t>252.90 ₪</a:t>
                      </a:r>
                    </a:p>
                  </a:txBody>
                  <a:tcPr anchor="ctr" marL="45720" marR="45720" marT="9144" marB="9144">
                    <a:solidFill>
                      <a:srgbClr val="D9E2F3"/>
                    </a:solidFill>
                    <a:lnL w="9525" cap="flat" cmpd="sng" algn="ctr">
                      <a:solidFill>
                        <a:srgbClr val="2F5597"/>
                      </a:solidFill>
                    </a:lnL>
                    <a:lnR w="9525" cap="flat" cmpd="sng" algn="ctr">
                      <a:solidFill>
                        <a:srgbClr val="2F5597"/>
                      </a:solidFill>
                    </a:lnR>
                    <a:lnT w="9525" cap="flat" cmpd="sng" algn="ctr">
                      <a:solidFill>
                        <a:srgbClr val="2F5597"/>
                      </a:solidFill>
                    </a:lnT>
                    <a:lnB w="9525" cap="flat" cmpd="sng" algn="ctr">
                      <a:solidFill>
                        <a:srgbClr val="2F559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000" b="1">
                          <a:solidFill>
                            <a:srgbClr val="2F5597"/>
                          </a:solidFill>
                          <a:latin typeface="Calibri"/>
                          <a:cs typeface="Arial"/>
                        </a:rPr>
                        <a:t>57%</a:t>
                      </a:r>
                    </a:p>
                  </a:txBody>
                  <a:tcPr anchor="ctr" marL="45720" marR="45720" marT="9144" marB="9144">
                    <a:solidFill>
                      <a:srgbClr val="D9E2F3"/>
                    </a:solidFill>
                    <a:lnL w="9525" cap="flat" cmpd="sng" algn="ctr">
                      <a:solidFill>
                        <a:srgbClr val="2F5597"/>
                      </a:solidFill>
                    </a:lnL>
                    <a:lnR w="9525" cap="flat" cmpd="sng" algn="ctr">
                      <a:solidFill>
                        <a:srgbClr val="2F5597"/>
                      </a:solidFill>
                    </a:lnR>
                    <a:lnT w="9525" cap="flat" cmpd="sng" algn="ctr">
                      <a:solidFill>
                        <a:srgbClr val="2F5597"/>
                      </a:solidFill>
                    </a:lnT>
                    <a:lnB w="9525" cap="flat" cmpd="sng" algn="ctr">
                      <a:solidFill>
                        <a:srgbClr val="2F5597"/>
                      </a:solidFill>
                    </a:lnB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ctr" rtl="1"/>
                      <a:r>
                        <a:rPr sz="1000" b="1">
                          <a:solidFill>
                            <a:srgbClr val="2F5597"/>
                          </a:solidFill>
                          <a:latin typeface="Calibri"/>
                          <a:cs typeface="Arial"/>
                        </a:rPr>
                        <a:t>הזדכות 10 ₪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9525" cap="flat" cmpd="sng" algn="ctr">
                      <a:solidFill>
                        <a:srgbClr val="2F5597"/>
                      </a:solidFill>
                    </a:lnL>
                    <a:lnR w="9525" cap="flat" cmpd="sng" algn="ctr">
                      <a:solidFill>
                        <a:srgbClr val="2F5597"/>
                      </a:solidFill>
                    </a:lnR>
                    <a:lnT w="9525" cap="flat" cmpd="sng" algn="ctr">
                      <a:solidFill>
                        <a:srgbClr val="2F5597"/>
                      </a:solidFill>
                    </a:lnT>
                    <a:lnB w="9525" cap="flat" cmpd="sng" algn="ctr">
                      <a:solidFill>
                        <a:srgbClr val="2F559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000" b="1">
                          <a:solidFill>
                            <a:srgbClr val="2F5597"/>
                          </a:solidFill>
                          <a:latin typeface="Calibri"/>
                          <a:cs typeface="Arial"/>
                        </a:rPr>
                        <a:t>77.46 ₪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9525" cap="flat" cmpd="sng" algn="ctr">
                      <a:solidFill>
                        <a:srgbClr val="2F5597"/>
                      </a:solidFill>
                    </a:lnL>
                    <a:lnR w="9525" cap="flat" cmpd="sng" algn="ctr">
                      <a:solidFill>
                        <a:srgbClr val="2F5597"/>
                      </a:solidFill>
                    </a:lnR>
                    <a:lnT w="9525" cap="flat" cmpd="sng" algn="ctr">
                      <a:solidFill>
                        <a:srgbClr val="2F5597"/>
                      </a:solidFill>
                    </a:lnT>
                    <a:lnB w="9525" cap="flat" cmpd="sng" algn="ctr">
                      <a:solidFill>
                        <a:srgbClr val="2F559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000" b="1">
                          <a:solidFill>
                            <a:srgbClr val="2F5597"/>
                          </a:solidFill>
                          <a:latin typeface="Calibri"/>
                          <a:cs typeface="Arial"/>
                        </a:rPr>
                        <a:t>149.90 ₪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9525" cap="flat" cmpd="sng" algn="ctr">
                      <a:solidFill>
                        <a:srgbClr val="2F5597"/>
                      </a:solidFill>
                    </a:lnL>
                    <a:lnR w="9525" cap="flat" cmpd="sng" algn="ctr">
                      <a:solidFill>
                        <a:srgbClr val="2F5597"/>
                      </a:solidFill>
                    </a:lnR>
                    <a:lnT w="9525" cap="flat" cmpd="sng" algn="ctr">
                      <a:solidFill>
                        <a:srgbClr val="2F5597"/>
                      </a:solidFill>
                    </a:lnT>
                    <a:lnB w="9525" cap="flat" cmpd="sng" algn="ctr">
                      <a:solidFill>
                        <a:srgbClr val="2F559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000" b="1">
                          <a:solidFill>
                            <a:srgbClr val="2F5597"/>
                          </a:solidFill>
                          <a:latin typeface="Calibri"/>
                          <a:cs typeface="Arial"/>
                        </a:rPr>
                        <a:t>39%</a:t>
                      </a:r>
                    </a:p>
                  </a:txBody>
                  <a:tcPr anchor="ctr" marL="45720" marR="45720" marT="9144" marB="9144">
                    <a:solidFill>
                      <a:srgbClr val="FFFFFF"/>
                    </a:solidFill>
                    <a:lnL w="9525" cap="flat" cmpd="sng" algn="ctr">
                      <a:solidFill>
                        <a:srgbClr val="2F5597"/>
                      </a:solidFill>
                    </a:lnL>
                    <a:lnR w="9525" cap="flat" cmpd="sng" algn="ctr">
                      <a:solidFill>
                        <a:srgbClr val="2F5597"/>
                      </a:solidFill>
                    </a:lnR>
                    <a:lnT w="9525" cap="flat" cmpd="sng" algn="ctr">
                      <a:solidFill>
                        <a:srgbClr val="2F5597"/>
                      </a:solidFill>
                    </a:lnT>
                    <a:lnB w="9525" cap="flat" cmpd="sng" algn="ctr">
                      <a:solidFill>
                        <a:srgbClr val="2F559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