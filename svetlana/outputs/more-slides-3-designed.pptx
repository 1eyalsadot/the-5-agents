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12"/>
    <p:sldId id="262" r:id="rId13"/>
    <p:sldId id="263" r:id="rId14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  <Relationship Id="rId12" Type="http://schemas.openxmlformats.org/officeDocument/2006/relationships/slide" Target="slides/slide6.xml"/>
  <Relationship Id="rId13" Type="http://schemas.openxmlformats.org/officeDocument/2006/relationships/slide" Target="slides/slide7.xml"/>
  <Relationship Id="rId14" Type="http://schemas.openxmlformats.org/officeDocument/2006/relationships/slide" Target="slides/slide8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Orthopedic Braces &amp; Supports Market</c:v>
                </c:pt>
              </c:strCache>
            </c:strRef>
          </c:tx>
          <c:spPr>
            <a:solidFill>
              <a:srgbClr val="140D41"/>
            </a:solidFill>
            <a:effectLst/>
          </c:spPr>
          <c:invertIfNegative val="0"/>
          <c:dLbls>
            <c:numFmt formatCode="&quot;$&quot;0.00&quot;B&quot;" sourceLinked="0"/>
            <c:txPr>
              <a:bodyPr wrap="none"/>
              <a:lstStyle/>
              <a:p>
                <a:pPr>
                  <a:defRPr b="1" i="0" strike="noStrike" sz="1100" u="none">
                    <a:solidFill>
                      <a:srgbClr val="140D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2030*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4.67</c:v>
                </c:pt>
                <c:pt idx="1">
                  <c:v>7.01</c:v>
                </c:pt>
              </c:numCache>
            </c:numRef>
          </c:val>
        </c:ser>
        <c:dLbls>
          <c:numFmt formatCode="&quot;$&quot;0.00&quot;B&quot;" sourceLinked="0"/>
          <c:txPr>
            <a:bodyPr wrap="none"/>
            <a:lstStyle/>
            <a:p>
              <a:pPr>
                <a:defRPr b="1" i="0" strike="noStrike" sz="1100" u="none">
                  <a:solidFill>
                    <a:srgbClr val="140D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6E6E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48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Market</c:v>
                </c:pt>
              </c:strCache>
            </c:strRef>
          </c:tx>
          <c:spPr>
            <a:solidFill>
              <a:srgbClr val="140D4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0D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Upper extremity</c:v>
                  </c:pt>
                  <c:pt idx="1">
                    <c:v>Lower extremity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40D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6E6E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48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Relationship Id="rId8" Type="http://schemas.openxmlformats.org/officeDocument/2006/relationships/image" Target="../media/image-2-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image" Target="../media/logo-scholl-slide7.png"/><Relationship Id="rId8" Type="http://schemas.openxmlformats.org/officeDocument/2006/relationships/image" Target="../media/logo-life-slide7.png"/><Relationship Id="rId9" Type="http://schemas.openxmlformats.org/officeDocument/2006/relationships/image" Target="../media/logo-uriel-standard-slide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0D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7863840" y="-274320"/>
            <a:ext cx="0" cy="2926080"/>
          </a:xfrm>
          <a:prstGeom prst="line">
            <a:avLst/>
          </a:prstGeom>
          <a:noFill/>
          <a:ln w="12700">
            <a:solidFill>
              <a:srgbClr val="241C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8275320" y="-274320"/>
            <a:ext cx="0" cy="3154680"/>
          </a:xfrm>
          <a:prstGeom prst="line">
            <a:avLst/>
          </a:prstGeom>
          <a:noFill/>
          <a:ln w="12700">
            <a:solidFill>
              <a:srgbClr val="241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320000">
            <a:off x="8686800" y="-274320"/>
            <a:ext cx="0" cy="3383280"/>
          </a:xfrm>
          <a:prstGeom prst="line">
            <a:avLst/>
          </a:prstGeom>
          <a:noFill/>
          <a:ln w="12700">
            <a:solidFill>
              <a:srgbClr val="241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320000">
            <a:off x="9098280" y="-274320"/>
            <a:ext cx="0" cy="3611880"/>
          </a:xfrm>
          <a:prstGeom prst="line">
            <a:avLst/>
          </a:prstGeom>
          <a:noFill/>
          <a:ln w="12700">
            <a:solidFill>
              <a:srgbClr val="241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320000">
            <a:off x="9509760" y="-274320"/>
            <a:ext cx="0" cy="3840480"/>
          </a:xfrm>
          <a:prstGeom prst="line">
            <a:avLst/>
          </a:prstGeom>
          <a:noFill/>
          <a:ln w="12700">
            <a:solidFill>
              <a:srgbClr val="241C5C"/>
            </a:solidFill>
            <a:prstDash val="solid"/>
          </a:ln>
        </p:spPr>
      </p:sp>
      <p:sp>
        <p:nvSpPr>
          <p:cNvPr id="200" name="Grid V"/>
          <p:cNvSpPr/>
          <p:nvPr/>
        </p:nvSpPr>
        <p:spPr>
          <a:xfrm>
            <a:off x="6500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01" name="Grid V"/>
          <p:cNvSpPr/>
          <p:nvPr/>
        </p:nvSpPr>
        <p:spPr>
          <a:xfrm>
            <a:off x="7008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02" name="Grid V"/>
          <p:cNvSpPr/>
          <p:nvPr/>
        </p:nvSpPr>
        <p:spPr>
          <a:xfrm>
            <a:off x="7516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03" name="Grid V"/>
          <p:cNvSpPr/>
          <p:nvPr/>
        </p:nvSpPr>
        <p:spPr>
          <a:xfrm>
            <a:off x="8024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04" name="Grid V"/>
          <p:cNvSpPr/>
          <p:nvPr/>
        </p:nvSpPr>
        <p:spPr>
          <a:xfrm>
            <a:off x="8532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05" name="Grid V"/>
          <p:cNvSpPr/>
          <p:nvPr/>
        </p:nvSpPr>
        <p:spPr>
          <a:xfrm>
            <a:off x="9040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06" name="Grid V"/>
          <p:cNvSpPr/>
          <p:nvPr/>
        </p:nvSpPr>
        <p:spPr>
          <a:xfrm>
            <a:off x="9548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07" name="Grid V"/>
          <p:cNvSpPr/>
          <p:nvPr/>
        </p:nvSpPr>
        <p:spPr>
          <a:xfrm>
            <a:off x="10056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08" name="Grid V"/>
          <p:cNvSpPr/>
          <p:nvPr/>
        </p:nvSpPr>
        <p:spPr>
          <a:xfrm>
            <a:off x="10564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09" name="Grid V"/>
          <p:cNvSpPr/>
          <p:nvPr/>
        </p:nvSpPr>
        <p:spPr>
          <a:xfrm>
            <a:off x="11072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10" name="Grid V"/>
          <p:cNvSpPr/>
          <p:nvPr/>
        </p:nvSpPr>
        <p:spPr>
          <a:xfrm>
            <a:off x="11580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11" name="Grid V"/>
          <p:cNvSpPr/>
          <p:nvPr/>
        </p:nvSpPr>
        <p:spPr>
          <a:xfrm>
            <a:off x="12088000" y="0"/>
            <a:ext cx="0" cy="685800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12" name="Grid H"/>
          <p:cNvSpPr/>
          <p:nvPr/>
        </p:nvSpPr>
        <p:spPr>
          <a:xfrm>
            <a:off x="6500000" y="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13" name="Grid H"/>
          <p:cNvSpPr/>
          <p:nvPr/>
        </p:nvSpPr>
        <p:spPr>
          <a:xfrm>
            <a:off x="6500000" y="508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14" name="Grid H"/>
          <p:cNvSpPr/>
          <p:nvPr/>
        </p:nvSpPr>
        <p:spPr>
          <a:xfrm>
            <a:off x="6500000" y="1016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15" name="Grid H"/>
          <p:cNvSpPr/>
          <p:nvPr/>
        </p:nvSpPr>
        <p:spPr>
          <a:xfrm>
            <a:off x="6500000" y="1524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16" name="Grid H"/>
          <p:cNvSpPr/>
          <p:nvPr/>
        </p:nvSpPr>
        <p:spPr>
          <a:xfrm>
            <a:off x="6500000" y="2032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17" name="Grid H"/>
          <p:cNvSpPr/>
          <p:nvPr/>
        </p:nvSpPr>
        <p:spPr>
          <a:xfrm>
            <a:off x="6500000" y="2540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18" name="Grid H"/>
          <p:cNvSpPr/>
          <p:nvPr/>
        </p:nvSpPr>
        <p:spPr>
          <a:xfrm>
            <a:off x="6500000" y="3048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19" name="Grid H"/>
          <p:cNvSpPr/>
          <p:nvPr/>
        </p:nvSpPr>
        <p:spPr>
          <a:xfrm>
            <a:off x="6500000" y="3556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20" name="Grid H"/>
          <p:cNvSpPr/>
          <p:nvPr/>
        </p:nvSpPr>
        <p:spPr>
          <a:xfrm>
            <a:off x="6500000" y="4064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21" name="Grid H"/>
          <p:cNvSpPr/>
          <p:nvPr/>
        </p:nvSpPr>
        <p:spPr>
          <a:xfrm>
            <a:off x="6500000" y="4572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22" name="Grid H"/>
          <p:cNvSpPr/>
          <p:nvPr/>
        </p:nvSpPr>
        <p:spPr>
          <a:xfrm>
            <a:off x="6500000" y="5080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23" name="Grid H"/>
          <p:cNvSpPr/>
          <p:nvPr/>
        </p:nvSpPr>
        <p:spPr>
          <a:xfrm>
            <a:off x="6500000" y="5588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24" name="Grid H"/>
          <p:cNvSpPr/>
          <p:nvPr/>
        </p:nvSpPr>
        <p:spPr>
          <a:xfrm>
            <a:off x="6500000" y="6096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25" name="Grid H"/>
          <p:cNvSpPr/>
          <p:nvPr/>
        </p:nvSpPr>
        <p:spPr>
          <a:xfrm>
            <a:off x="6500000" y="6604000"/>
            <a:ext cx="5692000" cy="0"/>
          </a:xfrm>
          <a:prstGeom prst="line">
            <a:avLst/>
          </a:prstGeom>
          <a:noFill/>
          <a:ln w="6350">
            <a:solidFill>
              <a:srgbClr val="2E2670"/>
            </a:solidFill>
            <a:prstDash val="solid"/>
          </a:ln>
        </p:spPr>
      </p:sp>
      <p:sp>
        <p:nvSpPr>
          <p:cNvPr id="226" name="Circuit"/>
          <p:cNvSpPr/>
          <p:nvPr/>
        </p:nvSpPr>
        <p:spPr>
          <a:xfrm>
            <a:off x="7300000" y="120000"/>
            <a:ext cx="4400000" cy="180000"/>
          </a:xfrm>
          <a:custGeom>
            <a:avLst/>
            <a:gdLst/>
            <a:ahLst/>
            <a:cxnLst/>
            <a:rect l="0" t="0" r="0" b="0"/>
            <a:pathLst>
              <a:path w="4400000" h="180000">
                <a:moveTo>
                  <a:pt x="0" y="180000"/>
                </a:moveTo>
                <a:lnTo>
                  <a:pt x="1900000" y="180000"/>
                </a:lnTo>
                <a:lnTo>
                  <a:pt x="1900000" y="0"/>
                </a:lnTo>
                <a:lnTo>
                  <a:pt x="4400000" y="0"/>
                </a:lnTo>
              </a:path>
            </a:pathLst>
          </a:custGeom>
          <a:noFill/>
          <a:ln w="19050">
            <a:solidFill>
              <a:srgbClr val="FFD500">
                <a:alpha val="70000"/>
              </a:srgbClr>
            </a:solidFill>
            <a:round/>
          </a:ln>
        </p:spPr>
      </p:sp>
      <p:sp>
        <p:nvSpPr>
          <p:cNvPr id="227" name="Circuit"/>
          <p:cNvSpPr/>
          <p:nvPr/>
        </p:nvSpPr>
        <p:spPr>
          <a:xfrm>
            <a:off x="11450000" y="700000"/>
            <a:ext cx="300000" cy="4500000"/>
          </a:xfrm>
          <a:custGeom>
            <a:avLst/>
            <a:gdLst/>
            <a:ahLst/>
            <a:cxnLst/>
            <a:rect l="0" t="0" r="0" b="0"/>
            <a:pathLst>
              <a:path w="300000" h="4500000">
                <a:moveTo>
                  <a:pt x="0" y="0"/>
                </a:moveTo>
                <a:lnTo>
                  <a:pt x="0" y="1500000"/>
                </a:lnTo>
                <a:lnTo>
                  <a:pt x="300000" y="1500000"/>
                </a:lnTo>
                <a:lnTo>
                  <a:pt x="300000" y="3300000"/>
                </a:lnTo>
                <a:lnTo>
                  <a:pt x="100000" y="3300000"/>
                </a:lnTo>
                <a:lnTo>
                  <a:pt x="100000" y="4500000"/>
                </a:lnTo>
              </a:path>
            </a:pathLst>
          </a:custGeom>
          <a:noFill/>
          <a:ln w="19050">
            <a:solidFill>
              <a:srgbClr val="FFD500">
                <a:alpha val="70000"/>
              </a:srgbClr>
            </a:solidFill>
            <a:round/>
          </a:ln>
        </p:spPr>
      </p:sp>
      <p:sp>
        <p:nvSpPr>
          <p:cNvPr id="228" name="Circuit"/>
          <p:cNvSpPr/>
          <p:nvPr/>
        </p:nvSpPr>
        <p:spPr>
          <a:xfrm>
            <a:off x="7300000" y="5920000"/>
            <a:ext cx="3500000" cy="80000"/>
          </a:xfrm>
          <a:custGeom>
            <a:avLst/>
            <a:gdLst/>
            <a:ahLst/>
            <a:cxnLst/>
            <a:rect l="0" t="0" r="0" b="0"/>
            <a:pathLst>
              <a:path w="3500000" h="80000">
                <a:moveTo>
                  <a:pt x="0" y="80000"/>
                </a:moveTo>
                <a:lnTo>
                  <a:pt x="2200000" y="80000"/>
                </a:lnTo>
                <a:lnTo>
                  <a:pt x="2200000" y="0"/>
                </a:lnTo>
                <a:lnTo>
                  <a:pt x="3500000" y="0"/>
                </a:lnTo>
              </a:path>
            </a:pathLst>
          </a:custGeom>
          <a:noFill/>
          <a:ln w="19050">
            <a:solidFill>
              <a:srgbClr val="FFD500">
                <a:alpha val="70000"/>
              </a:srgbClr>
            </a:solidFill>
            <a:round/>
          </a:ln>
        </p:spPr>
      </p:sp>
      <p:sp>
        <p:nvSpPr>
          <p:cNvPr id="229" name="Glow Dot"/>
          <p:cNvSpPr/>
          <p:nvPr/>
        </p:nvSpPr>
        <p:spPr>
          <a:xfrm>
            <a:off x="7265000" y="265000"/>
            <a:ext cx="70000" cy="70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dist="0" dir="0" rotWithShape="0">
              <a:srgbClr val="FFD500">
                <a:alpha val="45000"/>
              </a:srgbClr>
            </a:outerShdw>
          </a:effectLst>
        </p:spPr>
      </p:sp>
      <p:sp>
        <p:nvSpPr>
          <p:cNvPr id="230" name="Glow Dot"/>
          <p:cNvSpPr/>
          <p:nvPr/>
        </p:nvSpPr>
        <p:spPr>
          <a:xfrm>
            <a:off x="11652500" y="72500"/>
            <a:ext cx="95000" cy="95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dist="0" dir="0" rotWithShape="0">
              <a:srgbClr val="FFD500">
                <a:alpha val="45000"/>
              </a:srgbClr>
            </a:outerShdw>
          </a:effectLst>
        </p:spPr>
      </p:sp>
      <p:sp>
        <p:nvSpPr>
          <p:cNvPr id="231" name="Glow Dot"/>
          <p:cNvSpPr/>
          <p:nvPr/>
        </p:nvSpPr>
        <p:spPr>
          <a:xfrm>
            <a:off x="11720000" y="2170000"/>
            <a:ext cx="60000" cy="60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dist="0" dir="0" rotWithShape="0">
              <a:srgbClr val="FFD500">
                <a:alpha val="45000"/>
              </a:srgbClr>
            </a:outerShdw>
          </a:effectLst>
        </p:spPr>
      </p:sp>
      <p:sp>
        <p:nvSpPr>
          <p:cNvPr id="232" name="Glow Dot"/>
          <p:cNvSpPr/>
          <p:nvPr/>
        </p:nvSpPr>
        <p:spPr>
          <a:xfrm>
            <a:off x="11507500" y="5157500"/>
            <a:ext cx="85000" cy="85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dist="0" dir="0" rotWithShape="0">
              <a:srgbClr val="FFD500">
                <a:alpha val="45000"/>
              </a:srgbClr>
            </a:outerShdw>
          </a:effectLst>
        </p:spPr>
      </p:sp>
      <p:sp>
        <p:nvSpPr>
          <p:cNvPr id="233" name="Glow Dot"/>
          <p:cNvSpPr/>
          <p:nvPr/>
        </p:nvSpPr>
        <p:spPr>
          <a:xfrm>
            <a:off x="7270000" y="5970000"/>
            <a:ext cx="60000" cy="60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dist="0" dir="0" rotWithShape="0">
              <a:srgbClr val="FFD500">
                <a:alpha val="45000"/>
              </a:srgbClr>
            </a:outerShdw>
          </a:effectLst>
        </p:spPr>
      </p:sp>
      <p:sp>
        <p:nvSpPr>
          <p:cNvPr id="234" name="Glow Dot"/>
          <p:cNvSpPr/>
          <p:nvPr/>
        </p:nvSpPr>
        <p:spPr>
          <a:xfrm>
            <a:off x="10275000" y="225000"/>
            <a:ext cx="50000" cy="50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dist="0" dir="0" rotWithShape="0">
              <a:srgbClr val="FFD500">
                <a:alpha val="45000"/>
              </a:srgbClr>
            </a:outerShdw>
          </a:effectLst>
        </p:spPr>
      </p:sp>
      <p:sp>
        <p:nvSpPr>
          <p:cNvPr id="235" name="Glow Dot"/>
          <p:cNvSpPr/>
          <p:nvPr/>
        </p:nvSpPr>
        <p:spPr>
          <a:xfrm>
            <a:off x="11879000" y="3179000"/>
            <a:ext cx="42000" cy="42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dist="0" dir="0" rotWithShape="0">
              <a:srgbClr val="FFD500">
                <a:alpha val="45000"/>
              </a:srgbClr>
            </a:outerShdw>
          </a:effectLst>
        </p:spPr>
      </p:sp>
      <p:sp>
        <p:nvSpPr>
          <p:cNvPr id="236" name="Glow Dot"/>
          <p:cNvSpPr/>
          <p:nvPr/>
        </p:nvSpPr>
        <p:spPr>
          <a:xfrm>
            <a:off x="10772500" y="5892500"/>
            <a:ext cx="55000" cy="55000"/>
          </a:xfrm>
          <a:prstGeom prst="ellipse">
            <a:avLst/>
          </a:prstGeom>
          <a:solidFill>
            <a:srgbClr val="FFD500"/>
          </a:solidFill>
          <a:ln>
            <a:noFill/>
          </a:ln>
          <a:effectLst>
            <a:outerShdw blurRad="95000" dist="0" dir="0" rotWithShape="0">
              <a:srgbClr val="FFD500">
                <a:alpha val="45000"/>
              </a:srgbClr>
            </a:outerShdw>
          </a:effectLst>
        </p:spPr>
      </p:sp>
      <p:sp>
        <p:nvSpPr>
          <p:cNvPr id="237" name="Hex"/>
          <p:cNvSpPr/>
          <p:nvPr/>
        </p:nvSpPr>
        <p:spPr>
          <a:xfrm>
            <a:off x="11180000" y="4295000"/>
            <a:ext cx="240000" cy="210000"/>
          </a:xfrm>
          <a:prstGeom prst="hexagon">
            <a:avLst/>
          </a:prstGeom>
          <a:noFill/>
          <a:ln w="9525">
            <a:solidFill>
              <a:srgbClr val="FFD500">
                <a:alpha val="25000"/>
              </a:srgbClr>
            </a:solidFill>
          </a:ln>
        </p:spPr>
      </p:sp>
      <p:sp>
        <p:nvSpPr>
          <p:cNvPr id="238" name="Hex"/>
          <p:cNvSpPr/>
          <p:nvPr/>
        </p:nvSpPr>
        <p:spPr>
          <a:xfrm>
            <a:off x="11500000" y="4295000"/>
            <a:ext cx="240000" cy="210000"/>
          </a:xfrm>
          <a:prstGeom prst="hexagon">
            <a:avLst/>
          </a:prstGeom>
          <a:noFill/>
          <a:ln w="9525">
            <a:solidFill>
              <a:srgbClr val="FFD500">
                <a:alpha val="25000"/>
              </a:srgbClr>
            </a:solidFill>
          </a:ln>
        </p:spPr>
      </p:sp>
      <p:sp>
        <p:nvSpPr>
          <p:cNvPr id="239" name="Hex"/>
          <p:cNvSpPr/>
          <p:nvPr/>
        </p:nvSpPr>
        <p:spPr>
          <a:xfrm>
            <a:off x="11340000" y="4545000"/>
            <a:ext cx="240000" cy="210000"/>
          </a:xfrm>
          <a:prstGeom prst="hexagon">
            <a:avLst/>
          </a:prstGeom>
          <a:noFill/>
          <a:ln w="9525">
            <a:solidFill>
              <a:srgbClr val="FFD500">
                <a:alpha val="25000"/>
              </a:srgbClr>
            </a:solidFill>
          </a:ln>
        </p:spPr>
      </p:sp>
      <p:sp>
        <p:nvSpPr>
          <p:cNvPr id="240" name="Hex"/>
          <p:cNvSpPr/>
          <p:nvPr/>
        </p:nvSpPr>
        <p:spPr>
          <a:xfrm>
            <a:off x="11660000" y="4545000"/>
            <a:ext cx="240000" cy="210000"/>
          </a:xfrm>
          <a:prstGeom prst="hexagon">
            <a:avLst/>
          </a:prstGeom>
          <a:noFill/>
          <a:ln w="9525">
            <a:solidFill>
              <a:srgbClr val="FFD500">
                <a:alpha val="25000"/>
              </a:srgbClr>
            </a:solidFill>
          </a:ln>
        </p:spPr>
      </p:sp>
      <p:sp>
        <p:nvSpPr>
          <p:cNvPr id="7" name="Text 5"/>
          <p:cNvSpPr/>
          <p:nvPr/>
        </p:nvSpPr>
        <p:spPr>
          <a:xfrm>
            <a:off x="594360" y="5669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STRATEGY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94360" y="2697480"/>
            <a:ext cx="365760" cy="365760"/>
          </a:xfrm>
          <a:prstGeom prst="snip1Rect">
            <a:avLst/>
          </a:prstGeom>
          <a:solidFill>
            <a:srgbClr val="FFD50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26426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technology: wearables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3410712"/>
            <a:ext cx="365760" cy="365760"/>
          </a:xfrm>
          <a:prstGeom prst="snip1Rect">
            <a:avLst/>
          </a:prstGeom>
          <a:solidFill>
            <a:srgbClr val="FFD50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33558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Innovative, functional &amp; design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4360" y="4123944"/>
            <a:ext cx="365760" cy="365760"/>
          </a:xfrm>
          <a:prstGeom prst="snip1Rect">
            <a:avLst/>
          </a:prstGeom>
          <a:solidFill>
            <a:srgbClr val="FFD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069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design update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073397" y="562869"/>
            <a:ext cx="4123652" cy="5334499"/>
          </a:xfrm>
          <a:prstGeom prst="snip1Rect">
            <a:avLst/>
          </a:prstGeom>
          <a:ln w="28575">
            <a:solidFill>
              <a:srgbClr val="FFD500"/>
            </a:solidFill>
            <a:prstDash val="solid"/>
          </a:ln>
        </p:spPr>
      </p:sp>
      <p:pic>
        <p:nvPicPr>
          <p:cNvPr id="19" name="Image 0" descr="/tmp/claude-0/-home-user-the-5-agents/104e019b-481e-5835-b5aa-7854a99e3b07/scratchpad/work/assets/bra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08876" y="698348"/>
            <a:ext cx="3852693" cy="50635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022592" y="512064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</p:sp>
      <p:sp>
        <p:nvSpPr>
          <p:cNvPr id="21" name="Shape 18"/>
          <p:cNvSpPr/>
          <p:nvPr/>
        </p:nvSpPr>
        <p:spPr>
          <a:xfrm>
            <a:off x="11146244" y="512064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</p:sp>
      <p:sp>
        <p:nvSpPr>
          <p:cNvPr id="22" name="Shape 19"/>
          <p:cNvSpPr/>
          <p:nvPr/>
        </p:nvSpPr>
        <p:spPr>
          <a:xfrm>
            <a:off x="7022592" y="5846563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</p:sp>
      <p:sp>
        <p:nvSpPr>
          <p:cNvPr id="23" name="Shape 20"/>
          <p:cNvSpPr/>
          <p:nvPr/>
        </p:nvSpPr>
        <p:spPr>
          <a:xfrm>
            <a:off x="11146244" y="5846563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</p:sp>
      <p:pic>
        <p:nvPicPr>
          <p:cNvPr id="24" name="Image 1" descr="/tmp/claude-0/-home-user-the-5-agents/104e019b-481e-5835-b5aa-7854a99e3b07/scratchpad/work/assets/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ALL PEOPLE,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ANY AGE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2533574" cy="3518852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pic>
        <p:nvPicPr>
          <p:cNvPr id="4" name="Image 0" descr="/tmp/claude-0/-home-user-the-5-agents/104e019b-481e-5835-b5aa-7854a99e3b07/scratchpad/work/assets/card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240280"/>
            <a:ext cx="2350694" cy="33359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02254" y="2148840"/>
            <a:ext cx="2533574" cy="3518852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pic>
        <p:nvPicPr>
          <p:cNvPr id="6" name="Image 1" descr="glove-product.png (wrist support, cutout on transparent bg)"/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646010" y="2373719"/>
            <a:ext cx="2046063" cy="306909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255868" y="2148840"/>
            <a:ext cx="2533574" cy="3518852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pic>
        <p:nvPicPr>
          <p:cNvPr id="8" name="Image 2" descr="/tmp/claude-0/-home-user-the-5-agents/104e019b-481e-5835-b5aa-7854a99e3b07/scratchpad/work/assets/card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47308" y="2240280"/>
            <a:ext cx="2350694" cy="333597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109481" y="2148840"/>
            <a:ext cx="2533574" cy="3518852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pic>
        <p:nvPicPr>
          <p:cNvPr id="10" name="Image 3" descr="/tmp/claude-0/-home-user-the-5-agents/104e019b-481e-5835-b5aa-7854a99e3b07/scratchpad/work/assets/card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00921" y="2240280"/>
            <a:ext cx="2350694" cy="3335972"/>
          </a:xfrm>
          <a:prstGeom prst="rect">
            <a:avLst/>
          </a:prstGeom>
        </p:spPr>
      </p:pic>
      <p:pic>
        <p:nvPicPr>
          <p:cNvPr id="11" name="Image 4" descr="/tmp/claude-0/-home-user-the-5-agents/104e019b-481e-5835-b5aa-7854a99e3b07/scratchpad/work/assets/foo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 LOVE URIEL!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consumers are URIEL’s best ambassadors, with 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reviews and videos.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486900" y="342900"/>
            <a:ext cx="1417320" cy="1417320"/>
          </a:xfrm>
          <a:prstGeom prst="ellipse">
            <a:avLst/>
          </a:prstGeom>
          <a:solidFill>
            <a:srgbClr val="140D41"/>
          </a:solidFill>
          <a:ln/>
          <a:effectLst>
            <a:outerShdw sx="100000" sy="100000" kx="0" ky="0" algn="bl" rotWithShape="0" blurRad="127000" dist="38100" dir="5400000">
              <a:srgbClr val="0A063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86900" y="5074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486900" y="96469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VIDEOS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410048" cy="176022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pic>
        <p:nvPicPr>
          <p:cNvPr id="8" name="Image 0" descr="/tmp/claude-0/-home-user-the-5-agents/104e019b-481e-5835-b5aa-7854a99e3b07/scratchpad/work/assets/review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2404872"/>
            <a:ext cx="4897984" cy="12481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33008" y="2148840"/>
            <a:ext cx="5410048" cy="176022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pic>
        <p:nvPicPr>
          <p:cNvPr id="10" name="Image 1" descr="/tmp/claude-0/-home-user-the-5-agents/104e019b-481e-5835-b5aa-7854a99e3b07/scratchpad/work/assets/review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89040" y="2404872"/>
            <a:ext cx="4897984" cy="12481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4183380"/>
            <a:ext cx="5410048" cy="176022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pic>
        <p:nvPicPr>
          <p:cNvPr id="12" name="Image 2" descr="/tmp/claude-0/-home-user-the-5-agents/104e019b-481e-5835-b5aa-7854a99e3b07/scratchpad/work/assets/review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" y="4439412"/>
            <a:ext cx="4897984" cy="124815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33008" y="4183380"/>
            <a:ext cx="5410048" cy="176022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pic>
        <p:nvPicPr>
          <p:cNvPr id="14" name="Image 3" descr="/tmp/claude-0/-home-user-the-5-agents/104e019b-481e-5835-b5aa-7854a99e3b07/scratchpad/work/assets/review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89040" y="4439412"/>
            <a:ext cx="4897984" cy="1248156"/>
          </a:xfrm>
          <a:prstGeom prst="rect">
            <a:avLst/>
          </a:prstGeom>
        </p:spPr>
      </p:pic>
      <p:pic>
        <p:nvPicPr>
          <p:cNvPr id="15" name="Image 4" descr="/tmp/claude-0/-home-user-the-5-agents/104e019b-481e-5835-b5aa-7854a99e3b07/scratchpad/work/assets/foo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LOVE INNOVATION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3484778" cy="36576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pic>
        <p:nvPicPr>
          <p:cNvPr id="4" name="Image 0" descr="/tmp/claude-0/-home-user-the-5-agents/104e019b-481e-5835-b5aa-7854a99e3b07/scratchpad/work/assets/te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1956816"/>
            <a:ext cx="3320186" cy="3493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53458" y="1874520"/>
            <a:ext cx="3484778" cy="36576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pic>
        <p:nvPicPr>
          <p:cNvPr id="6" name="Image 1" descr="/tmp/claude-0/-home-user-the-5-agents/104e019b-481e-5835-b5aa-7854a99e3b07/scratchpad/work/assets/booth_wid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5754" y="1956816"/>
            <a:ext cx="3320186" cy="34930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158277" y="1874520"/>
            <a:ext cx="3484778" cy="36576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pic>
        <p:nvPicPr>
          <p:cNvPr id="8" name="Image 2" descr="/tmp/claude-0/-home-user-the-5-agents/104e019b-481e-5835-b5aa-7854a99e3b07/scratchpad/work/assets/product_clos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0573" y="1956816"/>
            <a:ext cx="3320186" cy="3493008"/>
          </a:xfrm>
          <a:prstGeom prst="rect">
            <a:avLst/>
          </a:prstGeom>
        </p:spPr>
      </p:pic>
      <p:pic>
        <p:nvPicPr>
          <p:cNvPr id="9" name="Image 3" descr="/tmp/claude-0/-home-user-the-5-agents/104e019b-481e-5835-b5aa-7854a99e3b07/scratchpad/work/assets/foo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FOR YOU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56336" y="1600200"/>
            <a:ext cx="3218688" cy="45720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pic>
        <p:nvPicPr>
          <p:cNvPr id="4" name="Image 0" descr="/tmp/claude-0/-home-user-the-5-agents/104e019b-481e-5835-b5aa-7854a99e3b07/scratchpad/work/assets/catalog_fin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20344" y="1664208"/>
            <a:ext cx="3090672" cy="44439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86504" y="1600200"/>
            <a:ext cx="3218688" cy="45720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pic>
        <p:nvPicPr>
          <p:cNvPr id="6" name="Image 1" descr="/tmp/claude-0/-home-user-the-5-agents/104e019b-481e-5835-b5aa-7854a99e3b07/scratchpad/work/assets/catalog_spor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50512" y="1664208"/>
            <a:ext cx="3090672" cy="44439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116672" y="1600200"/>
            <a:ext cx="3218688" cy="45720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pic>
        <p:nvPicPr>
          <p:cNvPr id="8" name="Image 2" descr="/tmp/claude-0/-home-user-the-5-agents/104e019b-481e-5835-b5aa-7854a99e3b07/scratchpad/work/assets/catalog_strap4u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80680" y="1664208"/>
            <a:ext cx="3090672" cy="4443984"/>
          </a:xfrm>
          <a:prstGeom prst="rect">
            <a:avLst/>
          </a:prstGeom>
        </p:spPr>
      </p:pic>
      <p:pic>
        <p:nvPicPr>
          <p:cNvPr id="9" name="Image 3" descr="/tmp/claude-0/-home-user-the-5-agents/104e019b-481e-5835-b5aa-7854a99e3b07/scratchpad/work/assets/foo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AZERBAIJAN: AN EMERGING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3" name="Text 3"/>
          <p:cNvSpPr/>
          <p:nvPr/>
        </p:nvSpPr>
        <p:spPr>
          <a:xfrm>
            <a:off x="548640" y="1621480"/>
            <a:ext cx="11094720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Azerbaijan's medical devices market — including orthopedics as a sub-segment — is projected to grow from </a:t>
            </a:r>
            <a:r>
              <a:rPr lang="en-US" sz="14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$520M (2025)</a:t>
            </a: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14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$790M by 2031</a:t>
            </a: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r>
              <a:rPr lang="en-US" sz="14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 CAGR</a:t>
            </a: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market report for braces &amp; supports in Azerbaijan doesn't exist yet — here's what the data does show.</a:t>
            </a:r>
            <a:endParaRPr lang="en-US" sz="1000" dirty="0"/>
          </a:p>
        </p:txBody>
      </p:sp>
      <p:sp>
        <p:nvSpPr>
          <p:cNvPr id="4" name="Card 4"/>
          <p:cNvSpPr/>
          <p:nvPr/>
        </p:nvSpPr>
        <p:spPr>
          <a:xfrm>
            <a:off x="548640" y="2531480"/>
            <a:ext cx="3545840" cy="25800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sp>
        <p:nvSpPr>
          <p:cNvPr id="5" name="Card 5"/>
          <p:cNvSpPr/>
          <p:nvPr/>
        </p:nvSpPr>
        <p:spPr>
          <a:xfrm>
            <a:off x="4323080" y="2531480"/>
            <a:ext cx="3545840" cy="25800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sp>
        <p:nvSpPr>
          <p:cNvPr id="6" name="Card 6"/>
          <p:cNvSpPr/>
          <p:nvPr/>
        </p:nvSpPr>
        <p:spPr>
          <a:xfrm>
            <a:off x="8097520" y="2531480"/>
            <a:ext cx="3545840" cy="25800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sp>
        <p:nvSpPr>
          <p:cNvPr id="7" name="Text 7"/>
          <p:cNvSpPr/>
          <p:nvPr/>
        </p:nvSpPr>
        <p:spPr>
          <a:xfrm>
            <a:off x="822960" y="2681480"/>
            <a:ext cx="29972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AZERBAIJAN MEDICAL DEVICES MARKET</a:t>
            </a:r>
            <a:endParaRPr lang="en-US" sz="1000" dirty="0"/>
          </a:p>
        </p:txBody>
      </p:sp>
      <p:sp>
        <p:nvSpPr>
          <p:cNvPr id="8" name="Text 8"/>
          <p:cNvSpPr/>
          <p:nvPr/>
        </p:nvSpPr>
        <p:spPr>
          <a:xfrm>
            <a:off x="822960" y="3011480"/>
            <a:ext cx="29972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$520M → $790M</a:t>
            </a:r>
            <a:endParaRPr lang="en-US" sz="1000" dirty="0"/>
          </a:p>
        </p:txBody>
      </p:sp>
      <p:sp>
        <p:nvSpPr>
          <p:cNvPr id="9" name="Text 9"/>
          <p:cNvSpPr/>
          <p:nvPr/>
        </p:nvSpPr>
        <p:spPr>
          <a:xfrm>
            <a:off x="822960" y="3431480"/>
            <a:ext cx="2997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→ 2031 · incl. orthopedics as a sub-segment</a:t>
            </a:r>
            <a:endParaRPr lang="en-US" sz="1000" dirty="0"/>
          </a:p>
        </p:txBody>
      </p:sp>
      <p:sp>
        <p:nvSpPr>
          <p:cNvPr id="10" name="Text 10"/>
          <p:cNvSpPr/>
          <p:nvPr/>
        </p:nvSpPr>
        <p:spPr>
          <a:xfrm>
            <a:off x="822960" y="3711480"/>
            <a:ext cx="29972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 CAGR</a:t>
            </a:r>
            <a:endParaRPr lang="en-US" sz="1000" dirty="0"/>
          </a:p>
        </p:txBody>
      </p:sp>
      <p:sp>
        <p:nvSpPr>
          <p:cNvPr id="11" name="Text 11"/>
          <p:cNvSpPr/>
          <p:nvPr/>
        </p:nvSpPr>
        <p:spPr>
          <a:xfrm>
            <a:off x="822960" y="4051480"/>
            <a:ext cx="29972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drivers: aging population, healthcare-infrastructure investment, medical tourism.</a:t>
            </a:r>
            <a:endParaRPr lang="en-US" sz="1000" dirty="0"/>
          </a:p>
        </p:txBody>
      </p:sp>
      <p:sp>
        <p:nvSpPr>
          <p:cNvPr id="12" name="Text 12"/>
          <p:cNvSpPr/>
          <p:nvPr/>
        </p:nvSpPr>
        <p:spPr>
          <a:xfrm>
            <a:off x="822960" y="4611480"/>
            <a:ext cx="2997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6wresearch, 2025</a:t>
            </a:r>
            <a:endParaRPr lang="en-US" sz="1000" dirty="0"/>
          </a:p>
        </p:txBody>
      </p:sp>
      <p:sp>
        <p:nvSpPr>
          <p:cNvPr id="13" name="Text 13"/>
          <p:cNvSpPr/>
          <p:nvPr/>
        </p:nvSpPr>
        <p:spPr>
          <a:xfrm>
            <a:off x="4597400" y="2681480"/>
            <a:ext cx="29972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ACTIVITY (HS 9021)</a:t>
            </a:r>
            <a:endParaRPr lang="en-US" sz="1000" dirty="0"/>
          </a:p>
        </p:txBody>
      </p:sp>
      <p:sp>
        <p:nvSpPr>
          <p:cNvPr id="14" name="Text 14"/>
          <p:cNvSpPr/>
          <p:nvPr/>
        </p:nvSpPr>
        <p:spPr>
          <a:xfrm>
            <a:off x="4597400" y="3031480"/>
            <a:ext cx="29972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 — </a:t>
            </a:r>
            <a:r>
              <a:rPr lang="en-US" sz="105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$3.56M</a:t>
            </a:r>
            <a:r>
              <a:rPr lang="en-US" sz="105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(2024)</a:t>
            </a:r>
            <a:endParaRPr lang="en-US" sz="1000" dirty="0"/>
          </a:p>
        </p:txBody>
      </p:sp>
      <p:sp>
        <p:nvSpPr>
          <p:cNvPr id="15" name="Text 15"/>
          <p:cNvSpPr/>
          <p:nvPr/>
        </p:nvSpPr>
        <p:spPr>
          <a:xfrm>
            <a:off x="4597400" y="3351480"/>
            <a:ext cx="29972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 — </a:t>
            </a:r>
            <a:r>
              <a:rPr lang="en-US" sz="105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$2.61M</a:t>
            </a:r>
            <a:r>
              <a:rPr lang="en-US" sz="105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(2025)</a:t>
            </a:r>
            <a:endParaRPr lang="en-US" sz="1000" dirty="0"/>
          </a:p>
        </p:txBody>
      </p:sp>
      <p:sp>
        <p:nvSpPr>
          <p:cNvPr id="16" name="Text 16"/>
          <p:cNvSpPr/>
          <p:nvPr/>
        </p:nvSpPr>
        <p:spPr>
          <a:xfrm>
            <a:off x="4597400" y="3671480"/>
            <a:ext cx="29972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— </a:t>
            </a:r>
            <a:r>
              <a:rPr lang="en-US" sz="105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$1.55M</a:t>
            </a:r>
            <a:r>
              <a:rPr lang="en-US" sz="105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(2025)</a:t>
            </a:r>
            <a:endParaRPr lang="en-US" sz="1000" dirty="0"/>
          </a:p>
        </p:txBody>
      </p:sp>
      <p:sp>
        <p:nvSpPr>
          <p:cNvPr id="17" name="Text 17"/>
          <p:cNvSpPr/>
          <p:nvPr/>
        </p:nvSpPr>
        <p:spPr>
          <a:xfrm>
            <a:off x="4597400" y="4081480"/>
            <a:ext cx="29972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Braces, splints, casts &amp; fracture appliances — a steady multi-country import flow shows an active market.</a:t>
            </a:r>
            <a:endParaRPr lang="en-US" sz="1000" dirty="0"/>
          </a:p>
        </p:txBody>
      </p:sp>
      <p:sp>
        <p:nvSpPr>
          <p:cNvPr id="18" name="Text 18"/>
          <p:cNvSpPr/>
          <p:nvPr/>
        </p:nvSpPr>
        <p:spPr>
          <a:xfrm>
            <a:off x="4597400" y="4631480"/>
            <a:ext cx="2997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Trading Economics / UN Comtrade</a:t>
            </a:r>
            <a:endParaRPr lang="en-US" sz="1000" dirty="0"/>
          </a:p>
        </p:txBody>
      </p:sp>
      <p:sp>
        <p:nvSpPr>
          <p:cNvPr id="19" name="Text 19"/>
          <p:cNvSpPr/>
          <p:nvPr/>
        </p:nvSpPr>
        <p:spPr>
          <a:xfrm>
            <a:off x="8371840" y="2681480"/>
            <a:ext cx="29972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CONTEXT</a:t>
            </a:r>
            <a:endParaRPr lang="en-US" sz="1000" dirty="0"/>
          </a:p>
        </p:txBody>
      </p:sp>
      <p:sp>
        <p:nvSpPr>
          <p:cNvPr id="20" name="Text 20"/>
          <p:cNvSpPr/>
          <p:nvPr/>
        </p:nvSpPr>
        <p:spPr>
          <a:xfrm>
            <a:off x="8371840" y="2931480"/>
            <a:ext cx="29972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(reference only — not Azerbaijan-specific)</a:t>
            </a:r>
            <a:endParaRPr lang="en-US" sz="1000" dirty="0"/>
          </a:p>
        </p:txBody>
      </p:sp>
      <p:sp>
        <p:nvSpPr>
          <p:cNvPr id="21" name="Text 21"/>
          <p:cNvSpPr/>
          <p:nvPr/>
        </p:nvSpPr>
        <p:spPr>
          <a:xfrm>
            <a:off x="8371840" y="3231480"/>
            <a:ext cx="29972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$4.67B → $7.01B</a:t>
            </a:r>
            <a:endParaRPr lang="en-US" sz="1000" dirty="0"/>
          </a:p>
        </p:txBody>
      </p:sp>
      <p:sp>
        <p:nvSpPr>
          <p:cNvPr id="22" name="Text 22"/>
          <p:cNvSpPr/>
          <p:nvPr/>
        </p:nvSpPr>
        <p:spPr>
          <a:xfrm>
            <a:off x="8371840" y="3651480"/>
            <a:ext cx="2997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Orthopedic braces &amp; supports, global, 2024→2030, CAGR 7.3%</a:t>
            </a:r>
            <a:endParaRPr lang="en-US" sz="1000" dirty="0"/>
          </a:p>
        </p:txBody>
      </p:sp>
      <p:sp>
        <p:nvSpPr>
          <p:cNvPr id="23" name="Text 23"/>
          <p:cNvSpPr/>
          <p:nvPr/>
        </p:nvSpPr>
        <p:spPr>
          <a:xfrm>
            <a:off x="8371840" y="4031480"/>
            <a:ext cx="29972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 region: $369.2M by 2030</a:t>
            </a:r>
            <a:endParaRPr lang="en-US" sz="1000" dirty="0"/>
          </a:p>
        </p:txBody>
      </p:sp>
      <p:sp>
        <p:nvSpPr>
          <p:cNvPr id="24" name="Text 24"/>
          <p:cNvSpPr/>
          <p:nvPr/>
        </p:nvSpPr>
        <p:spPr>
          <a:xfrm>
            <a:off x="8371840" y="4321480"/>
            <a:ext cx="29972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Azerbaijan is not reported separately in these global/regional studies.</a:t>
            </a:r>
            <a:endParaRPr lang="en-US" sz="1000" dirty="0"/>
          </a:p>
        </p:txBody>
      </p:sp>
      <p:sp>
        <p:nvSpPr>
          <p:cNvPr id="25" name="Text 25"/>
          <p:cNvSpPr/>
          <p:nvPr/>
        </p:nvSpPr>
        <p:spPr>
          <a:xfrm>
            <a:off x="8371840" y="4771480"/>
            <a:ext cx="2997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Grand View Research, 2024</a:t>
            </a:r>
            <a:endParaRPr lang="en-US" sz="1000" dirty="0"/>
          </a:p>
        </p:txBody>
      </p:sp>
      <p:sp>
        <p:nvSpPr>
          <p:cNvPr id="26" name="Text 26"/>
          <p:cNvSpPr/>
          <p:nvPr/>
        </p:nvSpPr>
        <p:spPr>
          <a:xfrm>
            <a:off x="548640" y="5171480"/>
            <a:ext cx="1109472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900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Azerbaijan has no standalone braces &amp; supports market report yet — figures above combine the broader medical devices market, import data, and global context as the closest available proxies.</a:t>
            </a:r>
            <a:endParaRPr lang="en-US" sz="1000" dirty="0"/>
          </a:p>
        </p:txBody>
      </p:sp>
      <p:sp>
        <p:nvSpPr>
          <p:cNvPr id="27" name="Text 27"/>
          <p:cNvSpPr/>
          <p:nvPr/>
        </p:nvSpPr>
        <p:spPr>
          <a:xfrm>
            <a:off x="548640" y="5591480"/>
            <a:ext cx="11094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6wresearch, Azerbaijan Medical Devices Market (2020–2026, forecast to 2031); Grand View Research, Orthopedic Braces &amp; Supports Market (2024); Trading Economics / UN Comtrade import data (2024–2025). Accessed Aug 2026.</a:t>
            </a:r>
            <a:endParaRPr lang="en-US" sz="1000" dirty="0"/>
          </a:p>
        </p:txBody>
      </p:sp>
      <p:pic>
        <p:nvPicPr>
          <p:cNvPr id="28" name="Image Foot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/>
          <p:nvPr/>
        </p:nvSpPr>
        <p:spPr>
          <a:xfrm>
            <a:off x="548640" y="41148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DOMINATING THE LOCAL MARKET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ISRAEL</a:t>
            </a:r>
            <a:endParaRPr lang="en-US" sz="1000" dirty="0"/>
          </a:p>
        </p:txBody>
      </p:sp>
      <p:sp>
        <p:nvSpPr>
          <p:cNvPr id="102" name="Rect 102"/>
          <p:cNvSpPr/>
          <p:nvPr/>
        </p:nvSpPr>
        <p:spPr>
          <a:xfrm>
            <a:off x="548640" y="1661480"/>
            <a:ext cx="280000" cy="280000"/>
          </a:xfrm>
          <a:prstGeom prst="snip1Rect">
            <a:avLst/>
          </a:prstGeom>
          <a:solidFill>
            <a:srgbClr val="FFD500"/>
          </a:solidFill>
          <a:ln>
            <a:noFill/>
          </a:ln>
        </p:spPr>
      </p:sp>
      <p:sp>
        <p:nvSpPr>
          <p:cNvPr id="103" name="Check 103"/>
          <p:cNvSpPr/>
          <p:nvPr/>
        </p:nvSpPr>
        <p:spPr>
          <a:xfrm>
            <a:off x="548640" y="1661480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4" name="BulletText 104"/>
          <p:cNvSpPr/>
          <p:nvPr/>
        </p:nvSpPr>
        <p:spPr>
          <a:xfrm>
            <a:off x="978640" y="1651480"/>
            <a:ext cx="10664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Brand Awareness: </a:t>
            </a:r>
            <a:r>
              <a:rPr lang="en-US" sz="13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brand is widely recognized as a trusted choice in Israel's orthopedic market.</a:t>
            </a:r>
            <a:endParaRPr lang="en-US" sz="1300" dirty="0"/>
          </a:p>
        </p:txBody>
      </p:sp>
      <p:sp>
        <p:nvSpPr>
          <p:cNvPr id="105" name="Rect 105"/>
          <p:cNvSpPr/>
          <p:nvPr/>
        </p:nvSpPr>
        <p:spPr>
          <a:xfrm>
            <a:off x="548640" y="2011480"/>
            <a:ext cx="280000" cy="280000"/>
          </a:xfrm>
          <a:prstGeom prst="snip1Rect">
            <a:avLst/>
          </a:prstGeom>
          <a:solidFill>
            <a:srgbClr val="FFD500"/>
          </a:solidFill>
          <a:ln>
            <a:noFill/>
          </a:ln>
        </p:spPr>
      </p:sp>
      <p:sp>
        <p:nvSpPr>
          <p:cNvPr id="106" name="Check 106"/>
          <p:cNvSpPr/>
          <p:nvPr/>
        </p:nvSpPr>
        <p:spPr>
          <a:xfrm>
            <a:off x="548640" y="2011480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7" name="BulletText 107"/>
          <p:cNvSpPr/>
          <p:nvPr/>
        </p:nvSpPr>
        <p:spPr>
          <a:xfrm>
            <a:off x="978640" y="2001480"/>
            <a:ext cx="10664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Customer Preference: </a:t>
            </a:r>
            <a:r>
              <a:rPr lang="en-US" sz="13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consumers prefer our products, showcasing their confidence in our quality.</a:t>
            </a:r>
            <a:endParaRPr lang="en-US" sz="1300" dirty="0"/>
          </a:p>
        </p:txBody>
      </p:sp>
      <p:sp>
        <p:nvSpPr>
          <p:cNvPr id="108" name="Rect 108"/>
          <p:cNvSpPr/>
          <p:nvPr/>
        </p:nvSpPr>
        <p:spPr>
          <a:xfrm>
            <a:off x="548640" y="2361480"/>
            <a:ext cx="280000" cy="280000"/>
          </a:xfrm>
          <a:prstGeom prst="snip1Rect">
            <a:avLst/>
          </a:prstGeom>
          <a:solidFill>
            <a:srgbClr val="FFD500"/>
          </a:solidFill>
          <a:ln>
            <a:noFill/>
          </a:ln>
        </p:spPr>
      </p:sp>
      <p:sp>
        <p:nvSpPr>
          <p:cNvPr id="109" name="Check 109"/>
          <p:cNvSpPr/>
          <p:nvPr/>
        </p:nvSpPr>
        <p:spPr>
          <a:xfrm>
            <a:off x="548640" y="2361480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0" name="BulletText 110"/>
          <p:cNvSpPr/>
          <p:nvPr/>
        </p:nvSpPr>
        <p:spPr>
          <a:xfrm>
            <a:off x="978640" y="2351480"/>
            <a:ext cx="10664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Reputation: </a:t>
            </a:r>
            <a:r>
              <a:rPr lang="en-US" sz="13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maintain a strong reputation for reliability and innovation in the local market.</a:t>
            </a:r>
            <a:endParaRPr lang="en-US" sz="1300" dirty="0"/>
          </a:p>
        </p:txBody>
      </p:sp>
      <p:sp>
        <p:nvSpPr>
          <p:cNvPr id="111" name="Card 111"/>
          <p:cNvSpPr/>
          <p:nvPr/>
        </p:nvSpPr>
        <p:spPr>
          <a:xfrm>
            <a:off x="548640" y="2741480"/>
            <a:ext cx="11094720" cy="2841012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0A0630">
                <a:alpha val="35000"/>
              </a:srgbClr>
            </a:outerShdw>
          </a:effectLst>
        </p:spPr>
      </p:sp>
      <p:sp>
        <p:nvSpPr>
          <p:cNvPr id="112" name="TextBox 112"/>
          <p:cNvSpPr/>
          <p:nvPr/>
        </p:nvSpPr>
        <p:spPr>
          <a:xfrm>
            <a:off x="798640" y="2891480"/>
            <a:ext cx="1059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AWARENESS &amp; PREFERENCE — ISRAEL ORTHOPEDIC MARKET</a:t>
            </a:r>
            <a:endParaRPr lang="en-US" sz="1200" dirty="0"/>
          </a:p>
        </p:txBody>
      </p:sp>
      <p:sp>
        <p:nvSpPr>
          <p:cNvPr id="113" name="Line 113"/>
          <p:cNvSpPr/>
          <p:nvPr/>
        </p:nvSpPr>
        <p:spPr>
          <a:xfrm>
            <a:off x="798640" y="4474739"/>
            <a:ext cx="10594720" cy="0"/>
          </a:xfrm>
          <a:prstGeom prst="line">
            <a:avLst/>
          </a:prstGeom>
          <a:noFill/>
          <a:ln w="6350">
            <a:solidFill>
              <a:srgbClr val="EFEFF4"/>
            </a:solidFill>
            <a:prstDash val="solid"/>
          </a:ln>
        </p:spPr>
      </p:sp>
      <p:sp>
        <p:nvSpPr>
          <p:cNvPr id="114" name="Line 114"/>
          <p:cNvSpPr/>
          <p:nvPr/>
        </p:nvSpPr>
        <p:spPr>
          <a:xfrm>
            <a:off x="798640" y="4136986"/>
            <a:ext cx="10594720" cy="0"/>
          </a:xfrm>
          <a:prstGeom prst="line">
            <a:avLst/>
          </a:prstGeom>
          <a:noFill/>
          <a:ln w="6350">
            <a:solidFill>
              <a:srgbClr val="EFEFF4"/>
            </a:solidFill>
            <a:prstDash val="solid"/>
          </a:ln>
        </p:spPr>
      </p:sp>
      <p:sp>
        <p:nvSpPr>
          <p:cNvPr id="115" name="Line 115"/>
          <p:cNvSpPr/>
          <p:nvPr/>
        </p:nvSpPr>
        <p:spPr>
          <a:xfrm>
            <a:off x="798640" y="3799233"/>
            <a:ext cx="10594720" cy="0"/>
          </a:xfrm>
          <a:prstGeom prst="line">
            <a:avLst/>
          </a:prstGeom>
          <a:noFill/>
          <a:ln w="6350">
            <a:solidFill>
              <a:srgbClr val="EFEFF4"/>
            </a:solidFill>
            <a:prstDash val="solid"/>
          </a:ln>
        </p:spPr>
      </p:sp>
      <p:sp>
        <p:nvSpPr>
          <p:cNvPr id="116" name="Line 116"/>
          <p:cNvSpPr/>
          <p:nvPr/>
        </p:nvSpPr>
        <p:spPr>
          <a:xfrm>
            <a:off x="798640" y="4812492"/>
            <a:ext cx="10594720" cy="0"/>
          </a:xfrm>
          <a:prstGeom prst="line">
            <a:avLst/>
          </a:prstGeom>
          <a:noFill/>
          <a:ln w="12700">
            <a:solidFill>
              <a:srgbClr val="D6D5E0"/>
            </a:solidFill>
            <a:prstDash val="solid"/>
          </a:ln>
        </p:spPr>
      </p:sp>
      <p:sp>
        <p:nvSpPr>
          <p:cNvPr id="117" name="Rect 117"/>
          <p:cNvSpPr/>
          <p:nvPr/>
        </p:nvSpPr>
        <p:spPr>
          <a:xfrm>
            <a:off x="976129" y="3461480"/>
            <a:ext cx="460000" cy="1351012"/>
          </a:xfrm>
          <a:prstGeom prst="rect">
            <a:avLst/>
          </a:prstGeom>
          <a:solidFill>
            <a:srgbClr val="140D41"/>
          </a:solidFill>
          <a:ln>
            <a:noFill/>
          </a:ln>
        </p:spPr>
      </p:sp>
      <p:sp>
        <p:nvSpPr>
          <p:cNvPr id="118" name="TextBox 118"/>
          <p:cNvSpPr/>
          <p:nvPr/>
        </p:nvSpPr>
        <p:spPr>
          <a:xfrm>
            <a:off x="798640" y="3271480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100" dirty="0"/>
          </a:p>
        </p:txBody>
      </p:sp>
      <p:sp>
        <p:nvSpPr>
          <p:cNvPr id="119" name="CatLabel 119"/>
          <p:cNvSpPr/>
          <p:nvPr/>
        </p:nvSpPr>
        <p:spPr>
          <a:xfrm>
            <a:off x="798640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Scholl</a:t>
            </a:r>
            <a:endParaRPr lang="en-US" sz="850" dirty="0"/>
          </a:p>
        </p:txBody>
      </p:sp>
      <p:sp>
        <p:nvSpPr>
          <p:cNvPr id="120" name="Rect 120"/>
          <p:cNvSpPr/>
          <p:nvPr/>
        </p:nvSpPr>
        <p:spPr>
          <a:xfrm>
            <a:off x="1791107" y="3483997"/>
            <a:ext cx="460000" cy="1328495"/>
          </a:xfrm>
          <a:prstGeom prst="rect">
            <a:avLst/>
          </a:prstGeom>
          <a:solidFill>
            <a:srgbClr val="140D41"/>
          </a:solidFill>
          <a:ln>
            <a:noFill/>
          </a:ln>
        </p:spPr>
      </p:sp>
      <p:sp>
        <p:nvSpPr>
          <p:cNvPr id="121" name="TextBox 121"/>
          <p:cNvSpPr/>
          <p:nvPr/>
        </p:nvSpPr>
        <p:spPr>
          <a:xfrm>
            <a:off x="1613618" y="3293997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100" dirty="0"/>
          </a:p>
        </p:txBody>
      </p:sp>
      <p:sp>
        <p:nvSpPr>
          <p:cNvPr id="122" name="CatLabel 122"/>
          <p:cNvSpPr/>
          <p:nvPr/>
        </p:nvSpPr>
        <p:spPr>
          <a:xfrm>
            <a:off x="1613618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123" name="Rect 123"/>
          <p:cNvSpPr/>
          <p:nvPr/>
        </p:nvSpPr>
        <p:spPr>
          <a:xfrm>
            <a:off x="2606086" y="3529031"/>
            <a:ext cx="460000" cy="1283461"/>
          </a:xfrm>
          <a:prstGeom prst="rect">
            <a:avLst/>
          </a:prstGeom>
          <a:solidFill>
            <a:srgbClr val="FFD500"/>
          </a:solidFill>
          <a:ln w="12700">
            <a:solidFill>
              <a:srgbClr val="140D41"/>
            </a:solidFill>
            <a:prstDash val="solid"/>
          </a:ln>
        </p:spPr>
      </p:sp>
      <p:sp>
        <p:nvSpPr>
          <p:cNvPr id="124" name="TextBox 124"/>
          <p:cNvSpPr/>
          <p:nvPr/>
        </p:nvSpPr>
        <p:spPr>
          <a:xfrm>
            <a:off x="2428596" y="3339031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100" dirty="0"/>
          </a:p>
        </p:txBody>
      </p:sp>
      <p:sp>
        <p:nvSpPr>
          <p:cNvPr id="125" name="CatLabel 125"/>
          <p:cNvSpPr/>
          <p:nvPr/>
        </p:nvSpPr>
        <p:spPr>
          <a:xfrm>
            <a:off x="2428596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</a:t>
            </a:r>
            <a:endParaRPr lang="en-US" sz="850" dirty="0"/>
          </a:p>
        </p:txBody>
      </p:sp>
      <p:sp>
        <p:nvSpPr>
          <p:cNvPr id="126" name="Rect 126"/>
          <p:cNvSpPr/>
          <p:nvPr/>
        </p:nvSpPr>
        <p:spPr>
          <a:xfrm>
            <a:off x="3421064" y="4654874"/>
            <a:ext cx="460000" cy="157618"/>
          </a:xfrm>
          <a:prstGeom prst="rect">
            <a:avLst/>
          </a:prstGeom>
          <a:solidFill>
            <a:srgbClr val="C9C6DC"/>
          </a:solidFill>
          <a:ln>
            <a:noFill/>
          </a:ln>
        </p:spPr>
      </p:sp>
      <p:sp>
        <p:nvSpPr>
          <p:cNvPr id="127" name="TextBox 127"/>
          <p:cNvSpPr/>
          <p:nvPr/>
        </p:nvSpPr>
        <p:spPr>
          <a:xfrm>
            <a:off x="3243575" y="4464874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94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750" dirty="0"/>
          </a:p>
        </p:txBody>
      </p:sp>
      <p:sp>
        <p:nvSpPr>
          <p:cNvPr id="128" name="CatLabel 128"/>
          <p:cNvSpPr/>
          <p:nvPr/>
        </p:nvSpPr>
        <p:spPr>
          <a:xfrm>
            <a:off x="3243575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</a:t>
            </a:r>
            <a:endParaRPr lang="en-US" sz="700" dirty="0"/>
          </a:p>
        </p:txBody>
      </p:sp>
      <p:sp>
        <p:nvSpPr>
          <p:cNvPr id="129" name="Rect 129"/>
          <p:cNvSpPr/>
          <p:nvPr/>
        </p:nvSpPr>
        <p:spPr>
          <a:xfrm>
            <a:off x="4236043" y="4677391"/>
            <a:ext cx="460000" cy="135101"/>
          </a:xfrm>
          <a:prstGeom prst="rect">
            <a:avLst/>
          </a:prstGeom>
          <a:solidFill>
            <a:srgbClr val="C9C6DC"/>
          </a:solidFill>
          <a:ln>
            <a:noFill/>
          </a:ln>
        </p:spPr>
      </p:sp>
      <p:sp>
        <p:nvSpPr>
          <p:cNvPr id="130" name="TextBox 130"/>
          <p:cNvSpPr/>
          <p:nvPr/>
        </p:nvSpPr>
        <p:spPr>
          <a:xfrm>
            <a:off x="4058553" y="4487391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94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750" dirty="0"/>
          </a:p>
        </p:txBody>
      </p:sp>
      <p:sp>
        <p:nvSpPr>
          <p:cNvPr id="131" name="CatLabel 131"/>
          <p:cNvSpPr/>
          <p:nvPr/>
        </p:nvSpPr>
        <p:spPr>
          <a:xfrm>
            <a:off x="4058553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Mueller</a:t>
            </a:r>
            <a:endParaRPr lang="en-US" sz="700" dirty="0"/>
          </a:p>
        </p:txBody>
      </p:sp>
      <p:sp>
        <p:nvSpPr>
          <p:cNvPr id="132" name="Rect 132"/>
          <p:cNvSpPr/>
          <p:nvPr/>
        </p:nvSpPr>
        <p:spPr>
          <a:xfrm>
            <a:off x="5051021" y="4722425"/>
            <a:ext cx="460000" cy="90067"/>
          </a:xfrm>
          <a:prstGeom prst="rect">
            <a:avLst/>
          </a:prstGeom>
          <a:solidFill>
            <a:srgbClr val="C9C6DC"/>
          </a:solidFill>
          <a:ln>
            <a:noFill/>
          </a:ln>
        </p:spPr>
      </p:sp>
      <p:sp>
        <p:nvSpPr>
          <p:cNvPr id="133" name="TextBox 133"/>
          <p:cNvSpPr/>
          <p:nvPr/>
        </p:nvSpPr>
        <p:spPr>
          <a:xfrm>
            <a:off x="4873532" y="4532425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94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750" dirty="0"/>
          </a:p>
        </p:txBody>
      </p:sp>
      <p:sp>
        <p:nvSpPr>
          <p:cNvPr id="134" name="CatLabel 134"/>
          <p:cNvSpPr/>
          <p:nvPr/>
        </p:nvSpPr>
        <p:spPr>
          <a:xfrm>
            <a:off x="4873532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Fit</a:t>
            </a:r>
            <a:endParaRPr lang="en-US" sz="700" dirty="0"/>
          </a:p>
        </p:txBody>
      </p:sp>
      <p:sp>
        <p:nvSpPr>
          <p:cNvPr id="135" name="Rect 135"/>
          <p:cNvSpPr/>
          <p:nvPr/>
        </p:nvSpPr>
        <p:spPr>
          <a:xfrm>
            <a:off x="5866000" y="4767459"/>
            <a:ext cx="460000" cy="45033"/>
          </a:xfrm>
          <a:prstGeom prst="rect">
            <a:avLst/>
          </a:prstGeom>
          <a:solidFill>
            <a:srgbClr val="C9C6DC"/>
          </a:solidFill>
          <a:ln>
            <a:noFill/>
          </a:ln>
        </p:spPr>
      </p:sp>
      <p:sp>
        <p:nvSpPr>
          <p:cNvPr id="136" name="TextBox 136"/>
          <p:cNvSpPr/>
          <p:nvPr/>
        </p:nvSpPr>
        <p:spPr>
          <a:xfrm>
            <a:off x="5688510" y="4577459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94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750" dirty="0"/>
          </a:p>
        </p:txBody>
      </p:sp>
      <p:sp>
        <p:nvSpPr>
          <p:cNvPr id="137" name="CatLabel 137"/>
          <p:cNvSpPr/>
          <p:nvPr/>
        </p:nvSpPr>
        <p:spPr>
          <a:xfrm>
            <a:off x="5688510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Orliman</a:t>
            </a:r>
            <a:endParaRPr lang="en-US" sz="700" dirty="0"/>
          </a:p>
        </p:txBody>
      </p:sp>
      <p:sp>
        <p:nvSpPr>
          <p:cNvPr id="138" name="Rect 138"/>
          <p:cNvSpPr/>
          <p:nvPr/>
        </p:nvSpPr>
        <p:spPr>
          <a:xfrm>
            <a:off x="6680978" y="4767459"/>
            <a:ext cx="460000" cy="45033"/>
          </a:xfrm>
          <a:prstGeom prst="rect">
            <a:avLst/>
          </a:prstGeom>
          <a:solidFill>
            <a:srgbClr val="C9C6DC"/>
          </a:solidFill>
          <a:ln>
            <a:noFill/>
          </a:ln>
        </p:spPr>
      </p:sp>
      <p:sp>
        <p:nvSpPr>
          <p:cNvPr id="139" name="TextBox 139"/>
          <p:cNvSpPr/>
          <p:nvPr/>
        </p:nvSpPr>
        <p:spPr>
          <a:xfrm>
            <a:off x="6503489" y="4577459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94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750" dirty="0"/>
          </a:p>
        </p:txBody>
      </p:sp>
      <p:sp>
        <p:nvSpPr>
          <p:cNvPr id="140" name="CatLabel 140"/>
          <p:cNvSpPr/>
          <p:nvPr/>
        </p:nvSpPr>
        <p:spPr>
          <a:xfrm>
            <a:off x="6503489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On</a:t>
            </a:r>
            <a:endParaRPr lang="en-US" sz="700" dirty="0"/>
          </a:p>
        </p:txBody>
      </p:sp>
      <p:sp>
        <p:nvSpPr>
          <p:cNvPr id="141" name="Rect 141"/>
          <p:cNvSpPr/>
          <p:nvPr/>
        </p:nvSpPr>
        <p:spPr>
          <a:xfrm>
            <a:off x="7495956" y="4789976"/>
            <a:ext cx="460000" cy="22516"/>
          </a:xfrm>
          <a:prstGeom prst="rect">
            <a:avLst/>
          </a:prstGeom>
          <a:solidFill>
            <a:srgbClr val="C9C6DC"/>
          </a:solidFill>
          <a:ln>
            <a:noFill/>
          </a:ln>
        </p:spPr>
      </p:sp>
      <p:sp>
        <p:nvSpPr>
          <p:cNvPr id="142" name="TextBox 142"/>
          <p:cNvSpPr/>
          <p:nvPr/>
        </p:nvSpPr>
        <p:spPr>
          <a:xfrm>
            <a:off x="7318467" y="4599976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750" dirty="0"/>
          </a:p>
        </p:txBody>
      </p:sp>
      <p:sp>
        <p:nvSpPr>
          <p:cNvPr id="143" name="CatLabel 143"/>
          <p:cNvSpPr/>
          <p:nvPr/>
        </p:nvSpPr>
        <p:spPr>
          <a:xfrm>
            <a:off x="7318467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Bauerfeind</a:t>
            </a:r>
            <a:endParaRPr lang="en-US" sz="700" dirty="0"/>
          </a:p>
        </p:txBody>
      </p:sp>
      <p:sp>
        <p:nvSpPr>
          <p:cNvPr id="144" name="Rect 144"/>
          <p:cNvSpPr/>
          <p:nvPr/>
        </p:nvSpPr>
        <p:spPr>
          <a:xfrm>
            <a:off x="8310935" y="4789976"/>
            <a:ext cx="460000" cy="22516"/>
          </a:xfrm>
          <a:prstGeom prst="rect">
            <a:avLst/>
          </a:prstGeom>
          <a:solidFill>
            <a:srgbClr val="C9C6DC"/>
          </a:solidFill>
          <a:ln>
            <a:noFill/>
          </a:ln>
        </p:spPr>
      </p:sp>
      <p:sp>
        <p:nvSpPr>
          <p:cNvPr id="145" name="TextBox 145"/>
          <p:cNvSpPr/>
          <p:nvPr/>
        </p:nvSpPr>
        <p:spPr>
          <a:xfrm>
            <a:off x="8133446" y="4599976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750" dirty="0"/>
          </a:p>
        </p:txBody>
      </p:sp>
      <p:sp>
        <p:nvSpPr>
          <p:cNvPr id="146" name="CatLabel 146"/>
          <p:cNvSpPr/>
          <p:nvPr/>
        </p:nvSpPr>
        <p:spPr>
          <a:xfrm>
            <a:off x="8133446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Genutrain</a:t>
            </a:r>
            <a:endParaRPr lang="en-US" sz="700" dirty="0"/>
          </a:p>
        </p:txBody>
      </p:sp>
      <p:sp>
        <p:nvSpPr>
          <p:cNvPr id="147" name="Rect 147"/>
          <p:cNvSpPr/>
          <p:nvPr/>
        </p:nvSpPr>
        <p:spPr>
          <a:xfrm>
            <a:off x="9125913" y="4789976"/>
            <a:ext cx="460000" cy="22516"/>
          </a:xfrm>
          <a:prstGeom prst="rect">
            <a:avLst/>
          </a:prstGeom>
          <a:solidFill>
            <a:srgbClr val="C9C6DC"/>
          </a:solidFill>
          <a:ln>
            <a:noFill/>
          </a:ln>
        </p:spPr>
      </p:sp>
      <p:sp>
        <p:nvSpPr>
          <p:cNvPr id="148" name="TextBox 148"/>
          <p:cNvSpPr/>
          <p:nvPr/>
        </p:nvSpPr>
        <p:spPr>
          <a:xfrm>
            <a:off x="8948424" y="4599976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750" dirty="0"/>
          </a:p>
        </p:txBody>
      </p:sp>
      <p:sp>
        <p:nvSpPr>
          <p:cNvPr id="149" name="CatLabel 149"/>
          <p:cNvSpPr/>
          <p:nvPr/>
        </p:nvSpPr>
        <p:spPr>
          <a:xfrm>
            <a:off x="8948424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Bort</a:t>
            </a:r>
            <a:endParaRPr lang="en-US" sz="700" dirty="0"/>
          </a:p>
        </p:txBody>
      </p:sp>
      <p:sp>
        <p:nvSpPr>
          <p:cNvPr id="150" name="Rect 150"/>
          <p:cNvSpPr/>
          <p:nvPr/>
        </p:nvSpPr>
        <p:spPr>
          <a:xfrm>
            <a:off x="9940892" y="4801234"/>
            <a:ext cx="460000" cy="11258"/>
          </a:xfrm>
          <a:prstGeom prst="rect">
            <a:avLst/>
          </a:prstGeom>
          <a:solidFill>
            <a:srgbClr val="C9C6DC"/>
          </a:solidFill>
          <a:ln>
            <a:noFill/>
          </a:ln>
        </p:spPr>
      </p:sp>
      <p:sp>
        <p:nvSpPr>
          <p:cNvPr id="151" name="TextBox 151"/>
          <p:cNvSpPr/>
          <p:nvPr/>
        </p:nvSpPr>
        <p:spPr>
          <a:xfrm>
            <a:off x="9763403" y="4611234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C8B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750" dirty="0"/>
          </a:p>
        </p:txBody>
      </p:sp>
      <p:sp>
        <p:nvSpPr>
          <p:cNvPr id="152" name="CatLabel 152"/>
          <p:cNvSpPr/>
          <p:nvPr/>
        </p:nvSpPr>
        <p:spPr>
          <a:xfrm>
            <a:off x="9763403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</a:t>
            </a:r>
            <a:endParaRPr lang="en-US" sz="700" dirty="0"/>
          </a:p>
        </p:txBody>
      </p:sp>
      <p:sp>
        <p:nvSpPr>
          <p:cNvPr id="153" name="Rect 153"/>
          <p:cNvSpPr/>
          <p:nvPr/>
        </p:nvSpPr>
        <p:spPr>
          <a:xfrm>
            <a:off x="10755870" y="4654874"/>
            <a:ext cx="460000" cy="157618"/>
          </a:xfrm>
          <a:prstGeom prst="rect">
            <a:avLst/>
          </a:prstGeom>
          <a:solidFill>
            <a:srgbClr val="D6D6D6"/>
          </a:solidFill>
          <a:ln>
            <a:noFill/>
          </a:ln>
        </p:spPr>
      </p:sp>
      <p:sp>
        <p:nvSpPr>
          <p:cNvPr id="154" name="TextBox 154"/>
          <p:cNvSpPr/>
          <p:nvPr/>
        </p:nvSpPr>
        <p:spPr>
          <a:xfrm>
            <a:off x="10578381" y="4464874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94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750" dirty="0"/>
          </a:p>
        </p:txBody>
      </p:sp>
      <p:sp>
        <p:nvSpPr>
          <p:cNvPr id="155" name="CatLabel 155"/>
          <p:cNvSpPr/>
          <p:nvPr/>
        </p:nvSpPr>
        <p:spPr>
          <a:xfrm>
            <a:off x="10578381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</a:t>
            </a:r>
            <a:endParaRPr lang="en-US" sz="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</a:t>
            </a:r>
            <a:endParaRPr lang="en-US" sz="700" dirty="0"/>
          </a:p>
        </p:txBody>
      </p:sp>
      <p:pic>
        <p:nvPicPr>
          <p:cNvPr id="156" name="logo-schol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329" y="5152492"/>
            <a:ext cx="291600" cy="300000"/>
          </a:xfrm>
          <a:prstGeom prst="rect">
            <a:avLst/>
          </a:prstGeom>
        </p:spPr>
      </p:pic>
      <p:pic>
        <p:nvPicPr>
          <p:cNvPr id="157" name="logo-lif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5207" y="5152492"/>
            <a:ext cx="451800" cy="300000"/>
          </a:xfrm>
          <a:prstGeom prst="rect">
            <a:avLst/>
          </a:prstGeom>
        </p:spPr>
      </p:pic>
      <p:pic>
        <p:nvPicPr>
          <p:cNvPr id="158" name="logo-uriel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8597" y="5161314"/>
            <a:ext cx="814978" cy="282355"/>
          </a:xfrm>
          <a:prstGeom prst="rect">
            <a:avLst/>
          </a:prstGeom>
        </p:spPr>
      </p:pic>
      <p:sp>
        <p:nvSpPr>
          <p:cNvPr id="159" name="TextBox 159"/>
          <p:cNvSpPr/>
          <p:nvPr/>
        </p:nvSpPr>
        <p:spPr>
          <a:xfrm>
            <a:off x="548640" y="5662492"/>
            <a:ext cx="1109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**Survey of 500 consumers, 2023.</a:t>
            </a:r>
            <a:endParaRPr lang="en-US" sz="900" dirty="0"/>
          </a:p>
        </p:txBody>
      </p:sp>
      <p:pic>
        <p:nvPicPr>
          <p:cNvPr id="160" name="Image Foot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GLOBAL ORTHOPEDIC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BRACES &amp; SUPPORTS MARKET</a:t>
            </a:r>
            <a:endParaRPr lang="en-US" sz="1000" dirty="0"/>
          </a:p>
        </p:txBody>
      </p:sp>
      <p:sp>
        <p:nvSpPr>
          <p:cNvPr id="3" name="Text 3"/>
          <p:cNvSpPr/>
          <p:nvPr/>
        </p:nvSpPr>
        <p:spPr>
          <a:xfrm>
            <a:off x="548640" y="1621480"/>
            <a:ext cx="11094720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core global market — orthopedic braces &amp; supports — was valued at </a:t>
            </a:r>
            <a:r>
              <a:rPr lang="en-US" sz="14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$4.67B in 2024</a:t>
            </a: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is projected to reach </a:t>
            </a:r>
            <a:r>
              <a:rPr lang="en-US" sz="14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$7.01B by 2030</a:t>
            </a: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r>
              <a:rPr lang="en-US" sz="1400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 CAGR</a:t>
            </a: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analysts confirm consistent growth — knee braces and e-commerce/DTC lead the expansion.</a:t>
            </a:r>
            <a:endParaRPr lang="en-US" sz="1000" dirty="0"/>
          </a:p>
        </p:txBody>
      </p:sp>
      <p:sp>
        <p:nvSpPr>
          <p:cNvPr id="4" name="Card 4"/>
          <p:cNvSpPr/>
          <p:nvPr/>
        </p:nvSpPr>
        <p:spPr>
          <a:xfrm>
            <a:off x="548640" y="2531480"/>
            <a:ext cx="5350612" cy="258000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76200" dist="38100" dir="5400000">
              <a:srgbClr val="0A0630">
                <a:alpha val="16000"/>
              </a:srgbClr>
            </a:outerShdw>
          </a:effectLst>
        </p:spPr>
      </p:sp>
      <p:sp>
        <p:nvSpPr>
          <p:cNvPr id="5" name="Card 5"/>
          <p:cNvSpPr/>
          <p:nvPr/>
        </p:nvSpPr>
        <p:spPr>
          <a:xfrm>
            <a:off x="6292444" y="2531480"/>
            <a:ext cx="5350612" cy="258000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sx="100000" sy="100000" kx="0" ky="0" algn="bl" rotWithShape="0" blurRad="76200" dist="38100" dir="5400000">
              <a:srgbClr val="0A0630">
                <a:alpha val="16000"/>
              </a:srgbClr>
            </a:outerShdw>
          </a:effectLst>
        </p:spPr>
      </p:sp>
      <p:sp>
        <p:nvSpPr>
          <p:cNvPr id="6" name="Text 6"/>
          <p:cNvSpPr/>
          <p:nvPr/>
        </p:nvSpPr>
        <p:spPr>
          <a:xfrm>
            <a:off x="822960" y="2721480"/>
            <a:ext cx="480197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MARKET SIZE</a:t>
            </a:r>
            <a:endParaRPr lang="en-US" sz="1200" dirty="0"/>
          </a:p>
        </p:txBody>
      </p:sp>
      <p:sp>
        <p:nvSpPr>
          <p:cNvPr id="7" name="Text 7"/>
          <p:cNvSpPr/>
          <p:nvPr/>
        </p:nvSpPr>
        <p:spPr>
          <a:xfrm>
            <a:off x="822960" y="3051480"/>
            <a:ext cx="48019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billions — Grand View Research, 2024–2030</a:t>
            </a:r>
            <a:endParaRPr lang="en-US" sz="1000" dirty="0"/>
          </a:p>
        </p:txBody>
      </p:sp>
      <p:graphicFrame>
        <p:nvGraphicFramePr>
          <p:cNvPr id="8" name="Chart 8" descr=""/>
          <p:cNvGraphicFramePr/>
          <p:nvPr/>
        </p:nvGraphicFramePr>
        <p:xfrm>
          <a:off x="731520" y="3351480"/>
          <a:ext cx="4984852" cy="142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9"/>
          <p:cNvSpPr/>
          <p:nvPr/>
        </p:nvSpPr>
        <p:spPr>
          <a:xfrm>
            <a:off x="822960" y="4801480"/>
            <a:ext cx="4801972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*2030 figure is a forecast (CAGR 7.3%)</a:t>
            </a:r>
            <a:endParaRPr lang="en-US" sz="900" dirty="0"/>
          </a:p>
        </p:txBody>
      </p:sp>
      <p:sp>
        <p:nvSpPr>
          <p:cNvPr id="10" name="Text 10"/>
          <p:cNvSpPr/>
          <p:nvPr/>
        </p:nvSpPr>
        <p:spPr>
          <a:xfrm>
            <a:off x="6566764" y="2721480"/>
            <a:ext cx="480197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BY BODY REGION</a:t>
            </a:r>
            <a:endParaRPr lang="en-US" sz="1200" dirty="0"/>
          </a:p>
        </p:txBody>
      </p:sp>
      <p:sp>
        <p:nvSpPr>
          <p:cNvPr id="11" name="Text 11"/>
          <p:cNvSpPr/>
          <p:nvPr/>
        </p:nvSpPr>
        <p:spPr>
          <a:xfrm>
            <a:off x="6566764" y="3051480"/>
            <a:ext cx="4801972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total market — MarketsandMarkets, 2025</a:t>
            </a:r>
            <a:endParaRPr lang="en-US" sz="1000" dirty="0"/>
          </a:p>
        </p:txBody>
      </p:sp>
      <p:graphicFrame>
        <p:nvGraphicFramePr>
          <p:cNvPr id="12" name="Chart 12" descr=""/>
          <p:cNvGraphicFramePr/>
          <p:nvPr/>
        </p:nvGraphicFramePr>
        <p:xfrm>
          <a:off x="6475324" y="3351480"/>
          <a:ext cx="4984852" cy="142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13"/>
          <p:cNvSpPr/>
          <p:nvPr/>
        </p:nvSpPr>
        <p:spPr>
          <a:xfrm>
            <a:off x="6566764" y="4801480"/>
            <a:ext cx="4801972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braces alone are the largest sub-segment — 34–46% of total demand, and the fastest-growing.</a:t>
            </a:r>
            <a:endParaRPr lang="en-US" sz="900" dirty="0"/>
          </a:p>
        </p:txBody>
      </p:sp>
      <p:sp>
        <p:nvSpPr>
          <p:cNvPr id="26" name="Text 26"/>
          <p:cNvSpPr/>
          <p:nvPr/>
        </p:nvSpPr>
        <p:spPr>
          <a:xfrm>
            <a:off x="548640" y="5171480"/>
            <a:ext cx="1109472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900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Market-size estimates vary by source ($3.8–4.9B for 2024/2025) depending on category definition (e.g., inclusion of pain-management products). Grand View Research is used as the primary estimate here; data was gathered via search snippets, not a direct source fetch.</a:t>
            </a:r>
            <a:endParaRPr lang="en-US" sz="1000" dirty="0"/>
          </a:p>
        </p:txBody>
      </p:sp>
      <p:sp>
        <p:nvSpPr>
          <p:cNvPr id="27" name="Text 27"/>
          <p:cNvSpPr/>
          <p:nvPr/>
        </p:nvSpPr>
        <p:spPr>
          <a:xfrm>
            <a:off x="548640" y="5591480"/>
            <a:ext cx="11094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8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Grand View Research, Orthopedic Braces &amp; Supports Market (2025); MarketsandMarkets (2025); Precedence Research (2025); Mordor Intelligence (2025); Future Market Insights (2025). Accessed Aug 2026.</a:t>
            </a:r>
            <a:endParaRPr lang="en-US" sz="1000" dirty="0"/>
          </a:p>
        </p:txBody>
      </p:sp>
      <p:pic>
        <p:nvPicPr>
          <p:cNvPr id="28" name="Image Foot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2026-08-08T14:49:31Z</dcterms:created>
  <dcterms:modified xsi:type="dcterms:W3CDTF">2026-08-08T14:49:31Z</dcterms:modified>
</cp:coreProperties>
</file>