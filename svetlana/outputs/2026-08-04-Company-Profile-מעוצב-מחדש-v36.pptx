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 rot="15305381">
            <a:off x="9984933" y="4497921"/>
            <a:ext cx="383544" cy="644369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 rot="15243276">
            <a:off x="10926702" y="4483833"/>
            <a:ext cx="243870" cy="674316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6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URIEL, FROM MEDICAL CARE TO ACTIVE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ConnectorBeam"/>
          <p:cNvCxnSpPr/>
          <p:nvPr/>
        </p:nvCxnSpPr>
        <p:spPr>
          <a:xfrm>
            <a:off x="5762390" y="3600000"/>
            <a:ext cx="684635" cy="0"/>
          </a:xfrm>
          <a:prstGeom prst="line">
            <a:avLst/>
          </a:prstGeom>
          <a:ln w="139700" cap="rnd">
            <a:solidFill>
              <a:srgbClr val="FFD500"/>
            </a:solidFill>
            <a:headEnd type="triangle" w="lg" len="lg"/>
            <a:tailEnd type="triangle" w="lg" len="lg"/>
          </a:ln>
        </p:spPr>
      </p:cxnSp>
      <p:sp>
        <p:nvSpPr>
          <p:cNvPr id="201" name="SynergyBadge"/>
          <p:cNvSpPr/>
          <p:nvPr/>
        </p:nvSpPr>
        <p:spPr>
          <a:xfrm>
            <a:off x="5654707" y="3150000"/>
            <a:ext cx="900000" cy="900000"/>
          </a:xfrm>
          <a:prstGeom prst="ellipse">
            <a:avLst/>
          </a:prstGeom>
          <a:solidFill>
            <a:srgbClr val="140D41"/>
          </a:solidFill>
          <a:ln w="38100">
            <a:solidFill>
              <a:srgbClr val="FFD500"/>
            </a:solidFill>
          </a:ln>
          <a:effectLst>
            <a:outerShdw blurRad="127000" dist="50800" dir="5400000" algn="bl" rotWithShape="0">
              <a:srgbClr val="0A0630">
                <a:alpha val="35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</a:p>
        </p:txBody>
      </p: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2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0" name="TrunkExtension"/>
          <p:cNvCxnSpPr/>
          <p:nvPr/>
        </p:nvCxnSpPr>
        <p:spPr>
          <a:xfrm>
            <a:off x="10750880" y="3825000"/>
            <a:ext cx="1121120" cy="1"/>
          </a:xfrm>
          <a:prstGeom prst="line">
            <a:avLst/>
          </a:prstGeom>
          <a:ln w="15875">
            <a:gradFill>
              <a:gsLst>
                <a:gs pos="0">
                  <a:srgbClr val="9A99AC">
                    <a:alpha val="100000"/>
                  </a:srgbClr>
                </a:gs>
                <a:gs pos="100000">
                  <a:srgbClr val="9A99AC">
                    <a:alpha val="0"/>
                  </a:srgbClr>
                </a:gs>
              </a:gsLst>
              <a:lin ang="0" scaled="1"/>
            </a:gradFill>
          </a:ln>
        </p:spPr>
      </p:cxnSp>
      <p:cxnSp>
        <p:nvCxnSpPr>
          <p:cNvPr id="100" name="Connector0"/>
          <p:cNvCxnSpPr/>
          <p:nvPr/>
        </p:nvCxnSpPr>
        <p:spPr>
          <a:xfrm>
            <a:off x="12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4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established by Mr. Uriel Rozen</a:t>
            </a:r>
          </a:p>
        </p:txBody>
      </p:sp>
      <p:sp>
        <p:nvSpPr>
          <p:cNvPr id="102" name="YearCircle0"/>
          <p:cNvSpPr/>
          <p:nvPr/>
        </p:nvSpPr>
        <p:spPr>
          <a:xfrm>
            <a:off x="8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599657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1774657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Meditex Group LTD,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Market leader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224657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3958194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133194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3583194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5316731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4491731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official supplier of Hospitals</a:t>
            </a:r>
          </a:p>
        </p:txBody>
      </p:sp>
      <p:sp>
        <p:nvSpPr>
          <p:cNvPr id="132" name="YearCircle3"/>
          <p:cNvSpPr/>
          <p:nvPr/>
        </p:nvSpPr>
        <p:spPr>
          <a:xfrm>
            <a:off x="4941731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6675268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5850268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Going worldwide,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Serving over 20 countries </a:t>
            </a:r>
          </a:p>
        </p:txBody>
      </p:sp>
      <p:sp>
        <p:nvSpPr>
          <p:cNvPr id="142" name="YearCircle4"/>
          <p:cNvSpPr/>
          <p:nvPr/>
        </p:nvSpPr>
        <p:spPr>
          <a:xfrm>
            <a:off x="6300268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8033805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7208805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7658805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9392342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8567342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Opening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Uriel.co.il</a:t>
            </a:r>
          </a:p>
        </p:txBody>
      </p:sp>
      <p:sp>
        <p:nvSpPr>
          <p:cNvPr id="162" name="YearCircle6"/>
          <p:cNvSpPr/>
          <p:nvPr/>
        </p:nvSpPr>
        <p:spPr>
          <a:xfrm>
            <a:off x="9017342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cxnSp>
        <p:nvCxnSpPr>
          <p:cNvPr id="170" name="Connector7"/>
          <p:cNvCxnSpPr/>
          <p:nvPr/>
        </p:nvCxnSpPr>
        <p:spPr>
          <a:xfrm>
            <a:off x="107508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71" name="Card7"/>
          <p:cNvSpPr/>
          <p:nvPr/>
        </p:nvSpPr>
        <p:spPr>
          <a:xfrm>
            <a:off x="99258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and JV's</a:t>
            </a:r>
          </a:p>
        </p:txBody>
      </p:sp>
      <p:sp>
        <p:nvSpPr>
          <p:cNvPr id="172" name="YearCircle7"/>
          <p:cNvSpPr/>
          <p:nvPr/>
        </p:nvSpPr>
        <p:spPr>
          <a:xfrm>
            <a:off x="103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