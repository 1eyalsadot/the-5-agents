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e-5-agents/104e019b-481e-5835-b5aa-7854a99e3b07/scratchpad/work/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34440" y="347472"/>
            <a:ext cx="104086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חיים — 20 הסניפים המובילים באורתופדיה מול ביצועי מכירות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950976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דירוג יחסי בין 84 סניפי חיים באורתופדיה בלבד (לא הדירוג הכללי ברשת) · פער = דירוג מכירות פחות דירוג אורתופדיה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42255" y="1298448"/>
          <a:ext cx="6492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640080"/>
                <a:gridCol w="868680"/>
                <a:gridCol w="914400"/>
                <a:gridCol w="914400"/>
                <a:gridCol w="77724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פער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דירוג מכירות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מול קצב 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קצב 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מכירות 2026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דירוג אורתופדיה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שם הסניף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38,412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52,371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תל השומר  ▲ לשכפל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2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18.2%-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29,980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24,534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רמת אביב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27,608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31,154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לונדון מיניסטור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12.0%-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26,435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23,252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איכילוב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20,909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22,057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שיכון דן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18.9%-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24,044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19,508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ראשון צפון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22.0%-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19,459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15,174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האר"י נתניה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17,998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17,937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נס ציונה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20.1%-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27,237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21,753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צמרות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19,166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18,411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פקר כפר-סבא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18,224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21,741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גאלרי ביג גלילות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17,546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20,699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שבעת הכוכבים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22.8%-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18,434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14,227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רעננה פארק מול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12,785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13,651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יפו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14,119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12,862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קניון עזריאלי ת"א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20.2%-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15,655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12,492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C972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ביג פולג  ● מומלץ לחזק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26.0%-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17,421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12,899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היכל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17,026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15,375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עיר-ימים נתניה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14,762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17,571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רעננה אחוזה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15.2%-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11,464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9,717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C972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רמז נתניה  ● מומלץ לחזק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1298448"/>
            <a:ext cx="4510735" cy="5084064"/>
          </a:xfrm>
          <a:prstGeom prst="roundRect">
            <a:avLst>
              <a:gd name="adj" fmla="val 2433"/>
            </a:avLst>
          </a:prstGeom>
          <a:solidFill>
            <a:srgbClr val="002F6C"/>
          </a:solidFill>
          <a:ln/>
          <a:effectLst>
            <a:outerShdw sx="100000" sy="100000" kx="0" ky="0" algn="bl" rotWithShape="0" blurRad="76200" dist="25400" dir="5400000">
              <a:srgbClr val="1A1A1A">
                <a:alpha val="2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77240" y="1554480"/>
            <a:ext cx="3870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תובנות והמלצות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3413455" y="2011680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קורס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395167" y="20665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FF9B93"/>
          </a:solidFill>
          <a:ln/>
        </p:spPr>
      </p:sp>
      <p:sp>
        <p:nvSpPr>
          <p:cNvPr id="12" name="Text 8"/>
          <p:cNvSpPr/>
          <p:nvPr/>
        </p:nvSpPr>
        <p:spPr>
          <a:xfrm>
            <a:off x="2105863" y="2011680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מומלץ לחזק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087575" y="20665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FFCB66"/>
          </a:solidFill>
          <a:ln/>
        </p:spPr>
      </p:sp>
      <p:sp>
        <p:nvSpPr>
          <p:cNvPr id="14" name="Text 10"/>
          <p:cNvSpPr/>
          <p:nvPr/>
        </p:nvSpPr>
        <p:spPr>
          <a:xfrm>
            <a:off x="798271" y="2011680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לשכפל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79983" y="20665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8FD9A8"/>
          </a:solidFill>
          <a:ln/>
        </p:spPr>
      </p:sp>
      <p:sp>
        <p:nvSpPr>
          <p:cNvPr id="16" name="Shape 12"/>
          <p:cNvSpPr/>
          <p:nvPr/>
        </p:nvSpPr>
        <p:spPr>
          <a:xfrm>
            <a:off x="4501591" y="24780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F9B93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2432304"/>
            <a:ext cx="36329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9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קורס — 4 סניפים בירידה חדה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77240" y="2724912"/>
            <a:ext cx="3870655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הרצל ראשל"צ (-112%), מגדלי תל-אביב (-72%), נוה-הדרים (-55%) ובית אמריקה (-52%) מול קצב 2025. מומלץ: לבדוק מיידית מול הסוכן מלאי, סגל ותחרות מקומית בסניפים אלו, לפני שהמגמה ממשיכה.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501591" y="3678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FCB66"/>
          </a:solidFill>
          <a:ln/>
        </p:spPr>
      </p:sp>
      <p:sp>
        <p:nvSpPr>
          <p:cNvPr id="20" name="Text 16"/>
          <p:cNvSpPr/>
          <p:nvPr/>
        </p:nvSpPr>
        <p:spPr>
          <a:xfrm>
            <a:off x="777240" y="3633216"/>
            <a:ext cx="36329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C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מומלץ לחזק — 7 סניפים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77240" y="3925824"/>
            <a:ext cx="3870655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גורדון (פער +22), רמז נתניה (+16, בטבלה #20), ביג פולג (+12, בטבלה #16), הרצליה-פיתוח (+12), סוקולוב הרצליה (+12), קניון TLV (+12) וקניון הזהב (+12) — חזקים באורתופדיה יחסית לשאר סניפי חיים, אך מוכרים חלש יחסית אליהם. מומלץ: לחדד תמהיל והצגת הקטגוריה.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501591" y="50703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8FD9A8"/>
          </a:solidFill>
          <a:ln/>
        </p:spPr>
      </p:sp>
      <p:sp>
        <p:nvSpPr>
          <p:cNvPr id="23" name="Text 19"/>
          <p:cNvSpPr/>
          <p:nvPr/>
        </p:nvSpPr>
        <p:spPr>
          <a:xfrm>
            <a:off x="777240" y="5024628"/>
            <a:ext cx="36329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F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לשכפל — 5 סניפים בצמיחה חזקה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777240" y="5317236"/>
            <a:ext cx="3870655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קסטל ת"א (+86%), אבן גבירול (+70%), מרינה (+39%), תל השומר (+36%, מדורג #1 בטבלה) ופארק תעשיות עמק חפר (+31%) מול קצב 2025. מומלץ: לזהות מה עובד בסניפים אלו ולשכפל לסניפים חלשים יותר.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2026-08-01T15:05:11Z</dcterms:created>
  <dcterms:modified xsi:type="dcterms:W3CDTF">2026-08-01T15:05:11Z</dcterms:modified>
</cp:coreProperties>
</file>