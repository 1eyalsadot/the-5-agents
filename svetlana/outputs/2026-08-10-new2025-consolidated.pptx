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257" r:id="rId3"/>
    <p:sldId id="260" r:id="rId5"/>
    <p:sldId id="276" r:id="rId33"/>
    <p:sldId id="277" r:id="rId34"/>
    <p:sldId id="268" r:id="rId11"/>
    <p:sldId id="271" r:id="rId12"/>
    <p:sldId id="269" r:id="rId13"/>
    <p:sldId id="270" r:id="rId14"/>
    <p:sldId id="274" r:id="rId15"/>
    <p:sldId id="275" r:id="rId16"/>
    <p:sldId id="267" r:id="rId17"/>
  </p:sldIdLst>
  <p:sldSz cx="9144000" cy="5143500" type="screen16x9"/>
  <p:notesSz cx="6858000" cy="9144000"/>
  <p:embeddedFontLst>
    <p:embeddedFont>
      <p:font typeface="Assistant" pitchFamily="2" charset="-79"/>
      <p:regular r:id="rId19"/>
      <p:bold r:id="rId20"/>
    </p:embeddedFont>
    <p:embeddedFont>
      <p:font typeface="Assistant ExtraBold" pitchFamily="2" charset="-79"/>
      <p:bold r:id="rId21"/>
    </p:embeddedFont>
    <p:embeddedFont>
      <p:font typeface="Assistant ExtraLight" pitchFamily="2" charset="-79"/>
      <p:regular r:id="rId22"/>
      <p:bold r:id="rId23"/>
    </p:embeddedFont>
    <p:embeddedFont>
      <p:font typeface="Assistant Light" pitchFamily="2" charset="-79"/>
      <p:regular r:id="rId24"/>
      <p:bold r:id="rId25"/>
    </p:embeddedFont>
    <p:embeddedFont>
      <p:font typeface="Assistant SemiBold" pitchFamily="2" charset="-79"/>
      <p:regular r:id="rId26"/>
      <p:bold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950">
          <p15:clr>
            <a:srgbClr val="747775"/>
          </p15:clr>
        </p15:guide>
        <p15:guide id="2" pos="2880">
          <p15:clr>
            <a:srgbClr val="747775"/>
          </p15:clr>
        </p15:guide>
        <p15:guide id="3" pos="272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2950"/>
        <p:guide pos="2880"/>
        <p:guide pos="27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presProps" Target="presProps.xml"/><Relationship Id="rId19" Type="http://schemas.openxmlformats.org/officeDocument/2006/relationships/font" Target="fonts/font1.fntdata"/><Relationship Id="rId31" Type="http://schemas.openxmlformats.org/officeDocument/2006/relationships/tableStyles" Target="tableStyles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theme" Target="theme/theme1.xml"/>  <Relationship Id="rId33" Type="http://schemas.openxmlformats.org/officeDocument/2006/relationships/slide" Target="slides/slide17.xml"/>
  <Relationship Id="rId34" Type="http://schemas.openxmlformats.org/officeDocument/2006/relationships/slide" Target="slides/slide18.xml"/>
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yal Sadot" userId="9c57a40b-08c8-435b-851c-1854c25cf41d" providerId="ADAL" clId="{02003448-2CBC-42C7-80BD-DC4C07BEB2CD}"/>
    <pc:docChg chg="undo custSel addSld delSld modSld">
      <pc:chgData name="Eyal Sadot" userId="9c57a40b-08c8-435b-851c-1854c25cf41d" providerId="ADAL" clId="{02003448-2CBC-42C7-80BD-DC4C07BEB2CD}" dt="2026-08-10T06:52:25.248" v="7" actId="47"/>
      <pc:docMkLst>
        <pc:docMk/>
      </pc:docMkLst>
      <pc:sldChg chg="del">
        <pc:chgData name="Eyal Sadot" userId="9c57a40b-08c8-435b-851c-1854c25cf41d" providerId="ADAL" clId="{02003448-2CBC-42C7-80BD-DC4C07BEB2CD}" dt="2026-08-10T06:50:55.974" v="2" actId="47"/>
        <pc:sldMkLst>
          <pc:docMk/>
          <pc:sldMk cId="0" sldId="258"/>
        </pc:sldMkLst>
      </pc:sldChg>
      <pc:sldChg chg="modSp mod">
        <pc:chgData name="Eyal Sadot" userId="9c57a40b-08c8-435b-851c-1854c25cf41d" providerId="ADAL" clId="{02003448-2CBC-42C7-80BD-DC4C07BEB2CD}" dt="2026-08-10T06:51:39.947" v="6" actId="14100"/>
        <pc:sldMkLst>
          <pc:docMk/>
          <pc:sldMk cId="0" sldId="259"/>
        </pc:sldMkLst>
        <pc:picChg chg="mod">
          <ac:chgData name="Eyal Sadot" userId="9c57a40b-08c8-435b-851c-1854c25cf41d" providerId="ADAL" clId="{02003448-2CBC-42C7-80BD-DC4C07BEB2CD}" dt="2026-08-10T06:51:39.947" v="6" actId="14100"/>
          <ac:picMkLst>
            <pc:docMk/>
            <pc:sldMk cId="0" sldId="259"/>
            <ac:picMk id="78" creationId="{00000000-0000-0000-0000-000000000000}"/>
          </ac:picMkLst>
        </pc:picChg>
      </pc:sldChg>
      <pc:sldChg chg="add del">
        <pc:chgData name="Eyal Sadot" userId="9c57a40b-08c8-435b-851c-1854c25cf41d" providerId="ADAL" clId="{02003448-2CBC-42C7-80BD-DC4C07BEB2CD}" dt="2026-08-10T06:51:12.691" v="4" actId="47"/>
        <pc:sldMkLst>
          <pc:docMk/>
          <pc:sldMk cId="0" sldId="261"/>
        </pc:sldMkLst>
      </pc:sldChg>
      <pc:sldChg chg="addSp delSp mod">
        <pc:chgData name="Eyal Sadot" userId="9c57a40b-08c8-435b-851c-1854c25cf41d" providerId="ADAL" clId="{02003448-2CBC-42C7-80BD-DC4C07BEB2CD}" dt="2026-08-08T15:00:30.079" v="1" actId="22"/>
        <pc:sldMkLst>
          <pc:docMk/>
          <pc:sldMk cId="0" sldId="262"/>
        </pc:sldMkLst>
      </pc:sldChg>
      <pc:sldChg chg="del">
        <pc:chgData name="Eyal Sadot" userId="9c57a40b-08c8-435b-851c-1854c25cf41d" providerId="ADAL" clId="{02003448-2CBC-42C7-80BD-DC4C07BEB2CD}" dt="2026-08-10T06:52:25.248" v="7" actId="47"/>
        <pc:sldMkLst>
          <pc:docMk/>
          <pc:sldMk cId="0" sldId="26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6553a82900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6553a82900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7ee2e9a839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7ee2e9a839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84E29988-6A55-97CB-627F-0D217CD19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ABBF4779-3A98-6B72-18B8-021CB21864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3B3E2057-2A18-9783-BDF9-9B3D3FB9EF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758906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F8000242-5443-7124-B0AF-02E867525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6553a82900_0_5:notes">
            <a:extLst>
              <a:ext uri="{FF2B5EF4-FFF2-40B4-BE49-F238E27FC236}">
                <a16:creationId xmlns:a16="http://schemas.microsoft.com/office/drawing/2014/main" id="{7A254F6A-80F7-43D1-2F9E-F60937989A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6553a82900_0_5:notes">
            <a:extLst>
              <a:ext uri="{FF2B5EF4-FFF2-40B4-BE49-F238E27FC236}">
                <a16:creationId xmlns:a16="http://schemas.microsoft.com/office/drawing/2014/main" id="{D10FDEFC-EC12-C6AC-C26B-07A6A978CD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764952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7c62c254f2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7c62c254f2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4.png"/><Relationship Id="rId6" Type="http://schemas.openxmlformats.org/officeDocument/2006/relationships/image" Target="../media/image9.png"/></Relationships>
</file>

<file path=ppt/slides/_rels/slide18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21-334 uriel | רקעים מצגות-18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3"/>
            <a:ext cx="9144000" cy="5143524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>
            <a:spLocks noGrp="1"/>
          </p:cNvSpPr>
          <p:nvPr>
            <p:ph type="ctrTitle"/>
          </p:nvPr>
        </p:nvSpPr>
        <p:spPr>
          <a:xfrm>
            <a:off x="311700" y="1825484"/>
            <a:ext cx="8520600" cy="149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Carpal Tunnel Syndrome Night Mitten</a:t>
            </a:r>
            <a:endParaRPr b="1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56" name="Google Shape;56;p13"/>
          <p:cNvSpPr txBox="1">
            <a:spLocks noGrp="1"/>
          </p:cNvSpPr>
          <p:nvPr>
            <p:ph type="subTitle" idx="1"/>
          </p:nvPr>
        </p:nvSpPr>
        <p:spPr>
          <a:xfrm>
            <a:off x="311700" y="3890268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Assistant Light"/>
                <a:ea typeface="Assistant Light"/>
                <a:cs typeface="Assistant Light"/>
                <a:sym typeface="Assistant Light"/>
              </a:rPr>
              <a:t>Innovative solution for CTS</a:t>
            </a:r>
            <a:endParaRPr>
              <a:solidFill>
                <a:schemeClr val="lt1"/>
              </a:solidFill>
              <a:latin typeface="Assistant Light"/>
              <a:ea typeface="Assistant Light"/>
              <a:cs typeface="Assistant Light"/>
              <a:sym typeface="Assistant Ligh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 title="21-334 uriel | רקעים מצגות-18.png"/>
          <p:cNvPicPr preferRelativeResize="0"/>
          <p:nvPr/>
        </p:nvPicPr>
        <p:blipFill rotWithShape="1">
          <a:blip r:embed="rId3">
            <a:alphaModFix amt="90000"/>
          </a:blip>
          <a:srcRect r="58364"/>
          <a:stretch/>
        </p:blipFill>
        <p:spPr>
          <a:xfrm rot="5400000">
            <a:off x="904388" y="-904387"/>
            <a:ext cx="5152824" cy="6961599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4215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Assistant ExtraBold"/>
                <a:ea typeface="Assistant ExtraBold"/>
                <a:cs typeface="Assistant ExtraBold"/>
                <a:sym typeface="Assistant ExtraBold"/>
              </a:rPr>
              <a:t>The Problem</a:t>
            </a:r>
            <a:endParaRPr sz="3000">
              <a:solidFill>
                <a:schemeClr val="lt1"/>
              </a:solidFill>
              <a:latin typeface="Assistant ExtraBold"/>
              <a:ea typeface="Assistant ExtraBold"/>
              <a:cs typeface="Assistant ExtraBold"/>
              <a:sym typeface="Assistant ExtraBold"/>
            </a:endParaRPr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38400" cy="178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600"/>
              </a:spcAft>
              <a:buClr>
                <a:schemeClr val="lt1"/>
              </a:buClr>
              <a:buSzPts val="1800"/>
              <a:buFont typeface="Assistant"/>
              <a:buChar char="●"/>
            </a:pPr>
            <a:r>
              <a:rPr lang="en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CTS affects millions worldwide — up to 10% of adults may experience it.</a:t>
            </a:r>
            <a:endParaRPr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600"/>
              </a:spcAft>
              <a:buClr>
                <a:schemeClr val="lt1"/>
              </a:buClr>
              <a:buSzPts val="1800"/>
              <a:buFont typeface="Assistant"/>
              <a:buChar char="●"/>
            </a:pPr>
            <a:r>
              <a:rPr lang="en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Traditional splints often fail to provide the desired effect.</a:t>
            </a:r>
            <a:endParaRPr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ssistant"/>
              <a:buChar char="●"/>
            </a:pPr>
            <a:r>
              <a:rPr lang="en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Patients want non-invasive comfort; orthopedic shops want innovative new products.</a:t>
            </a:r>
            <a:endParaRPr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71" name="Night Symptoms Label"/>
          <p:cNvSpPr txBox="1"/>
          <p:nvPr/>
        </p:nvSpPr>
        <p:spPr>
          <a:xfrm>
            <a:off x="311700" y="3080000"/>
            <a:ext cx="39384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>
                <a:solidFill>
                  <a:srgbClr val="FFD600"/>
                </a:solidFill>
                <a:latin typeface="Assistant SemiBold"/>
                <a:ea typeface="Assistant SemiBold"/>
                <a:cs typeface="Assistant SemiBold"/>
                <a:sym typeface="Assistant SemiBold"/>
              </a:rPr>
              <a:t>Night symptoms:</a:t>
            </a:r>
            <a:endParaRPr sz="1400">
              <a:solidFill>
                <a:srgbClr val="FFD600"/>
              </a:solidFill>
            </a:endParaRPr>
          </a:p>
        </p:txBody>
      </p:sp>
      <p:sp>
        <p:nvSpPr>
          <p:cNvPr id="72" name="Pill Pain"/>
          <p:cNvSpPr/>
          <p:nvPr/>
        </p:nvSpPr>
        <p:spPr>
          <a:xfrm>
            <a:off x="311700" y="3440000"/>
            <a:ext cx="1899000" cy="530000"/>
          </a:xfrm>
          <a:prstGeom prst="roundRect">
            <a:avLst>
              <a:gd name="adj" fmla="val 16667"/>
            </a:avLst>
          </a:prstGeom>
          <a:solidFill>
            <a:srgbClr val="CD4038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Assistant SemiBold"/>
                <a:ea typeface="Assistant SemiBold"/>
                <a:cs typeface="Assistant SemiBold"/>
                <a:sym typeface="Assistant SemiBold"/>
              </a:rPr>
              <a:t>PAIN</a:t>
            </a:r>
            <a:endParaRPr sz="1300">
              <a:solidFill>
                <a:schemeClr val="lt1"/>
              </a:solidFill>
            </a:endParaRPr>
          </a:p>
        </p:txBody>
      </p:sp>
      <p:sp>
        <p:nvSpPr>
          <p:cNvPr id="73" name="Pill Tingling"/>
          <p:cNvSpPr/>
          <p:nvPr/>
        </p:nvSpPr>
        <p:spPr>
          <a:xfrm>
            <a:off x="2350700" y="3440000"/>
            <a:ext cx="1899000" cy="530000"/>
          </a:xfrm>
          <a:prstGeom prst="roundRect">
            <a:avLst>
              <a:gd name="adj" fmla="val 16667"/>
            </a:avLst>
          </a:prstGeom>
          <a:solidFill>
            <a:srgbClr val="CD4038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Assistant SemiBold"/>
                <a:ea typeface="Assistant SemiBold"/>
                <a:cs typeface="Assistant SemiBold"/>
                <a:sym typeface="Assistant SemiBold"/>
              </a:rPr>
              <a:t>TINGLING</a:t>
            </a:r>
            <a:endParaRPr sz="1300">
              <a:solidFill>
                <a:schemeClr val="lt1"/>
              </a:solidFill>
            </a:endParaRPr>
          </a:p>
        </p:txBody>
      </p:sp>
      <p:sp>
        <p:nvSpPr>
          <p:cNvPr id="74" name="Pill Numbness"/>
          <p:cNvSpPr/>
          <p:nvPr/>
        </p:nvSpPr>
        <p:spPr>
          <a:xfrm>
            <a:off x="311700" y="4090000"/>
            <a:ext cx="1899000" cy="530000"/>
          </a:xfrm>
          <a:prstGeom prst="roundRect">
            <a:avLst>
              <a:gd name="adj" fmla="val 16667"/>
            </a:avLst>
          </a:prstGeom>
          <a:solidFill>
            <a:srgbClr val="CD4038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Assistant SemiBold"/>
                <a:ea typeface="Assistant SemiBold"/>
                <a:cs typeface="Assistant SemiBold"/>
                <a:sym typeface="Assistant SemiBold"/>
              </a:rPr>
              <a:t>NUMBNESS</a:t>
            </a:r>
            <a:endParaRPr sz="1300">
              <a:solidFill>
                <a:schemeClr val="lt1"/>
              </a:solidFill>
            </a:endParaRPr>
          </a:p>
        </p:txBody>
      </p:sp>
      <p:sp>
        <p:nvSpPr>
          <p:cNvPr id="75" name="Pill Wakeups"/>
          <p:cNvSpPr/>
          <p:nvPr/>
        </p:nvSpPr>
        <p:spPr>
          <a:xfrm>
            <a:off x="2350700" y="4090000"/>
            <a:ext cx="1899000" cy="530000"/>
          </a:xfrm>
          <a:prstGeom prst="roundRect">
            <a:avLst>
              <a:gd name="adj" fmla="val 16667"/>
            </a:avLst>
          </a:prstGeom>
          <a:solidFill>
            <a:srgbClr val="CD4038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Assistant SemiBold"/>
                <a:ea typeface="Assistant SemiBold"/>
                <a:cs typeface="Assistant SemiBold"/>
                <a:sym typeface="Assistant SemiBold"/>
              </a:rPr>
              <a:t>FREQUENT WAKE-UPS</a:t>
            </a:r>
            <a:endParaRPr sz="1200">
              <a:solidFill>
                <a:schemeClr val="lt1"/>
              </a:solidFill>
            </a:endParaRPr>
          </a:p>
        </p:txBody>
      </p:sp>
      <p:pic>
        <p:nvPicPr>
          <p:cNvPr id="64" name="Google Shape;64;p14" title="2349202.jpg"/>
          <p:cNvPicPr preferRelativeResize="0"/>
          <p:nvPr/>
        </p:nvPicPr>
        <p:blipFill rotWithShape="1">
          <a:blip r:embed="rId4">
            <a:alphaModFix/>
          </a:blip>
          <a:srcRect l="10093" r="23240"/>
          <a:stretch/>
        </p:blipFill>
        <p:spPr>
          <a:xfrm>
            <a:off x="4572003" y="0"/>
            <a:ext cx="4572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4" title="MAIN-LOGO_no-wings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53274" y="4739951"/>
            <a:ext cx="650600" cy="222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7" title="21-334 uriel | רקעים מצגות-18.png"/>
          <p:cNvPicPr preferRelativeResize="0"/>
          <p:nvPr/>
        </p:nvPicPr>
        <p:blipFill rotWithShape="1">
          <a:blip r:embed="rId3">
            <a:alphaModFix amt="90000"/>
          </a:blip>
          <a:srcRect r="58364"/>
          <a:stretch/>
        </p:blipFill>
        <p:spPr>
          <a:xfrm rot="5400000">
            <a:off x="2003787" y="-2003788"/>
            <a:ext cx="5152824" cy="9160401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7"/>
          <p:cNvSpPr txBox="1">
            <a:spLocks noGrp="1"/>
          </p:cNvSpPr>
          <p:nvPr>
            <p:ph type="title"/>
          </p:nvPr>
        </p:nvSpPr>
        <p:spPr>
          <a:xfrm>
            <a:off x="381400" y="1365950"/>
            <a:ext cx="4109100" cy="188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lt1"/>
                </a:solidFill>
                <a:latin typeface="Assistant ExtraBold"/>
                <a:ea typeface="Assistant ExtraBold"/>
                <a:cs typeface="Assistant ExtraBold"/>
                <a:sym typeface="Assistant ExtraBold"/>
              </a:rPr>
              <a:t>Finger flexion</a:t>
            </a:r>
            <a:endParaRPr sz="4000">
              <a:solidFill>
                <a:schemeClr val="lt1"/>
              </a:solidFill>
              <a:latin typeface="Assistant Light"/>
              <a:ea typeface="Assistant Light"/>
              <a:cs typeface="Assistant Light"/>
              <a:sym typeface="Assistant Light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solidFill>
                  <a:schemeClr val="lt1"/>
                </a:solidFill>
                <a:latin typeface="Assistant Light"/>
                <a:ea typeface="Assistant Light"/>
                <a:cs typeface="Assistant Light"/>
                <a:sym typeface="Assistant Light"/>
              </a:rPr>
              <a:t>Simple move </a:t>
            </a:r>
            <a:endParaRPr sz="3000">
              <a:solidFill>
                <a:schemeClr val="lt1"/>
              </a:solidFill>
              <a:latin typeface="Assistant Light"/>
              <a:ea typeface="Assistant Light"/>
              <a:cs typeface="Assistant Light"/>
              <a:sym typeface="Assistant Light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Assistant Light"/>
                <a:ea typeface="Assistant Light"/>
                <a:cs typeface="Assistant Light"/>
                <a:sym typeface="Assistant Light"/>
              </a:rPr>
              <a:t>Powerful relief</a:t>
            </a:r>
            <a:endParaRPr sz="3000">
              <a:solidFill>
                <a:schemeClr val="lt1"/>
              </a:solidFill>
              <a:latin typeface="Assistant Light"/>
              <a:ea typeface="Assistant Light"/>
              <a:cs typeface="Assistant Light"/>
              <a:sym typeface="Assistant Light"/>
            </a:endParaRPr>
          </a:p>
        </p:txBody>
      </p:sp>
      <p:pic>
        <p:nvPicPr>
          <p:cNvPr id="91" name="Google Shape;91;p17" title="MAIN-LOGO_no-wing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53274" y="4739951"/>
            <a:ext cx="650600" cy="222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7" descr="Han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4">
            <a:off x="4187740" y="1919101"/>
            <a:ext cx="1580924" cy="3043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7"/>
          <p:cNvPicPr preferRelativeResize="0"/>
          <p:nvPr/>
        </p:nvPicPr>
        <p:blipFill rotWithShape="1">
          <a:blip r:embed="rId6">
            <a:alphaModFix/>
          </a:blip>
          <a:srcRect l="23508" t="23415" r="45890" b="29640"/>
          <a:stretch/>
        </p:blipFill>
        <p:spPr>
          <a:xfrm rot="10800000">
            <a:off x="4724400" y="3072950"/>
            <a:ext cx="731913" cy="1102662"/>
          </a:xfrm>
          <a:custGeom>
            <a:avLst/>
            <a:gdLst/>
            <a:ahLst/>
            <a:cxnLst/>
            <a:rect l="l" t="t" r="r" b="b"/>
            <a:pathLst>
              <a:path w="3148013" h="3219450" extrusionOk="0">
                <a:moveTo>
                  <a:pt x="1381125" y="0"/>
                </a:moveTo>
                <a:lnTo>
                  <a:pt x="1585913" y="100013"/>
                </a:lnTo>
                <a:lnTo>
                  <a:pt x="1581150" y="157163"/>
                </a:lnTo>
                <a:lnTo>
                  <a:pt x="1585913" y="323850"/>
                </a:lnTo>
                <a:lnTo>
                  <a:pt x="1609725" y="461963"/>
                </a:lnTo>
                <a:lnTo>
                  <a:pt x="1666875" y="581025"/>
                </a:lnTo>
                <a:lnTo>
                  <a:pt x="1924050" y="1076325"/>
                </a:lnTo>
                <a:lnTo>
                  <a:pt x="2190750" y="1366838"/>
                </a:lnTo>
                <a:lnTo>
                  <a:pt x="2428875" y="1690688"/>
                </a:lnTo>
                <a:lnTo>
                  <a:pt x="2609850" y="2085975"/>
                </a:lnTo>
                <a:lnTo>
                  <a:pt x="2828925" y="2519363"/>
                </a:lnTo>
                <a:lnTo>
                  <a:pt x="2957513" y="2771775"/>
                </a:lnTo>
                <a:lnTo>
                  <a:pt x="3090863" y="2795588"/>
                </a:lnTo>
                <a:lnTo>
                  <a:pt x="3148013" y="2928938"/>
                </a:lnTo>
                <a:lnTo>
                  <a:pt x="3148013" y="3043238"/>
                </a:lnTo>
                <a:lnTo>
                  <a:pt x="3148013" y="3109913"/>
                </a:lnTo>
                <a:lnTo>
                  <a:pt x="3009900" y="3152775"/>
                </a:lnTo>
                <a:lnTo>
                  <a:pt x="2876550" y="3181350"/>
                </a:lnTo>
                <a:lnTo>
                  <a:pt x="2781300" y="3176588"/>
                </a:lnTo>
                <a:lnTo>
                  <a:pt x="2714625" y="3176588"/>
                </a:lnTo>
                <a:lnTo>
                  <a:pt x="2667000" y="3181350"/>
                </a:lnTo>
                <a:lnTo>
                  <a:pt x="2633663" y="3214688"/>
                </a:lnTo>
                <a:lnTo>
                  <a:pt x="2595563" y="3219450"/>
                </a:lnTo>
                <a:lnTo>
                  <a:pt x="2400300" y="3181350"/>
                </a:lnTo>
                <a:lnTo>
                  <a:pt x="2333625" y="3167063"/>
                </a:lnTo>
                <a:lnTo>
                  <a:pt x="2243138" y="3181350"/>
                </a:lnTo>
                <a:lnTo>
                  <a:pt x="2133600" y="3138488"/>
                </a:lnTo>
                <a:lnTo>
                  <a:pt x="2090738" y="3114675"/>
                </a:lnTo>
                <a:lnTo>
                  <a:pt x="1933575" y="3100388"/>
                </a:lnTo>
                <a:lnTo>
                  <a:pt x="1790700" y="3062288"/>
                </a:lnTo>
                <a:lnTo>
                  <a:pt x="1666875" y="3071813"/>
                </a:lnTo>
                <a:cubicBezTo>
                  <a:pt x="1588781" y="3077391"/>
                  <a:pt x="1618739" y="3088935"/>
                  <a:pt x="1571625" y="3057525"/>
                </a:cubicBezTo>
                <a:lnTo>
                  <a:pt x="1562100" y="3052763"/>
                </a:lnTo>
                <a:cubicBezTo>
                  <a:pt x="1465530" y="3047082"/>
                  <a:pt x="1505842" y="3058979"/>
                  <a:pt x="1438275" y="3028950"/>
                </a:cubicBezTo>
                <a:lnTo>
                  <a:pt x="1409700" y="3014663"/>
                </a:lnTo>
                <a:lnTo>
                  <a:pt x="1271588" y="3028950"/>
                </a:lnTo>
                <a:lnTo>
                  <a:pt x="1123950" y="2995613"/>
                </a:lnTo>
                <a:lnTo>
                  <a:pt x="1057275" y="2981325"/>
                </a:lnTo>
                <a:lnTo>
                  <a:pt x="971550" y="2914650"/>
                </a:lnTo>
                <a:lnTo>
                  <a:pt x="914400" y="2852738"/>
                </a:lnTo>
                <a:lnTo>
                  <a:pt x="823913" y="2824163"/>
                </a:lnTo>
                <a:cubicBezTo>
                  <a:pt x="741217" y="2756061"/>
                  <a:pt x="767669" y="2782212"/>
                  <a:pt x="738188" y="2752725"/>
                </a:cubicBezTo>
                <a:lnTo>
                  <a:pt x="628650" y="2743200"/>
                </a:lnTo>
                <a:lnTo>
                  <a:pt x="581025" y="2700338"/>
                </a:lnTo>
                <a:lnTo>
                  <a:pt x="500063" y="2628900"/>
                </a:lnTo>
                <a:cubicBezTo>
                  <a:pt x="419009" y="2578241"/>
                  <a:pt x="448786" y="2597889"/>
                  <a:pt x="409575" y="2571750"/>
                </a:cubicBezTo>
                <a:lnTo>
                  <a:pt x="409575" y="2566988"/>
                </a:lnTo>
                <a:lnTo>
                  <a:pt x="309563" y="2566988"/>
                </a:lnTo>
                <a:lnTo>
                  <a:pt x="257175" y="2566988"/>
                </a:lnTo>
                <a:lnTo>
                  <a:pt x="171450" y="2538413"/>
                </a:lnTo>
                <a:lnTo>
                  <a:pt x="133350" y="2514600"/>
                </a:lnTo>
                <a:lnTo>
                  <a:pt x="38100" y="2433638"/>
                </a:lnTo>
                <a:lnTo>
                  <a:pt x="0" y="2290763"/>
                </a:lnTo>
                <a:lnTo>
                  <a:pt x="47625" y="2219325"/>
                </a:lnTo>
                <a:lnTo>
                  <a:pt x="147638" y="2014538"/>
                </a:lnTo>
                <a:lnTo>
                  <a:pt x="185738" y="1976438"/>
                </a:lnTo>
                <a:lnTo>
                  <a:pt x="204788" y="1928813"/>
                </a:lnTo>
                <a:lnTo>
                  <a:pt x="323850" y="1752600"/>
                </a:lnTo>
                <a:cubicBezTo>
                  <a:pt x="336550" y="1744663"/>
                  <a:pt x="350517" y="1738462"/>
                  <a:pt x="361950" y="1728788"/>
                </a:cubicBezTo>
                <a:cubicBezTo>
                  <a:pt x="371415" y="1720779"/>
                  <a:pt x="385763" y="1700213"/>
                  <a:pt x="385763" y="1700213"/>
                </a:cubicBezTo>
                <a:lnTo>
                  <a:pt x="428625" y="1628775"/>
                </a:lnTo>
                <a:cubicBezTo>
                  <a:pt x="442913" y="1606550"/>
                  <a:pt x="458379" y="1585040"/>
                  <a:pt x="471488" y="1562100"/>
                </a:cubicBezTo>
                <a:cubicBezTo>
                  <a:pt x="477486" y="1551603"/>
                  <a:pt x="485775" y="1528763"/>
                  <a:pt x="485775" y="1528763"/>
                </a:cubicBezTo>
                <a:lnTo>
                  <a:pt x="514350" y="1404938"/>
                </a:lnTo>
                <a:lnTo>
                  <a:pt x="557213" y="1257300"/>
                </a:lnTo>
                <a:lnTo>
                  <a:pt x="581025" y="1214438"/>
                </a:lnTo>
                <a:lnTo>
                  <a:pt x="676275" y="1109663"/>
                </a:lnTo>
                <a:lnTo>
                  <a:pt x="714375" y="1076325"/>
                </a:lnTo>
                <a:lnTo>
                  <a:pt x="952500" y="595313"/>
                </a:lnTo>
                <a:close/>
              </a:path>
            </a:pathLst>
          </a:custGeom>
          <a:noFill/>
          <a:ln>
            <a:noFill/>
          </a:ln>
        </p:spPr>
      </p:pic>
      <p:grpSp>
        <p:nvGrpSpPr>
          <p:cNvPr id="94" name="Google Shape;94;p17"/>
          <p:cNvGrpSpPr/>
          <p:nvPr/>
        </p:nvGrpSpPr>
        <p:grpSpPr>
          <a:xfrm rot="-4789631">
            <a:off x="5018929" y="231174"/>
            <a:ext cx="4134759" cy="3866044"/>
            <a:chOff x="5807844" y="640284"/>
            <a:chExt cx="7008367" cy="6552899"/>
          </a:xfrm>
        </p:grpSpPr>
        <p:pic>
          <p:nvPicPr>
            <p:cNvPr id="95" name="Google Shape;95;p17" descr="Closed han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 rot="3290092">
              <a:off x="7350333" y="1012284"/>
              <a:ext cx="3923388" cy="5808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6" name="Google Shape;96;p17"/>
            <p:cNvPicPr preferRelativeResize="0"/>
            <p:nvPr/>
          </p:nvPicPr>
          <p:blipFill rotWithShape="1">
            <a:blip r:embed="rId6">
              <a:alphaModFix/>
            </a:blip>
            <a:srcRect l="23508" t="23415" r="45890" b="29640"/>
            <a:stretch/>
          </p:blipFill>
          <p:spPr>
            <a:xfrm rot="-7971546">
              <a:off x="8062999" y="2547015"/>
              <a:ext cx="2383464" cy="2061768"/>
            </a:xfrm>
            <a:custGeom>
              <a:avLst/>
              <a:gdLst/>
              <a:ahLst/>
              <a:cxnLst/>
              <a:rect l="l" t="t" r="r" b="b"/>
              <a:pathLst>
                <a:path w="3148013" h="3219450" extrusionOk="0">
                  <a:moveTo>
                    <a:pt x="1381125" y="0"/>
                  </a:moveTo>
                  <a:lnTo>
                    <a:pt x="1585913" y="100013"/>
                  </a:lnTo>
                  <a:lnTo>
                    <a:pt x="1581150" y="157163"/>
                  </a:lnTo>
                  <a:lnTo>
                    <a:pt x="1585913" y="323850"/>
                  </a:lnTo>
                  <a:lnTo>
                    <a:pt x="1609725" y="461963"/>
                  </a:lnTo>
                  <a:lnTo>
                    <a:pt x="1666875" y="581025"/>
                  </a:lnTo>
                  <a:lnTo>
                    <a:pt x="1924050" y="1076325"/>
                  </a:lnTo>
                  <a:lnTo>
                    <a:pt x="2190750" y="1366838"/>
                  </a:lnTo>
                  <a:lnTo>
                    <a:pt x="2428875" y="1690688"/>
                  </a:lnTo>
                  <a:lnTo>
                    <a:pt x="2609850" y="2085975"/>
                  </a:lnTo>
                  <a:lnTo>
                    <a:pt x="2828925" y="2519363"/>
                  </a:lnTo>
                  <a:lnTo>
                    <a:pt x="2957513" y="2771775"/>
                  </a:lnTo>
                  <a:lnTo>
                    <a:pt x="3090863" y="2795588"/>
                  </a:lnTo>
                  <a:lnTo>
                    <a:pt x="3148013" y="2928938"/>
                  </a:lnTo>
                  <a:lnTo>
                    <a:pt x="3148013" y="3043238"/>
                  </a:lnTo>
                  <a:lnTo>
                    <a:pt x="3148013" y="3109913"/>
                  </a:lnTo>
                  <a:lnTo>
                    <a:pt x="3009900" y="3152775"/>
                  </a:lnTo>
                  <a:lnTo>
                    <a:pt x="2876550" y="3181350"/>
                  </a:lnTo>
                  <a:lnTo>
                    <a:pt x="2781300" y="3176588"/>
                  </a:lnTo>
                  <a:lnTo>
                    <a:pt x="2714625" y="3176588"/>
                  </a:lnTo>
                  <a:lnTo>
                    <a:pt x="2667000" y="3181350"/>
                  </a:lnTo>
                  <a:lnTo>
                    <a:pt x="2633663" y="3214688"/>
                  </a:lnTo>
                  <a:lnTo>
                    <a:pt x="2595563" y="3219450"/>
                  </a:lnTo>
                  <a:lnTo>
                    <a:pt x="2400300" y="3181350"/>
                  </a:lnTo>
                  <a:lnTo>
                    <a:pt x="2333625" y="3167063"/>
                  </a:lnTo>
                  <a:lnTo>
                    <a:pt x="2243138" y="3181350"/>
                  </a:lnTo>
                  <a:lnTo>
                    <a:pt x="2133600" y="3138488"/>
                  </a:lnTo>
                  <a:lnTo>
                    <a:pt x="2090738" y="3114675"/>
                  </a:lnTo>
                  <a:lnTo>
                    <a:pt x="1933575" y="3100388"/>
                  </a:lnTo>
                  <a:lnTo>
                    <a:pt x="1790700" y="3062288"/>
                  </a:lnTo>
                  <a:lnTo>
                    <a:pt x="1666875" y="3071813"/>
                  </a:lnTo>
                  <a:cubicBezTo>
                    <a:pt x="1588781" y="3077391"/>
                    <a:pt x="1618739" y="3088935"/>
                    <a:pt x="1571625" y="3057525"/>
                  </a:cubicBezTo>
                  <a:lnTo>
                    <a:pt x="1562100" y="3052763"/>
                  </a:lnTo>
                  <a:cubicBezTo>
                    <a:pt x="1465530" y="3047082"/>
                    <a:pt x="1505842" y="3058979"/>
                    <a:pt x="1438275" y="3028950"/>
                  </a:cubicBezTo>
                  <a:lnTo>
                    <a:pt x="1409700" y="3014663"/>
                  </a:lnTo>
                  <a:lnTo>
                    <a:pt x="1271588" y="3028950"/>
                  </a:lnTo>
                  <a:lnTo>
                    <a:pt x="1123950" y="2995613"/>
                  </a:lnTo>
                  <a:lnTo>
                    <a:pt x="1057275" y="2981325"/>
                  </a:lnTo>
                  <a:lnTo>
                    <a:pt x="971550" y="2914650"/>
                  </a:lnTo>
                  <a:lnTo>
                    <a:pt x="914400" y="2852738"/>
                  </a:lnTo>
                  <a:lnTo>
                    <a:pt x="823913" y="2824163"/>
                  </a:lnTo>
                  <a:cubicBezTo>
                    <a:pt x="741217" y="2756061"/>
                    <a:pt x="767669" y="2782212"/>
                    <a:pt x="738188" y="2752725"/>
                  </a:cubicBezTo>
                  <a:lnTo>
                    <a:pt x="628650" y="2743200"/>
                  </a:lnTo>
                  <a:lnTo>
                    <a:pt x="581025" y="2700338"/>
                  </a:lnTo>
                  <a:lnTo>
                    <a:pt x="500063" y="2628900"/>
                  </a:lnTo>
                  <a:cubicBezTo>
                    <a:pt x="419009" y="2578241"/>
                    <a:pt x="448786" y="2597889"/>
                    <a:pt x="409575" y="2571750"/>
                  </a:cubicBezTo>
                  <a:lnTo>
                    <a:pt x="409575" y="2566988"/>
                  </a:lnTo>
                  <a:lnTo>
                    <a:pt x="309563" y="2566988"/>
                  </a:lnTo>
                  <a:lnTo>
                    <a:pt x="257175" y="2566988"/>
                  </a:lnTo>
                  <a:lnTo>
                    <a:pt x="171450" y="2538413"/>
                  </a:lnTo>
                  <a:lnTo>
                    <a:pt x="133350" y="2514600"/>
                  </a:lnTo>
                  <a:lnTo>
                    <a:pt x="38100" y="2433638"/>
                  </a:lnTo>
                  <a:lnTo>
                    <a:pt x="0" y="2290763"/>
                  </a:lnTo>
                  <a:lnTo>
                    <a:pt x="47625" y="2219325"/>
                  </a:lnTo>
                  <a:lnTo>
                    <a:pt x="147638" y="2014538"/>
                  </a:lnTo>
                  <a:lnTo>
                    <a:pt x="185738" y="1976438"/>
                  </a:lnTo>
                  <a:lnTo>
                    <a:pt x="204788" y="1928813"/>
                  </a:lnTo>
                  <a:lnTo>
                    <a:pt x="323850" y="1752600"/>
                  </a:lnTo>
                  <a:cubicBezTo>
                    <a:pt x="336550" y="1744663"/>
                    <a:pt x="350517" y="1738462"/>
                    <a:pt x="361950" y="1728788"/>
                  </a:cubicBezTo>
                  <a:cubicBezTo>
                    <a:pt x="371415" y="1720779"/>
                    <a:pt x="385763" y="1700213"/>
                    <a:pt x="385763" y="1700213"/>
                  </a:cubicBezTo>
                  <a:lnTo>
                    <a:pt x="428625" y="1628775"/>
                  </a:lnTo>
                  <a:cubicBezTo>
                    <a:pt x="442913" y="1606550"/>
                    <a:pt x="458379" y="1585040"/>
                    <a:pt x="471488" y="1562100"/>
                  </a:cubicBezTo>
                  <a:cubicBezTo>
                    <a:pt x="477486" y="1551603"/>
                    <a:pt x="485775" y="1528763"/>
                    <a:pt x="485775" y="1528763"/>
                  </a:cubicBezTo>
                  <a:lnTo>
                    <a:pt x="514350" y="1404938"/>
                  </a:lnTo>
                  <a:lnTo>
                    <a:pt x="557213" y="1257300"/>
                  </a:lnTo>
                  <a:lnTo>
                    <a:pt x="581025" y="1214438"/>
                  </a:lnTo>
                  <a:lnTo>
                    <a:pt x="676275" y="1109663"/>
                  </a:lnTo>
                  <a:lnTo>
                    <a:pt x="714375" y="1076325"/>
                  </a:lnTo>
                  <a:lnTo>
                    <a:pt x="952500" y="595313"/>
                  </a:lnTo>
                  <a:close/>
                </a:path>
              </a:pathLst>
            </a:custGeom>
            <a:noFill/>
            <a:ln>
              <a:noFill/>
            </a:ln>
          </p:spPr>
        </p:pic>
      </p:grpSp>
      <p:sp>
        <p:nvSpPr>
          <p:cNvPr id="97" name="Google Shape;97;p17"/>
          <p:cNvSpPr/>
          <p:nvPr/>
        </p:nvSpPr>
        <p:spPr>
          <a:xfrm>
            <a:off x="388475" y="360000"/>
            <a:ext cx="3550500" cy="8700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FFD6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D600"/>
                </a:solidFill>
                <a:latin typeface="Assistant Light"/>
                <a:ea typeface="Assistant Light"/>
                <a:cs typeface="Assistant Light"/>
                <a:sym typeface="Assistant Light"/>
              </a:rPr>
              <a:t>CTS Relief Revolution</a:t>
            </a:r>
            <a:endParaRPr sz="3000">
              <a:solidFill>
                <a:srgbClr val="FFD600"/>
              </a:solidFill>
              <a:latin typeface="Assistant Light"/>
              <a:ea typeface="Assistant Light"/>
              <a:cs typeface="Assistant Light"/>
              <a:sym typeface="Assistant Light"/>
            </a:endParaRPr>
          </a:p>
        </p:txBody>
      </p:sp>
      <p:sp>
        <p:nvSpPr>
          <p:cNvPr id="98" name="Google Shape;98;p17"/>
          <p:cNvSpPr txBox="1"/>
          <p:nvPr/>
        </p:nvSpPr>
        <p:spPr>
          <a:xfrm>
            <a:off x="7832600" y="1919100"/>
            <a:ext cx="1327800" cy="11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Assistant SemiBold"/>
                <a:ea typeface="Assistant SemiBold"/>
                <a:cs typeface="Assistant SemiBold"/>
                <a:sym typeface="Assistant SemiBold"/>
              </a:rPr>
              <a:t>Reduce tendon bulk </a:t>
            </a:r>
            <a:br>
              <a:rPr lang="en" sz="1500">
                <a:solidFill>
                  <a:schemeClr val="lt1"/>
                </a:solidFill>
                <a:latin typeface="Assistant SemiBold"/>
                <a:ea typeface="Assistant SemiBold"/>
                <a:cs typeface="Assistant SemiBold"/>
                <a:sym typeface="Assistant SemiBold"/>
              </a:rPr>
            </a:br>
            <a:r>
              <a:rPr lang="en" sz="1500">
                <a:solidFill>
                  <a:schemeClr val="lt1"/>
                </a:solidFill>
                <a:latin typeface="Assistant SemiBold"/>
                <a:ea typeface="Assistant SemiBold"/>
                <a:cs typeface="Assistant SemiBold"/>
                <a:sym typeface="Assistant SemiBold"/>
              </a:rPr>
              <a:t>in tunnel</a:t>
            </a:r>
            <a:endParaRPr sz="1500">
              <a:solidFill>
                <a:schemeClr val="lt1"/>
              </a:solidFill>
              <a:latin typeface="Assistant SemiBold"/>
              <a:ea typeface="Assistant SemiBold"/>
              <a:cs typeface="Assistant SemiBold"/>
              <a:sym typeface="Assistant SemiBold"/>
            </a:endParaRPr>
          </a:p>
        </p:txBody>
      </p:sp>
      <p:sp>
        <p:nvSpPr>
          <p:cNvPr id="99" name="Google Shape;99;p17"/>
          <p:cNvSpPr txBox="1"/>
          <p:nvPr/>
        </p:nvSpPr>
        <p:spPr>
          <a:xfrm>
            <a:off x="7482150" y="3915873"/>
            <a:ext cx="158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Assistant SemiBold"/>
                <a:ea typeface="Assistant SemiBold"/>
                <a:cs typeface="Assistant SemiBold"/>
                <a:sym typeface="Assistant SemiBold"/>
              </a:rPr>
              <a:t>Optimize space </a:t>
            </a:r>
            <a:br>
              <a:rPr lang="en" sz="1500">
                <a:solidFill>
                  <a:schemeClr val="lt1"/>
                </a:solidFill>
                <a:latin typeface="Assistant SemiBold"/>
                <a:ea typeface="Assistant SemiBold"/>
                <a:cs typeface="Assistant SemiBold"/>
                <a:sym typeface="Assistant SemiBold"/>
              </a:rPr>
            </a:br>
            <a:r>
              <a:rPr lang="en" sz="1500">
                <a:solidFill>
                  <a:schemeClr val="lt1"/>
                </a:solidFill>
                <a:latin typeface="Assistant SemiBold"/>
                <a:ea typeface="Assistant SemiBold"/>
                <a:cs typeface="Assistant SemiBold"/>
                <a:sym typeface="Assistant SemiBold"/>
              </a:rPr>
              <a:t>in tunnel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100" name="Google Shape;100;p17"/>
          <p:cNvSpPr txBox="1"/>
          <p:nvPr/>
        </p:nvSpPr>
        <p:spPr>
          <a:xfrm>
            <a:off x="5614450" y="3454925"/>
            <a:ext cx="158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Assistant SemiBold"/>
                <a:ea typeface="Assistant SemiBold"/>
                <a:cs typeface="Assistant SemiBold"/>
                <a:sym typeface="Assistant SemiBold"/>
              </a:rPr>
              <a:t>Slacken the median nerve</a:t>
            </a:r>
            <a:endParaRPr sz="1500">
              <a:solidFill>
                <a:schemeClr val="lt1"/>
              </a:solidFill>
              <a:latin typeface="Assistant SemiBold"/>
              <a:ea typeface="Assistant SemiBold"/>
              <a:cs typeface="Assistant SemiBold"/>
              <a:sym typeface="Assistant SemiBold"/>
            </a:endParaRPr>
          </a:p>
        </p:txBody>
      </p:sp>
      <p:cxnSp>
        <p:nvCxnSpPr>
          <p:cNvPr id="101" name="Google Shape;101;p17"/>
          <p:cNvCxnSpPr>
            <a:stCxn id="98" idx="1"/>
          </p:cNvCxnSpPr>
          <p:nvPr/>
        </p:nvCxnSpPr>
        <p:spPr>
          <a:xfrm rot="10800000">
            <a:off x="6969500" y="2090100"/>
            <a:ext cx="863100" cy="380400"/>
          </a:xfrm>
          <a:prstGeom prst="straightConnector1">
            <a:avLst/>
          </a:prstGeom>
          <a:noFill/>
          <a:ln w="9525" cap="flat" cmpd="sng">
            <a:solidFill>
              <a:srgbClr val="FFD6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2" name="Google Shape;102;p17"/>
          <p:cNvCxnSpPr>
            <a:stCxn id="100" idx="0"/>
          </p:cNvCxnSpPr>
          <p:nvPr/>
        </p:nvCxnSpPr>
        <p:spPr>
          <a:xfrm rot="10800000" flipH="1">
            <a:off x="6404950" y="2633825"/>
            <a:ext cx="758700" cy="821100"/>
          </a:xfrm>
          <a:prstGeom prst="straightConnector1">
            <a:avLst/>
          </a:prstGeom>
          <a:noFill/>
          <a:ln w="9525" cap="flat" cmpd="sng">
            <a:solidFill>
              <a:srgbClr val="FFD6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3" name="Google Shape;103;p17"/>
          <p:cNvCxnSpPr>
            <a:stCxn id="99" idx="0"/>
          </p:cNvCxnSpPr>
          <p:nvPr/>
        </p:nvCxnSpPr>
        <p:spPr>
          <a:xfrm rot="10800000">
            <a:off x="7373250" y="2626173"/>
            <a:ext cx="899400" cy="1289700"/>
          </a:xfrm>
          <a:prstGeom prst="straightConnector1">
            <a:avLst/>
          </a:prstGeom>
          <a:noFill/>
          <a:ln w="9525" cap="flat" cmpd="sng">
            <a:solidFill>
              <a:srgbClr val="FFD6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4" name="Google Shape;104;p17"/>
          <p:cNvSpPr txBox="1">
            <a:spLocks noGrp="1"/>
          </p:cNvSpPr>
          <p:nvPr>
            <p:ph type="body" idx="1"/>
          </p:nvPr>
        </p:nvSpPr>
        <p:spPr>
          <a:xfrm>
            <a:off x="473500" y="3470000"/>
            <a:ext cx="3550500" cy="155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" sz="1500" dirty="0">
                <a:solidFill>
                  <a:schemeClr val="lt1"/>
                </a:solidFill>
                <a:latin typeface="Assistant Light"/>
                <a:ea typeface="Assistant Light"/>
                <a:cs typeface="Assistant Light"/>
                <a:sym typeface="Assistant Light"/>
              </a:rPr>
              <a:t>By flexing the fingers, the median nerve </a:t>
            </a:r>
            <a:br>
              <a:rPr lang="en" sz="1500" dirty="0">
                <a:solidFill>
                  <a:schemeClr val="lt1"/>
                </a:solidFill>
                <a:latin typeface="Assistant Light"/>
                <a:ea typeface="Assistant Light"/>
                <a:cs typeface="Assistant Light"/>
                <a:sym typeface="Assistant Light"/>
              </a:rPr>
            </a:br>
            <a:r>
              <a:rPr lang="en" sz="1500" dirty="0">
                <a:solidFill>
                  <a:schemeClr val="lt1"/>
                </a:solidFill>
                <a:latin typeface="Assistant Light"/>
                <a:ea typeface="Assistant Light"/>
                <a:cs typeface="Assistant Light"/>
                <a:sym typeface="Assistant Light"/>
              </a:rPr>
              <a:t>is slackened, tendon bulk is reduced, </a:t>
            </a:r>
            <a:br>
              <a:rPr lang="en" sz="1500" dirty="0">
                <a:solidFill>
                  <a:schemeClr val="lt1"/>
                </a:solidFill>
                <a:latin typeface="Assistant Light"/>
                <a:ea typeface="Assistant Light"/>
                <a:cs typeface="Assistant Light"/>
                <a:sym typeface="Assistant Light"/>
              </a:rPr>
            </a:br>
            <a:r>
              <a:rPr lang="en" sz="1500" dirty="0">
                <a:solidFill>
                  <a:schemeClr val="lt1"/>
                </a:solidFill>
                <a:latin typeface="Assistant Light"/>
                <a:ea typeface="Assistant Light"/>
                <a:cs typeface="Assistant Light"/>
                <a:sym typeface="Assistant Light"/>
              </a:rPr>
              <a:t>and space within the tunnel is optimized — relieving CTS pressure </a:t>
            </a:r>
            <a:r>
              <a:rPr lang="en" sz="1500" dirty="0">
                <a:solidFill>
                  <a:schemeClr val="lt1"/>
                </a:solidFill>
                <a:latin typeface="Assistant SemiBold"/>
                <a:ea typeface="Assistant SemiBold"/>
                <a:cs typeface="Assistant SemiBold"/>
                <a:sym typeface="Assistant SemiBold"/>
              </a:rPr>
              <a:t>at its source</a:t>
            </a:r>
            <a:r>
              <a:rPr lang="en" sz="1500" dirty="0">
                <a:solidFill>
                  <a:schemeClr val="lt1"/>
                </a:solidFill>
                <a:latin typeface="Assistant Light"/>
                <a:ea typeface="Assistant Light"/>
                <a:cs typeface="Assistant Light"/>
                <a:sym typeface="Assistant Light"/>
              </a:rPr>
              <a:t>.</a:t>
            </a:r>
            <a:endParaRPr sz="1500" i="1" dirty="0">
              <a:solidFill>
                <a:schemeClr val="lt1"/>
              </a:solidFill>
              <a:latin typeface="Assistant Light"/>
              <a:ea typeface="Assistant Light"/>
              <a:cs typeface="Assistant Light"/>
              <a:sym typeface="Assistant Ligh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C8F333FF-D610-0EAF-9D3D-4D7DF37E6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21-334 uriel | רקעים מצגות-18.png">
            <a:extLst>
              <a:ext uri="{FF2B5EF4-FFF2-40B4-BE49-F238E27FC236}">
                <a16:creationId xmlns:a16="http://schemas.microsoft.com/office/drawing/2014/main" id="{FB459EE0-EF2C-6826-5D96-6C436F259B5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24"/>
            <a:ext cx="9144000" cy="5143524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>
            <a:extLst>
              <a:ext uri="{FF2B5EF4-FFF2-40B4-BE49-F238E27FC236}">
                <a16:creationId xmlns:a16="http://schemas.microsoft.com/office/drawing/2014/main" id="{291E5851-D6E3-D4F7-B81D-DDF30EE47341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77014" y="1515241"/>
            <a:ext cx="8520600" cy="149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SHIELD SERIES</a:t>
            </a:r>
            <a:endParaRPr b="1" dirty="0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56" name="Google Shape;56;p13">
            <a:extLst>
              <a:ext uri="{FF2B5EF4-FFF2-40B4-BE49-F238E27FC236}">
                <a16:creationId xmlns:a16="http://schemas.microsoft.com/office/drawing/2014/main" id="{F1C00033-91DC-8887-63EF-3DB8C555B9F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77014" y="2261491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1"/>
                </a:solidFill>
                <a:latin typeface="Assistant Light"/>
                <a:ea typeface="Assistant Light"/>
                <a:cs typeface="Assistant Light"/>
                <a:sym typeface="Assistant Light"/>
              </a:rPr>
              <a:t>Innovative orthopedic support</a:t>
            </a:r>
            <a:endParaRPr dirty="0">
              <a:solidFill>
                <a:schemeClr val="lt1"/>
              </a:solidFill>
              <a:latin typeface="Assistant Light"/>
              <a:ea typeface="Assistant Light"/>
              <a:cs typeface="Assistant Light"/>
              <a:sym typeface="Assistant Light"/>
            </a:endParaRPr>
          </a:p>
        </p:txBody>
      </p:sp>
      <p:pic>
        <p:nvPicPr>
          <p:cNvPr id="3" name="תמונה 2" descr="תמונה שמכילה לוגו, סמל, סימן, לבן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4B274F9D-1598-65E6-6398-3985BBF795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2115" y="1515240"/>
            <a:ext cx="1346177" cy="1492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221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9A5CA7D5-DE60-50F0-9199-A36C7D955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 title="21-334 uriel | רקעים מצגות-18.png">
            <a:extLst>
              <a:ext uri="{FF2B5EF4-FFF2-40B4-BE49-F238E27FC236}">
                <a16:creationId xmlns:a16="http://schemas.microsoft.com/office/drawing/2014/main" id="{8E808921-9A03-5C6C-ABF7-2E54DA330459}"/>
              </a:ext>
            </a:extLst>
          </p:cNvPr>
          <p:cNvPicPr preferRelativeResize="0"/>
          <p:nvPr/>
        </p:nvPicPr>
        <p:blipFill rotWithShape="1">
          <a:blip r:embed="rId3">
            <a:alphaModFix amt="90000"/>
          </a:blip>
          <a:srcRect r="58364"/>
          <a:stretch/>
        </p:blipFill>
        <p:spPr>
          <a:xfrm rot="5400000">
            <a:off x="904388" y="-904387"/>
            <a:ext cx="5152824" cy="6961599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5944B562-3903-296C-7406-2FE5FF7571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4215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solidFill>
                  <a:schemeClr val="lt1"/>
                </a:solidFill>
                <a:latin typeface="Assistant ExtraBold"/>
                <a:ea typeface="Assistant ExtraBold"/>
                <a:cs typeface="Assistant ExtraBold"/>
                <a:sym typeface="Assistant ExtraBold"/>
              </a:rPr>
              <a:t>GenuShield</a:t>
            </a:r>
            <a:br>
              <a:rPr lang="en" sz="3000" dirty="0">
                <a:solidFill>
                  <a:schemeClr val="lt1"/>
                </a:solidFill>
                <a:latin typeface="Assistant ExtraBold"/>
                <a:ea typeface="Assistant ExtraBold"/>
                <a:cs typeface="Assistant ExtraBold"/>
                <a:sym typeface="Assistant ExtraBold"/>
              </a:rPr>
            </a:br>
            <a:r>
              <a:rPr lang="en" sz="3000" dirty="0">
                <a:solidFill>
                  <a:schemeClr val="lt1"/>
                </a:solidFill>
                <a:latin typeface="Assistant ExtraBold"/>
                <a:ea typeface="Assistant ExtraBold"/>
                <a:cs typeface="Assistant ExtraBold"/>
                <a:sym typeface="Assistant ExtraBold"/>
              </a:rPr>
              <a:t>Knee Support</a:t>
            </a:r>
            <a:endParaRPr sz="3000" dirty="0">
              <a:solidFill>
                <a:schemeClr val="lt1"/>
              </a:solidFill>
              <a:latin typeface="Assistant ExtraBold"/>
              <a:ea typeface="Assistant ExtraBold"/>
              <a:cs typeface="Assistant ExtraBold"/>
              <a:sym typeface="Assistant ExtraBold"/>
            </a:endParaRPr>
          </a:p>
        </p:txBody>
      </p:sp>
      <p:sp>
        <p:nvSpPr>
          <p:cNvPr id="63" name="Google Shape;63;p14">
            <a:extLst>
              <a:ext uri="{FF2B5EF4-FFF2-40B4-BE49-F238E27FC236}">
                <a16:creationId xmlns:a16="http://schemas.microsoft.com/office/drawing/2014/main" id="{AED9CE40-4BE4-64B6-8906-62055498E0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94136" y="2041071"/>
            <a:ext cx="3231600" cy="106135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lnSpcReduction="10000"/>
          </a:bodyPr>
          <a:lstStyle/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 dirty="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Advanced support for stability, pain relief &amp; swelling reduction.</a:t>
            </a:r>
            <a:endParaRPr dirty="0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id="65" name="Google Shape;65;p14" title="MAIN-LOGO_no-wings.png">
            <a:extLst>
              <a:ext uri="{FF2B5EF4-FFF2-40B4-BE49-F238E27FC236}">
                <a16:creationId xmlns:a16="http://schemas.microsoft.com/office/drawing/2014/main" id="{A54FD8FD-4CCA-E3B1-66C5-9C394417CA6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53274" y="4739951"/>
            <a:ext cx="650600" cy="222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מציין מיקום תוכן 4" descr="תמונה שמכילה לבוש, אדם, לבוש מגן, עומד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E92EBCBA-9435-0927-C920-84E24E91807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7000" y="1161"/>
            <a:ext cx="5151664" cy="515166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B7E1762F-CFC0-3CFA-1282-5310ECBD7D9D}"/>
              </a:ext>
            </a:extLst>
          </p:cNvPr>
          <p:cNvSpPr txBox="1"/>
          <p:nvPr/>
        </p:nvSpPr>
        <p:spPr>
          <a:xfrm>
            <a:off x="311700" y="1415107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i="0" u="none" strike="noStrike" baseline="0" dirty="0">
                <a:solidFill>
                  <a:srgbClr val="FFFFFF"/>
                </a:solidFill>
                <a:latin typeface="Calibri" panose="020F0502020204030204" pitchFamily="34" charset="0"/>
              </a:rPr>
              <a:t>With flexible stays &amp; gel pad</a:t>
            </a:r>
            <a:endParaRPr lang="he-IL" sz="2000" dirty="0"/>
          </a:p>
        </p:txBody>
      </p:sp>
    </p:spTree>
    <p:extLst>
      <p:ext uri="{BB962C8B-B14F-4D97-AF65-F5344CB8AC3E}">
        <p14:creationId xmlns:p14="http://schemas.microsoft.com/office/powerpoint/2010/main" val="33786273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175;p23" title="21-334 uriel | רקעים מצגות-18.png">
            <a:extLst>
              <a:ext uri="{FF2B5EF4-FFF2-40B4-BE49-F238E27FC236}">
                <a16:creationId xmlns:a16="http://schemas.microsoft.com/office/drawing/2014/main" id="{A9DF9503-220D-72F9-E007-730642C9BD0D}"/>
              </a:ext>
            </a:extLst>
          </p:cNvPr>
          <p:cNvPicPr preferRelativeResize="0"/>
          <p:nvPr/>
        </p:nvPicPr>
        <p:blipFill rotWithShape="1">
          <a:blip r:embed="rId2">
            <a:alphaModFix amt="90000"/>
          </a:blip>
          <a:srcRect r="58364"/>
          <a:stretch/>
        </p:blipFill>
        <p:spPr>
          <a:xfrm rot="5400000">
            <a:off x="2003787" y="-2003788"/>
            <a:ext cx="5152824" cy="9160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תמונה 2">
            <a:extLst>
              <a:ext uri="{FF2B5EF4-FFF2-40B4-BE49-F238E27FC236}">
                <a16:creationId xmlns:a16="http://schemas.microsoft.com/office/drawing/2014/main" id="{DBF18443-D73A-EA07-43AA-9AE6BE65B5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4032" y="228888"/>
            <a:ext cx="6034890" cy="4685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3606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61;p14" title="21-334 uriel | רקעים מצגות-18.png">
            <a:extLst>
              <a:ext uri="{FF2B5EF4-FFF2-40B4-BE49-F238E27FC236}">
                <a16:creationId xmlns:a16="http://schemas.microsoft.com/office/drawing/2014/main" id="{38B89932-3EF0-1CD3-9D8C-939A2FD138B4}"/>
              </a:ext>
            </a:extLst>
          </p:cNvPr>
          <p:cNvPicPr preferRelativeResize="0"/>
          <p:nvPr/>
        </p:nvPicPr>
        <p:blipFill rotWithShape="1">
          <a:blip r:embed="rId2">
            <a:alphaModFix amt="90000"/>
          </a:blip>
          <a:srcRect r="58364"/>
          <a:stretch/>
        </p:blipFill>
        <p:spPr>
          <a:xfrm rot="5400000">
            <a:off x="1995589" y="-1995588"/>
            <a:ext cx="5152824" cy="914400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5293942-22C3-3435-15F8-B26530829391}"/>
              </a:ext>
            </a:extLst>
          </p:cNvPr>
          <p:cNvSpPr txBox="1">
            <a:spLocks/>
          </p:cNvSpPr>
          <p:nvPr/>
        </p:nvSpPr>
        <p:spPr>
          <a:xfrm>
            <a:off x="311700" y="445025"/>
            <a:ext cx="4215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en-US" sz="3000" dirty="0" err="1">
                <a:solidFill>
                  <a:schemeClr val="lt1"/>
                </a:solidFill>
                <a:latin typeface="Assistant ExtraBold"/>
                <a:ea typeface="Assistant ExtraBold"/>
                <a:cs typeface="Assistant ExtraBold"/>
                <a:sym typeface="Assistant ExtraBold"/>
              </a:rPr>
              <a:t>SpinaShield</a:t>
            </a:r>
            <a:br>
              <a:rPr lang="en-US" sz="3000" dirty="0">
                <a:solidFill>
                  <a:schemeClr val="lt1"/>
                </a:solidFill>
                <a:latin typeface="Assistant ExtraBold"/>
                <a:ea typeface="Assistant ExtraBold"/>
                <a:cs typeface="Assistant ExtraBold"/>
                <a:sym typeface="Assistant ExtraBold"/>
              </a:rPr>
            </a:br>
            <a:r>
              <a:rPr lang="en-US" sz="3000" dirty="0">
                <a:solidFill>
                  <a:schemeClr val="lt1"/>
                </a:solidFill>
                <a:latin typeface="Assistant ExtraBold"/>
                <a:cs typeface="+mn-cs"/>
              </a:rPr>
              <a:t>Posture Corrector Belt</a:t>
            </a:r>
            <a:endParaRPr lang="en-US" sz="3000" dirty="0">
              <a:solidFill>
                <a:schemeClr val="lt1"/>
              </a:solidFill>
              <a:latin typeface="Assistant ExtraBold"/>
              <a:cs typeface="+mn-cs"/>
              <a:sym typeface="Assistant ExtraBold"/>
            </a:endParaRPr>
          </a:p>
        </p:txBody>
      </p:sp>
      <p:sp>
        <p:nvSpPr>
          <p:cNvPr id="7" name="Google Shape;63;p14">
            <a:extLst>
              <a:ext uri="{FF2B5EF4-FFF2-40B4-BE49-F238E27FC236}">
                <a16:creationId xmlns:a16="http://schemas.microsoft.com/office/drawing/2014/main" id="{4489C5C2-AB10-7146-9DDD-09B180320330}"/>
              </a:ext>
            </a:extLst>
          </p:cNvPr>
          <p:cNvSpPr txBox="1">
            <a:spLocks/>
          </p:cNvSpPr>
          <p:nvPr/>
        </p:nvSpPr>
        <p:spPr>
          <a:xfrm>
            <a:off x="280450" y="1401464"/>
            <a:ext cx="4277800" cy="353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Advanced and lightweight posture corrector</a:t>
            </a:r>
          </a:p>
          <a:p>
            <a:r>
              <a:rPr lang="en-US" dirty="0">
                <a:solidFill>
                  <a:schemeClr val="bg1"/>
                </a:solidFill>
              </a:rPr>
              <a:t>designed to improve spinal alignment and reduce</a:t>
            </a:r>
          </a:p>
          <a:p>
            <a:r>
              <a:rPr lang="en-US" dirty="0">
                <a:solidFill>
                  <a:schemeClr val="bg1"/>
                </a:solidFill>
              </a:rPr>
              <a:t>upper back and shoulder pain. Featuring comfortable, adjustable straps, it supports upright posture, relieves muscle tension, and encourages natural movement.</a:t>
            </a:r>
          </a:p>
          <a:p>
            <a:r>
              <a:rPr lang="en-US" dirty="0">
                <a:solidFill>
                  <a:schemeClr val="bg1"/>
                </a:solidFill>
              </a:rPr>
              <a:t>Ideal for those who sit for long hours, suffer from poor posture, or seek pain relief in daily life.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-Supports natural spinal alignment.</a:t>
            </a:r>
          </a:p>
          <a:p>
            <a:r>
              <a:rPr lang="en-US" dirty="0">
                <a:solidFill>
                  <a:schemeClr val="bg1"/>
                </a:solidFill>
              </a:rPr>
              <a:t>-Helps relieve neck and upper back pain.</a:t>
            </a:r>
          </a:p>
          <a:p>
            <a:r>
              <a:rPr lang="en-US" dirty="0">
                <a:solidFill>
                  <a:schemeClr val="bg1"/>
                </a:solidFill>
              </a:rPr>
              <a:t>-Discreet, slim, and comfortable for everyday use.</a:t>
            </a:r>
            <a:endParaRPr lang="en-US" dirty="0">
              <a:solidFill>
                <a:schemeClr val="bg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id="4" name="תמונה 3" descr="תמונה שמכילה לבוש, אדם, גשר, וסט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CADB9563-4112-DC21-87CE-2EB321A743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7099" y="0"/>
            <a:ext cx="3606901" cy="5143500"/>
          </a:xfrm>
          <a:prstGeom prst="rect">
            <a:avLst/>
          </a:prstGeom>
        </p:spPr>
      </p:pic>
      <p:sp>
        <p:nvSpPr>
          <p:cNvPr id="9" name="תיבת טקסט 8">
            <a:extLst>
              <a:ext uri="{FF2B5EF4-FFF2-40B4-BE49-F238E27FC236}">
                <a16:creationId xmlns:a16="http://schemas.microsoft.com/office/drawing/2014/main" id="{9B49256A-9957-ADE7-8018-4A08E3071479}"/>
              </a:ext>
            </a:extLst>
          </p:cNvPr>
          <p:cNvSpPr txBox="1"/>
          <p:nvPr/>
        </p:nvSpPr>
        <p:spPr>
          <a:xfrm>
            <a:off x="311700" y="1415107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i="0" u="none" strike="noStrike" baseline="0" dirty="0">
                <a:solidFill>
                  <a:srgbClr val="FFFFFF"/>
                </a:solidFill>
                <a:latin typeface="Calibri" panose="020F0502020204030204" pitchFamily="34" charset="0"/>
              </a:rPr>
              <a:t>for Spine and Shoulders</a:t>
            </a:r>
            <a:endParaRPr lang="he-IL" sz="2000" dirty="0"/>
          </a:p>
        </p:txBody>
      </p:sp>
    </p:spTree>
    <p:extLst>
      <p:ext uri="{BB962C8B-B14F-4D97-AF65-F5344CB8AC3E}">
        <p14:creationId xmlns:p14="http://schemas.microsoft.com/office/powerpoint/2010/main" val="29847929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03F67-20A7-0A1A-8C0A-EE7D3937D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61;p14" title="21-334 uriel | רקעים מצגות-18.png">
            <a:extLst>
              <a:ext uri="{FF2B5EF4-FFF2-40B4-BE49-F238E27FC236}">
                <a16:creationId xmlns:a16="http://schemas.microsoft.com/office/drawing/2014/main" id="{5CC32773-29C0-A983-A35E-5DB63D4B1B45}"/>
              </a:ext>
            </a:extLst>
          </p:cNvPr>
          <p:cNvPicPr preferRelativeResize="0"/>
          <p:nvPr/>
        </p:nvPicPr>
        <p:blipFill rotWithShape="1">
          <a:blip r:embed="rId2">
            <a:alphaModFix amt="90000"/>
          </a:blip>
          <a:srcRect r="58364"/>
          <a:stretch/>
        </p:blipFill>
        <p:spPr>
          <a:xfrm rot="5400000">
            <a:off x="1995589" y="-1995588"/>
            <a:ext cx="5152824" cy="914400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B376A552-0CB3-AA02-6ACA-3428EEED781A}"/>
              </a:ext>
            </a:extLst>
          </p:cNvPr>
          <p:cNvSpPr txBox="1">
            <a:spLocks/>
          </p:cNvSpPr>
          <p:nvPr/>
        </p:nvSpPr>
        <p:spPr>
          <a:xfrm>
            <a:off x="311700" y="445025"/>
            <a:ext cx="4215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en-US" sz="3000" dirty="0" err="1">
                <a:solidFill>
                  <a:schemeClr val="lt1"/>
                </a:solidFill>
                <a:latin typeface="Assistant ExtraBold"/>
                <a:ea typeface="Assistant ExtraBold"/>
                <a:cs typeface="Assistant ExtraBold"/>
                <a:sym typeface="Assistant ExtraBold"/>
              </a:rPr>
              <a:t>TaluAir</a:t>
            </a:r>
            <a:r>
              <a:rPr lang="en-US" sz="3000" dirty="0">
                <a:solidFill>
                  <a:schemeClr val="lt1"/>
                </a:solidFill>
                <a:latin typeface="Assistant ExtraBold"/>
                <a:ea typeface="Assistant ExtraBold"/>
                <a:cs typeface="Assistant ExtraBold"/>
                <a:sym typeface="Assistant ExtraBold"/>
              </a:rPr>
              <a:t> Shield</a:t>
            </a:r>
            <a:br>
              <a:rPr lang="en-US" sz="3000" dirty="0">
                <a:solidFill>
                  <a:schemeClr val="lt1"/>
                </a:solidFill>
                <a:latin typeface="Assistant ExtraBold"/>
                <a:ea typeface="Assistant ExtraBold"/>
                <a:cs typeface="Assistant ExtraBold"/>
                <a:sym typeface="Assistant ExtraBold"/>
              </a:rPr>
            </a:br>
            <a:r>
              <a:rPr lang="en-US" sz="3000" dirty="0">
                <a:solidFill>
                  <a:schemeClr val="lt1"/>
                </a:solidFill>
                <a:latin typeface="Assistant ExtraBold"/>
                <a:ea typeface="Assistant ExtraBold"/>
                <a:cs typeface="Assistant ExtraBold"/>
                <a:sym typeface="Assistant ExtraBold"/>
              </a:rPr>
              <a:t>Ankle Stabilizer</a:t>
            </a:r>
          </a:p>
        </p:txBody>
      </p:sp>
      <p:sp>
        <p:nvSpPr>
          <p:cNvPr id="7" name="Google Shape;63;p14">
            <a:extLst>
              <a:ext uri="{FF2B5EF4-FFF2-40B4-BE49-F238E27FC236}">
                <a16:creationId xmlns:a16="http://schemas.microsoft.com/office/drawing/2014/main" id="{9B13395C-C54E-E475-3746-C4C6F23B543D}"/>
              </a:ext>
            </a:extLst>
          </p:cNvPr>
          <p:cNvSpPr txBox="1">
            <a:spLocks/>
          </p:cNvSpPr>
          <p:nvPr/>
        </p:nvSpPr>
        <p:spPr>
          <a:xfrm>
            <a:off x="249199" y="1462750"/>
            <a:ext cx="4126857" cy="256224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 err="1">
                <a:solidFill>
                  <a:schemeClr val="bg1"/>
                </a:solidFill>
              </a:rPr>
              <a:t>TaluAir</a:t>
            </a:r>
            <a:r>
              <a:rPr lang="en-US" dirty="0">
                <a:solidFill>
                  <a:schemeClr val="bg1"/>
                </a:solidFill>
              </a:rPr>
              <a:t> Shield Ankle Stabilizer is a rigid ankle brace that restricts side-to-side movement and delivers strong lateral stabilization after acute sprains, ligament injuries, or instability. </a:t>
            </a:r>
          </a:p>
          <a:p>
            <a:r>
              <a:rPr lang="en-US" dirty="0">
                <a:solidFill>
                  <a:schemeClr val="bg1"/>
                </a:solidFill>
              </a:rPr>
              <a:t>The inflatable cushions allow a customized fit and help reduce swelling during the critical first days of recovery.</a:t>
            </a:r>
            <a:endParaRPr lang="en-US" dirty="0">
              <a:solidFill>
                <a:schemeClr val="bg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id="3" name="תמונה 2" descr="תמונה שמכילה לבוש, אדם, גשר, בחוץ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75FA67E3-FC76-4BAF-4FF6-E5BD1A65A2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7000" y="0"/>
            <a:ext cx="5143500" cy="5143500"/>
          </a:xfrm>
          <a:prstGeom prst="rect">
            <a:avLst/>
          </a:prstGeom>
        </p:spPr>
      </p:pic>
      <p:sp>
        <p:nvSpPr>
          <p:cNvPr id="9" name="תיבת טקסט 8">
            <a:extLst>
              <a:ext uri="{FF2B5EF4-FFF2-40B4-BE49-F238E27FC236}">
                <a16:creationId xmlns:a16="http://schemas.microsoft.com/office/drawing/2014/main" id="{D7A4F92A-3CC5-792D-1A21-DB7BD679F7C5}"/>
              </a:ext>
            </a:extLst>
          </p:cNvPr>
          <p:cNvSpPr txBox="1"/>
          <p:nvPr/>
        </p:nvSpPr>
        <p:spPr>
          <a:xfrm>
            <a:off x="311700" y="1462750"/>
            <a:ext cx="48904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strike="noStrike" baseline="0" dirty="0">
                <a:solidFill>
                  <a:srgbClr val="FFFFFF"/>
                </a:solidFill>
                <a:latin typeface="NarkissHadash-Medium"/>
              </a:rPr>
              <a:t>Dual-sided Ankle Brace with Air Cushions</a:t>
            </a:r>
            <a:endParaRPr lang="he-IL" sz="1800" dirty="0"/>
          </a:p>
        </p:txBody>
      </p:sp>
      <p:sp>
        <p:nvSpPr>
          <p:cNvPr id="11" name="תיבת טקסט 10">
            <a:extLst>
              <a:ext uri="{FF2B5EF4-FFF2-40B4-BE49-F238E27FC236}">
                <a16:creationId xmlns:a16="http://schemas.microsoft.com/office/drawing/2014/main" id="{E5B023C3-FBB4-FFAF-1726-6EC83D29C1F5}"/>
              </a:ext>
            </a:extLst>
          </p:cNvPr>
          <p:cNvSpPr txBox="1"/>
          <p:nvPr/>
        </p:nvSpPr>
        <p:spPr>
          <a:xfrm>
            <a:off x="249199" y="4098311"/>
            <a:ext cx="4061544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00" b="0" i="0" u="none" strike="noStrike" baseline="0" dirty="0">
                <a:solidFill>
                  <a:srgbClr val="FFFFFF"/>
                </a:solidFill>
                <a:latin typeface="NarkissHadash-Semibold"/>
              </a:rPr>
              <a:t>Medical Indications:</a:t>
            </a:r>
          </a:p>
          <a:p>
            <a:pPr algn="l"/>
            <a:r>
              <a:rPr lang="en-US" sz="1100" b="0" i="0" u="none" strike="noStrike" baseline="0" dirty="0">
                <a:solidFill>
                  <a:srgbClr val="FFFFFF"/>
                </a:solidFill>
                <a:latin typeface="NarkissHadash-Regular"/>
              </a:rPr>
              <a:t>Acute ankle sprains, Chronic instability, Lateral ligament injuries, Post-trauma stabilization, Early rehabilitation phase.</a:t>
            </a:r>
            <a:endParaRPr lang="he-IL" sz="1100" dirty="0"/>
          </a:p>
        </p:txBody>
      </p:sp>
    </p:spTree>
    <p:extLst>
      <p:ext uri="{BB962C8B-B14F-4D97-AF65-F5344CB8AC3E}">
        <p14:creationId xmlns:p14="http://schemas.microsoft.com/office/powerpoint/2010/main" val="23323783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61;p14" title="21-334 uriel | רקעים מצגות-18.png">
            <a:extLst>
              <a:ext uri="{FF2B5EF4-FFF2-40B4-BE49-F238E27FC236}">
                <a16:creationId xmlns:a16="http://schemas.microsoft.com/office/drawing/2014/main" id="{8FFF6700-3D03-1EC1-D41A-137719D9F0F2}"/>
              </a:ext>
            </a:extLst>
          </p:cNvPr>
          <p:cNvPicPr preferRelativeResize="0"/>
          <p:nvPr/>
        </p:nvPicPr>
        <p:blipFill rotWithShape="1">
          <a:blip r:embed="rId2">
            <a:alphaModFix amt="90000"/>
          </a:blip>
          <a:srcRect r="58364"/>
          <a:stretch/>
        </p:blipFill>
        <p:spPr>
          <a:xfrm rot="5400000">
            <a:off x="1995589" y="-1995588"/>
            <a:ext cx="5152824" cy="9144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תמונה 3">
            <a:extLst>
              <a:ext uri="{FF2B5EF4-FFF2-40B4-BE49-F238E27FC236}">
                <a16:creationId xmlns:a16="http://schemas.microsoft.com/office/drawing/2014/main" id="{94802753-4150-479A-C73D-ADAEA7FA44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2320" y="543500"/>
            <a:ext cx="6359359" cy="405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196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24" title="21-334 uriel | רקעים מצגות-18.png"/>
          <p:cNvPicPr preferRelativeResize="0"/>
          <p:nvPr/>
        </p:nvPicPr>
        <p:blipFill rotWithShape="1">
          <a:blip r:embed="rId3">
            <a:alphaModFix amt="90000"/>
          </a:blip>
          <a:srcRect r="58364"/>
          <a:stretch/>
        </p:blipFill>
        <p:spPr>
          <a:xfrm rot="5400000">
            <a:off x="2003787" y="-2003788"/>
            <a:ext cx="5152824" cy="9160401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4"/>
          <p:cNvSpPr txBox="1">
            <a:spLocks noGrp="1"/>
          </p:cNvSpPr>
          <p:nvPr>
            <p:ph type="title"/>
          </p:nvPr>
        </p:nvSpPr>
        <p:spPr>
          <a:xfrm>
            <a:off x="746250" y="2285400"/>
            <a:ext cx="76515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Assistant SemiBold"/>
                <a:ea typeface="Assistant SemiBold"/>
                <a:cs typeface="Assistant SemiBold"/>
                <a:sym typeface="Assistant SemiBold"/>
              </a:rPr>
              <a:t>Thanks!</a:t>
            </a:r>
            <a:endParaRPr sz="3000">
              <a:solidFill>
                <a:schemeClr val="lt1"/>
              </a:solidFill>
              <a:latin typeface="Assistant SemiBold"/>
              <a:ea typeface="Assistant SemiBold"/>
              <a:cs typeface="Assistant SemiBold"/>
              <a:sym typeface="Assistant SemiBol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0" title="21-334 uriel | רקעים מצגות-18.png"/>
          <p:cNvPicPr preferRelativeResize="0"/>
          <p:nvPr/>
        </p:nvPicPr>
        <p:blipFill rotWithShape="1">
          <a:blip r:embed="rId3">
            <a:alphaModFix amt="90000"/>
          </a:blip>
          <a:srcRect r="58364"/>
          <a:stretch/>
        </p:blipFill>
        <p:spPr>
          <a:xfrm rot="5400000">
            <a:off x="2003787" y="-2003788"/>
            <a:ext cx="5152824" cy="9160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0"/>
          <p:cNvSpPr txBox="1">
            <a:spLocks noGrp="1"/>
          </p:cNvSpPr>
          <p:nvPr>
            <p:ph type="title"/>
          </p:nvPr>
        </p:nvSpPr>
        <p:spPr>
          <a:xfrm>
            <a:off x="311700" y="300000"/>
            <a:ext cx="8520600" cy="56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lt1"/>
                </a:solidFill>
                <a:latin typeface="Assistant ExtraBold"/>
                <a:ea typeface="Assistant ExtraBold"/>
                <a:cs typeface="Assistant ExtraBold"/>
                <a:sym typeface="Assistant ExtraBold"/>
              </a:rPr>
              <a:t>The Story Behind It — Proven by Results</a:t>
            </a:r>
            <a:endParaRPr sz="2800">
              <a:solidFill>
                <a:schemeClr val="lt1"/>
              </a:solidFill>
              <a:latin typeface="Assistant ExtraBold"/>
              <a:ea typeface="Assistant ExtraBold"/>
              <a:cs typeface="Assistant ExtraBold"/>
              <a:sym typeface="Assistant ExtraBold"/>
            </a:endParaRPr>
          </a:p>
        </p:txBody>
      </p:sp>
      <p:pic>
        <p:nvPicPr>
          <p:cNvPr id="135" name="Google Shape;135;p20" title="MAIN-LOGO_no-wing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53274" y="4739951"/>
            <a:ext cx="650600" cy="22235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Collaboration Intro"/>
          <p:cNvSpPr txBox="1"/>
          <p:nvPr/>
        </p:nvSpPr>
        <p:spPr>
          <a:xfrm>
            <a:off x="311700" y="950000"/>
            <a:ext cx="4200000" cy="15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Born from orthopedic expertise and URIEL’s innovation, a simple idea — inspired by an oven mitten — became a clinical-grade medical device. Together, we redefined CTS care: </a:t>
            </a:r>
            <a:r>
              <a:rPr lang="en" sz="1400">
                <a:solidFill>
                  <a:schemeClr val="lt1"/>
                </a:solidFill>
                <a:latin typeface="Assistant SemiBold"/>
                <a:ea typeface="Assistant SemiBold"/>
                <a:cs typeface="Assistant SemiBold"/>
                <a:sym typeface="Assistant SemiBold"/>
              </a:rPr>
              <a:t>conservative, non-invasive, and effective.</a:t>
            </a:r>
            <a:endParaRPr sz="1400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id="142" name="Collaborators Photo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11700" y="2600000"/>
            <a:ext cx="2500000" cy="140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Collaborators Caption"/>
          <p:cNvSpPr txBox="1"/>
          <p:nvPr/>
        </p:nvSpPr>
        <p:spPr>
          <a:xfrm>
            <a:off x="311700" y="4060000"/>
            <a:ext cx="4200000" cy="6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Prof. Daniel Reis</a:t>
            </a:r>
            <a:r>
              <a:rPr lang="en" sz="11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 — Orthopedic Surgeon, Israeli Orthopedic Assoc.</a:t>
            </a:r>
          </a:p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Shachar Hirsh</a:t>
            </a:r>
            <a:r>
              <a:rPr lang="en" sz="11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 — CEO, URIEL Meditex Group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144" name="Evidence Header"/>
          <p:cNvSpPr txBox="1"/>
          <p:nvPr/>
        </p:nvSpPr>
        <p:spPr>
          <a:xfrm>
            <a:off x="4850000" y="950000"/>
            <a:ext cx="3982300" cy="7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Clinical Evidence — 1-Month Pilot Study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D600"/>
                </a:solidFill>
                <a:latin typeface="Assistant"/>
                <a:ea typeface="Assistant"/>
                <a:cs typeface="Assistant"/>
                <a:sym typeface="Assistant"/>
              </a:rPr>
              <a:t>Boston Carpal Tunnel Questionnaire (BCTQ) results:</a:t>
            </a:r>
            <a:endParaRPr sz="1300">
              <a:solidFill>
                <a:schemeClr val="lt1"/>
              </a:solidFill>
            </a:endParaRPr>
          </a:p>
        </p:txBody>
      </p:sp>
      <p:sp>
        <p:nvSpPr>
          <p:cNvPr id="139" name="Chart Card"/>
          <p:cNvSpPr/>
          <p:nvPr/>
        </p:nvSpPr>
        <p:spPr>
          <a:xfrm>
            <a:off x="5041150" y="1730000"/>
            <a:ext cx="3600000" cy="2195000"/>
          </a:xfrm>
          <a:prstGeom prst="roundRect">
            <a:avLst>
              <a:gd name="adj" fmla="val 1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buNone/>
            </a:pPr>
            <a:endParaRPr sz="1200"/>
          </a:p>
        </p:txBody>
      </p:sp>
      <p:pic>
        <p:nvPicPr>
          <p:cNvPr id="140" name="Google Shape;140;p2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141150" y="1830000"/>
            <a:ext cx="3400000" cy="199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Evidence Stat Line"/>
          <p:cNvSpPr txBox="1"/>
          <p:nvPr/>
        </p:nvSpPr>
        <p:spPr>
          <a:xfrm>
            <a:off x="4850000" y="4000000"/>
            <a:ext cx="3982300" cy="6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Only 11% required further surgical consideration — patients reported better sleep, fewer wake-ups, and pain relief.</a:t>
            </a:r>
            <a:endParaRPr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22" title="21-334 uriel | רקעים מצגות-18.png"/>
          <p:cNvPicPr preferRelativeResize="0"/>
          <p:nvPr/>
        </p:nvPicPr>
        <p:blipFill rotWithShape="1">
          <a:blip r:embed="rId3">
            <a:alphaModFix amt="90000"/>
          </a:blip>
          <a:srcRect r="58364"/>
          <a:stretch/>
        </p:blipFill>
        <p:spPr>
          <a:xfrm rot="5400000">
            <a:off x="2003787" y="-2003788"/>
            <a:ext cx="5152824" cy="9160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lt1"/>
                </a:solidFill>
                <a:latin typeface="Assistant ExtraBold"/>
                <a:ea typeface="Assistant ExtraBold"/>
                <a:cs typeface="Assistant ExtraBold"/>
                <a:sym typeface="Assistant ExtraBold"/>
              </a:rPr>
              <a:t>The Product &amp; Its Advantage</a:t>
            </a:r>
            <a:endParaRPr sz="2800">
              <a:solidFill>
                <a:schemeClr val="lt1"/>
              </a:solidFill>
              <a:latin typeface="Assistant ExtraBold"/>
              <a:ea typeface="Assistant ExtraBold"/>
              <a:cs typeface="Assistant ExtraBold"/>
              <a:sym typeface="Assistant ExtraBold"/>
            </a:endParaRPr>
          </a:p>
        </p:txBody>
      </p:sp>
      <p:pic>
        <p:nvPicPr>
          <p:cNvPr id="165" name="Google Shape;165;p22" title="MAIN-LOGO_no-wings.png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8253274" y="4739951"/>
            <a:ext cx="650600" cy="22235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Features Header"/>
          <p:cNvSpPr txBox="1"/>
          <p:nvPr/>
        </p:nvSpPr>
        <p:spPr>
          <a:xfrm>
            <a:off x="311700" y="1250000"/>
            <a:ext cx="28500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FFD600"/>
                </a:solidFill>
                <a:latin typeface="Assistant"/>
                <a:ea typeface="Assistant"/>
                <a:cs typeface="Assistant"/>
                <a:sym typeface="Assistant"/>
              </a:rPr>
              <a:t>Product Features</a:t>
            </a:r>
            <a:endParaRPr sz="1500" b="1">
              <a:solidFill>
                <a:srgbClr val="FFD600"/>
              </a:solidFill>
            </a:endParaRPr>
          </a:p>
        </p:txBody>
      </p:sp>
      <p:sp>
        <p:nvSpPr>
          <p:cNvPr id="172" name="Features Bullets"/>
          <p:cNvSpPr txBox="1"/>
          <p:nvPr/>
        </p:nvSpPr>
        <p:spPr>
          <a:xfrm>
            <a:off x="311700" y="1670000"/>
            <a:ext cx="2850000" cy="29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85750" lvl="0" indent="-285750" algn="l" rtl="0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  <a:buClr>
                <a:schemeClr val="lt1"/>
              </a:buClr>
              <a:buSzPts val="1300"/>
              <a:buFont typeface="Assistant"/>
              <a:buChar char="●"/>
            </a:pPr>
            <a:r>
              <a:rPr lang="en" sz="13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Supports finger-flexion positioning for nerve decompression</a:t>
            </a:r>
          </a:p>
          <a:p>
            <a:pPr marL="285750" lvl="0" indent="-285750" algn="l" rtl="0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  <a:buClr>
                <a:schemeClr val="lt1"/>
              </a:buClr>
              <a:buSzPts val="1300"/>
              <a:buFont typeface="Assistant"/>
              <a:buChar char="●"/>
            </a:pPr>
            <a:r>
              <a:rPr lang="en" sz="13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Lightweight, breathable design with Velcro fastening — three sizes for a perfect fit</a:t>
            </a:r>
          </a:p>
          <a:p>
            <a:pPr marL="285750" lvl="0" indent="-28575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ssistant"/>
              <a:buChar char="●"/>
            </a:pPr>
            <a:r>
              <a:rPr lang="en" sz="13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Comfortable, washable, and durable — built for nightly use</a:t>
            </a:r>
            <a:endParaRPr sz="1300">
              <a:solidFill>
                <a:schemeClr val="lt1"/>
              </a:solidFill>
            </a:endParaRPr>
          </a:p>
        </p:txBody>
      </p:sp>
      <p:pic>
        <p:nvPicPr>
          <p:cNvPr id="170" name="Google Shape;170;p22" title="IMG_0848.PNG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3438700" y="1250000"/>
            <a:ext cx="2266600" cy="3400000"/>
          </a:xfrm>
          <a:prstGeom prst="rect">
            <a:avLst/>
          </a:prstGeom>
          <a:noFill/>
          <a:ln>
            <a:noFill/>
          </a:ln>
          <a:effectLst>
            <a:outerShdw blurRad="190500" dist="228600" dir="7320000" sx="104000" sy="104000" algn="r" rotWithShape="0">
              <a:srgbClr val="000000">
                <a:alpha val="24710"/>
              </a:srgbClr>
            </a:outerShdw>
          </a:effectLst>
        </p:spPr>
      </p:pic>
      <p:sp>
        <p:nvSpPr>
          <p:cNvPr id="173" name="Advantage Header"/>
          <p:cNvSpPr txBox="1"/>
          <p:nvPr/>
        </p:nvSpPr>
        <p:spPr>
          <a:xfrm>
            <a:off x="5855400" y="1250000"/>
            <a:ext cx="29769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FFD600"/>
                </a:solidFill>
                <a:latin typeface="Assistant"/>
                <a:ea typeface="Assistant"/>
                <a:cs typeface="Assistant"/>
                <a:sym typeface="Assistant"/>
              </a:rPr>
              <a:t>Why It Stands Out</a:t>
            </a:r>
            <a:endParaRPr sz="1500" b="1">
              <a:solidFill>
                <a:srgbClr val="FFD600"/>
              </a:solidFill>
            </a:endParaRPr>
          </a:p>
        </p:txBody>
      </p:sp>
      <p:sp>
        <p:nvSpPr>
          <p:cNvPr id="166" name="Advantage Card 1"/>
          <p:cNvSpPr/>
          <p:nvPr/>
        </p:nvSpPr>
        <p:spPr>
          <a:xfrm>
            <a:off x="5855400" y="1670000"/>
            <a:ext cx="2976900" cy="1350000"/>
          </a:xfrm>
          <a:prstGeom prst="roundRect">
            <a:avLst>
              <a:gd name="adj" fmla="val 12000"/>
            </a:avLst>
          </a:prstGeom>
          <a:solidFill>
            <a:srgbClr val="FFD600"/>
          </a:solidFill>
          <a:ln>
            <a:noFill/>
          </a:ln>
        </p:spPr>
        <p:txBody>
          <a:bodyPr spcFirstLastPara="1" wrap="square" lIns="140000" tIns="91425" rIns="140000" bIns="91425" anchor="ctr" anchorCtr="0">
            <a:noAutofit/>
          </a:bodyPr>
          <a:lstStyle/>
          <a:p>
            <a:pPr marL="0" lvl="0" indent="0" algn="ctr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>
                <a:solidFill>
                  <a:srgbClr val="002F6C"/>
                </a:solidFill>
                <a:latin typeface="Assistant"/>
                <a:ea typeface="Assistant"/>
                <a:cs typeface="Assistant"/>
                <a:sym typeface="Assistant"/>
              </a:rPr>
              <a:t>Unique, conservative alternative</a:t>
            </a:r>
            <a:r>
              <a:rPr lang="en" sz="1400">
                <a:solidFill>
                  <a:srgbClr val="002F6C"/>
                </a:solidFill>
                <a:latin typeface="Assistant"/>
                <a:ea typeface="Assistant"/>
                <a:cs typeface="Assistant"/>
                <a:sym typeface="Assistant"/>
              </a:rPr>
              <a:t> to standard wrist splints — non-invasive for early CTS management</a:t>
            </a:r>
            <a:endParaRPr sz="1400">
              <a:solidFill>
                <a:srgbClr val="002F6C"/>
              </a:solidFill>
            </a:endParaRPr>
          </a:p>
        </p:txBody>
      </p:sp>
      <p:sp>
        <p:nvSpPr>
          <p:cNvPr id="167" name="Advantage Card 2"/>
          <p:cNvSpPr/>
          <p:nvPr/>
        </p:nvSpPr>
        <p:spPr>
          <a:xfrm>
            <a:off x="5855400" y="3170000"/>
            <a:ext cx="2976900" cy="1350000"/>
          </a:xfrm>
          <a:prstGeom prst="roundRect">
            <a:avLst>
              <a:gd name="adj" fmla="val 12000"/>
            </a:avLst>
          </a:prstGeom>
          <a:solidFill>
            <a:srgbClr val="FFD600"/>
          </a:solidFill>
          <a:ln>
            <a:noFill/>
          </a:ln>
        </p:spPr>
        <p:txBody>
          <a:bodyPr spcFirstLastPara="1" wrap="square" lIns="140000" tIns="91425" rIns="140000" bIns="91425" anchor="ctr" anchorCtr="0">
            <a:noAutofit/>
          </a:bodyPr>
          <a:lstStyle/>
          <a:p>
            <a:pPr marL="0" lvl="0" indent="0" algn="ctr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>
                <a:solidFill>
                  <a:srgbClr val="002F6C"/>
                </a:solidFill>
                <a:latin typeface="Assistant"/>
                <a:ea typeface="Assistant"/>
                <a:cs typeface="Assistant"/>
                <a:sym typeface="Assistant"/>
              </a:rPr>
              <a:t>Expands offering into nighttime therapy</a:t>
            </a:r>
            <a:r>
              <a:rPr lang="en" sz="1400">
                <a:solidFill>
                  <a:srgbClr val="002F6C"/>
                </a:solidFill>
                <a:latin typeface="Assistant"/>
                <a:ea typeface="Assistant"/>
                <a:cs typeface="Assistant"/>
                <a:sym typeface="Assistant"/>
              </a:rPr>
              <a:t> — high potential for pharmacies, orthopedics, and online sales</a:t>
            </a:r>
            <a:endParaRPr sz="1400">
              <a:solidFill>
                <a:srgbClr val="002F6C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540</Words>
  <Application>Microsoft Office PowerPoint</Application>
  <PresentationFormat>‫הצגה על המסך (16:9)</PresentationFormat>
  <Paragraphs>68</Paragraphs>
  <Slides>16</Slides>
  <Notes>12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10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16</vt:i4>
      </vt:variant>
    </vt:vector>
  </HeadingPairs>
  <TitlesOfParts>
    <vt:vector size="27" baseType="lpstr">
      <vt:lpstr>Calibri</vt:lpstr>
      <vt:lpstr>Assistant ExtraBold</vt:lpstr>
      <vt:lpstr>Assistant Light</vt:lpstr>
      <vt:lpstr>NarkissHadash-Semibold</vt:lpstr>
      <vt:lpstr>NarkissHadash-Medium</vt:lpstr>
      <vt:lpstr>Assistant</vt:lpstr>
      <vt:lpstr>Assistant ExtraLight</vt:lpstr>
      <vt:lpstr>NarkissHadash-Regular</vt:lpstr>
      <vt:lpstr>Arial</vt:lpstr>
      <vt:lpstr>Assistant SemiBold</vt:lpstr>
      <vt:lpstr>Simple Light</vt:lpstr>
      <vt:lpstr>Carpal Tunnel Syndrome Night Mitten</vt:lpstr>
      <vt:lpstr>Market Need</vt:lpstr>
      <vt:lpstr>מצגת של PowerPoint‏</vt:lpstr>
      <vt:lpstr>Finger flexion Simple move  Powerful relief</vt:lpstr>
      <vt:lpstr>Collaboration That Transformed CTS Care</vt:lpstr>
      <vt:lpstr>Innovation often begins with simplicity  an oven mitten that became  a medical breakthrough</vt:lpstr>
      <vt:lpstr>Clinical Evidence</vt:lpstr>
      <vt:lpstr>CTS Night Mitten - Nighttime Pain Relief Support </vt:lpstr>
      <vt:lpstr>Why It Stands Out</vt:lpstr>
      <vt:lpstr>SHIELD SERIES</vt:lpstr>
      <vt:lpstr>GenuShield Knee Support</vt:lpstr>
      <vt:lpstr>מצגת של PowerPoint‏</vt:lpstr>
      <vt:lpstr>מצגת של PowerPoint‏</vt:lpstr>
      <vt:lpstr>מצגת של PowerPoint‏</vt:lpstr>
      <vt:lpstr>מצגת של PowerPoint‏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Dana Cohen</dc:creator>
  <cp:lastModifiedBy>Eyal Sadot</cp:lastModifiedBy>
  <cp:revision>5</cp:revision>
  <dcterms:modified xsi:type="dcterms:W3CDTF">2026-08-10T06:52:34Z</dcterms:modified>
</cp:coreProperties>
</file>