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1" r:id="rId12"/>
    <p:sldId id="269" r:id="rId13"/>
    <p:sldId id="270" r:id="rId14"/>
    <p:sldId id="274" r:id="rId15"/>
    <p:sldId id="275" r:id="rId16"/>
    <p:sldId id="267" r:id="rId17"/>
  </p:sldIdLst>
  <p:sldSz cx="9144000" cy="5143500" type="screen16x9"/>
  <p:notesSz cx="6858000" cy="9144000"/>
  <p:embeddedFontLst>
    <p:embeddedFont>
      <p:font typeface="Assistant" pitchFamily="2" charset="-79"/>
      <p:regular r:id="rId19"/>
      <p:bold r:id="rId20"/>
    </p:embeddedFont>
    <p:embeddedFont>
      <p:font typeface="Assistant ExtraBold" pitchFamily="2" charset="-79"/>
      <p:bold r:id="rId21"/>
    </p:embeddedFont>
    <p:embeddedFont>
      <p:font typeface="Assistant ExtraLight" pitchFamily="2" charset="-79"/>
      <p:regular r:id="rId22"/>
      <p:bold r:id="rId23"/>
    </p:embeddedFont>
    <p:embeddedFont>
      <p:font typeface="Assistant Light" pitchFamily="2" charset="-79"/>
      <p:regular r:id="rId24"/>
      <p:bold r:id="rId25"/>
    </p:embeddedFont>
    <p:embeddedFont>
      <p:font typeface="Assistant SemiBold" pitchFamily="2" charset="-79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0">
          <p15:clr>
            <a:srgbClr val="747775"/>
          </p15:clr>
        </p15:guide>
        <p15:guide id="2" pos="2880">
          <p15:clr>
            <a:srgbClr val="747775"/>
          </p15:clr>
        </p15:guide>
        <p15:guide id="3" pos="2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950"/>
        <p:guide pos="2880"/>
        <p:guide pos="2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">
      <pc:chgData name="Eyal Sadot" userId="9c57a40b-08c8-435b-851c-1854c25cf41d" providerId="ADAL" clId="{02003448-2CBC-42C7-80BD-DC4C07BEB2CD}" dt="2026-08-10T06:52:25.248" v="7" actId="47"/>
      <pc:docMkLst>
        <pc:docMk/>
      </pc:docMkLst>
      <pc:sldChg chg="del">
        <pc:chgData name="Eyal Sadot" userId="9c57a40b-08c8-435b-851c-1854c25cf41d" providerId="ADAL" clId="{02003448-2CBC-42C7-80BD-DC4C07BEB2CD}" dt="2026-08-10T06:50:55.974" v="2" actId="47"/>
        <pc:sldMkLst>
          <pc:docMk/>
          <pc:sldMk cId="0" sldId="258"/>
        </pc:sldMkLst>
      </pc:sldChg>
      <pc:sldChg chg="modSp mod">
        <pc:chgData name="Eyal Sadot" userId="9c57a40b-08c8-435b-851c-1854c25cf41d" providerId="ADAL" clId="{02003448-2CBC-42C7-80BD-DC4C07BEB2CD}" dt="2026-08-10T06:51:39.947" v="6" actId="14100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10T06:51:39.947" v="6" actId="14100"/>
          <ac:picMkLst>
            <pc:docMk/>
            <pc:sldMk cId="0" sldId="259"/>
            <ac:picMk id="78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10T06:51:12.691" v="4" actId="47"/>
        <pc:sldMkLst>
          <pc:docMk/>
          <pc:sldMk cId="0" sldId="261"/>
        </pc:sldMkLst>
      </pc:sldChg>
      <pc:sldChg chg="addSp delSp mod">
        <pc:chgData name="Eyal Sadot" userId="9c57a40b-08c8-435b-851c-1854c25cf41d" providerId="ADAL" clId="{02003448-2CBC-42C7-80BD-DC4C07BEB2CD}" dt="2026-08-08T15:00:30.079" v="1" actId="22"/>
        <pc:sldMkLst>
          <pc:docMk/>
          <pc:sldMk cId="0" sldId="262"/>
        </pc:sldMkLst>
      </pc:sldChg>
      <pc:sldChg chg="del">
        <pc:chgData name="Eyal Sadot" userId="9c57a40b-08c8-435b-851c-1854c25cf41d" providerId="ADAL" clId="{02003448-2CBC-42C7-80BD-DC4C07BEB2CD}" dt="2026-08-10T06:52:25.248" v="7" actId="4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e2e9a83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ee2e9a83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ee2e9a83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ee2e9a83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e2e9a83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e2e9a839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ee2e9a839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ee2e9a839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ee2e9a839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ee2e9a839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ee2e9a839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ee2e9a839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4E29988-6A55-97CB-627F-0D217CD1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BBF4779-3A98-6B72-18B8-021CB2186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B3E2057-2A18-9783-BDF9-9B3D3FB9E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890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8000242-5443-7124-B0AF-02E86752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>
            <a:extLst>
              <a:ext uri="{FF2B5EF4-FFF2-40B4-BE49-F238E27FC236}">
                <a16:creationId xmlns:a16="http://schemas.microsoft.com/office/drawing/2014/main" id="{7A254F6A-80F7-43D1-2F9E-F60937989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>
            <a:extLst>
              <a:ext uri="{FF2B5EF4-FFF2-40B4-BE49-F238E27FC236}">
                <a16:creationId xmlns:a16="http://schemas.microsoft.com/office/drawing/2014/main" id="{D10FDEFC-EC12-C6AC-C26B-07A6A978C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495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c62c254f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c62c254f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| רקעים מצגות-1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0" y="1825484"/>
            <a:ext cx="8520600" cy="14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Carpal Tunnel Syndrome Night Mitten</a:t>
            </a:r>
            <a:endParaRPr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890268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Innovative solution for CTS</a:t>
            </a:r>
            <a:endParaRPr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904388" y="-904387"/>
            <a:ext cx="5152824" cy="69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1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Market Need</a:t>
            </a:r>
            <a:endParaRPr sz="30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8400" cy="3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CTS affects millions worldwide (10% of adults may experience CTS).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Traditional splints often fail to provide the desired effect.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Patients seek non-invasive, comfortable solutions. 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Orthopedic shops need innovative products to expand their portfolio.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4" name="Google Shape;64;p14" title="2349202.jpg"/>
          <p:cNvPicPr preferRelativeResize="0"/>
          <p:nvPr/>
        </p:nvPicPr>
        <p:blipFill rotWithShape="1">
          <a:blip r:embed="rId4">
            <a:alphaModFix/>
          </a:blip>
          <a:srcRect l="10093" r="23240"/>
          <a:stretch/>
        </p:blipFill>
        <p:spPr>
          <a:xfrm>
            <a:off x="4572003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MAIN-LOGO_no-wing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 title="Reasons-Why-Carpal-Tunnel-Symptoms-Are-Worse-at-Night..jpg"/>
          <p:cNvPicPr preferRelativeResize="0"/>
          <p:nvPr/>
        </p:nvPicPr>
        <p:blipFill rotWithShape="1">
          <a:blip r:embed="rId3">
            <a:alphaModFix/>
          </a:blip>
          <a:srcRect l="5547" r="555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91950" y="393257"/>
            <a:ext cx="83601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Night symptoms</a:t>
            </a:r>
            <a:endParaRPr sz="30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263473" y="1602300"/>
            <a:ext cx="1973400" cy="6915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PAIN</a:t>
            </a:r>
            <a:endParaRPr sz="2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263475" y="3221375"/>
            <a:ext cx="1973400" cy="6915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NUMBLESS</a:t>
            </a:r>
            <a:endParaRPr sz="2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933000" y="1602300"/>
            <a:ext cx="1973400" cy="6915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TINGLING</a:t>
            </a:r>
            <a:endParaRPr sz="2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932997" y="3221375"/>
            <a:ext cx="1973400" cy="6915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FREQUENT WAKE-UPS</a:t>
            </a:r>
            <a:endParaRPr sz="2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84" name="Google Shape;84;p16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81400" y="1365950"/>
            <a:ext cx="4109100" cy="18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Finger flexion</a:t>
            </a:r>
            <a:endParaRPr sz="400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Simple move </a:t>
            </a:r>
            <a:endParaRPr sz="300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Powerful relief</a:t>
            </a:r>
            <a:endParaRPr sz="300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pic>
        <p:nvPicPr>
          <p:cNvPr id="91" name="Google Shape;91;p17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descr="Han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">
            <a:off x="4187740" y="1919101"/>
            <a:ext cx="1580924" cy="304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6">
            <a:alphaModFix/>
          </a:blip>
          <a:srcRect l="23508" t="23415" r="45890" b="29640"/>
          <a:stretch/>
        </p:blipFill>
        <p:spPr>
          <a:xfrm rot="10800000">
            <a:off x="4724400" y="3072950"/>
            <a:ext cx="731913" cy="1102662"/>
          </a:xfrm>
          <a:custGeom>
            <a:avLst/>
            <a:gdLst/>
            <a:ahLst/>
            <a:cxnLst/>
            <a:rect l="l" t="t" r="r" b="b"/>
            <a:pathLst>
              <a:path w="3148013" h="3219450" extrusionOk="0">
                <a:moveTo>
                  <a:pt x="1381125" y="0"/>
                </a:moveTo>
                <a:lnTo>
                  <a:pt x="1585913" y="100013"/>
                </a:lnTo>
                <a:lnTo>
                  <a:pt x="1581150" y="157163"/>
                </a:lnTo>
                <a:lnTo>
                  <a:pt x="1585913" y="323850"/>
                </a:lnTo>
                <a:lnTo>
                  <a:pt x="1609725" y="461963"/>
                </a:lnTo>
                <a:lnTo>
                  <a:pt x="1666875" y="581025"/>
                </a:lnTo>
                <a:lnTo>
                  <a:pt x="1924050" y="1076325"/>
                </a:lnTo>
                <a:lnTo>
                  <a:pt x="2190750" y="1366838"/>
                </a:lnTo>
                <a:lnTo>
                  <a:pt x="2428875" y="1690688"/>
                </a:lnTo>
                <a:lnTo>
                  <a:pt x="2609850" y="2085975"/>
                </a:lnTo>
                <a:lnTo>
                  <a:pt x="2828925" y="2519363"/>
                </a:lnTo>
                <a:lnTo>
                  <a:pt x="2957513" y="2771775"/>
                </a:lnTo>
                <a:lnTo>
                  <a:pt x="3090863" y="2795588"/>
                </a:lnTo>
                <a:lnTo>
                  <a:pt x="3148013" y="2928938"/>
                </a:lnTo>
                <a:lnTo>
                  <a:pt x="3148013" y="3043238"/>
                </a:lnTo>
                <a:lnTo>
                  <a:pt x="3148013" y="3109913"/>
                </a:lnTo>
                <a:lnTo>
                  <a:pt x="3009900" y="3152775"/>
                </a:lnTo>
                <a:lnTo>
                  <a:pt x="2876550" y="3181350"/>
                </a:lnTo>
                <a:lnTo>
                  <a:pt x="2781300" y="3176588"/>
                </a:lnTo>
                <a:lnTo>
                  <a:pt x="2714625" y="3176588"/>
                </a:lnTo>
                <a:lnTo>
                  <a:pt x="2667000" y="3181350"/>
                </a:lnTo>
                <a:lnTo>
                  <a:pt x="2633663" y="3214688"/>
                </a:lnTo>
                <a:lnTo>
                  <a:pt x="2595563" y="3219450"/>
                </a:lnTo>
                <a:lnTo>
                  <a:pt x="2400300" y="3181350"/>
                </a:lnTo>
                <a:lnTo>
                  <a:pt x="2333625" y="3167063"/>
                </a:lnTo>
                <a:lnTo>
                  <a:pt x="2243138" y="3181350"/>
                </a:lnTo>
                <a:lnTo>
                  <a:pt x="2133600" y="3138488"/>
                </a:lnTo>
                <a:lnTo>
                  <a:pt x="2090738" y="3114675"/>
                </a:lnTo>
                <a:lnTo>
                  <a:pt x="1933575" y="3100388"/>
                </a:lnTo>
                <a:lnTo>
                  <a:pt x="1790700" y="3062288"/>
                </a:lnTo>
                <a:lnTo>
                  <a:pt x="1666875" y="3071813"/>
                </a:lnTo>
                <a:cubicBezTo>
                  <a:pt x="1588781" y="3077391"/>
                  <a:pt x="1618739" y="3088935"/>
                  <a:pt x="1571625" y="3057525"/>
                </a:cubicBezTo>
                <a:lnTo>
                  <a:pt x="1562100" y="3052763"/>
                </a:lnTo>
                <a:cubicBezTo>
                  <a:pt x="1465530" y="3047082"/>
                  <a:pt x="1505842" y="3058979"/>
                  <a:pt x="1438275" y="3028950"/>
                </a:cubicBezTo>
                <a:lnTo>
                  <a:pt x="1409700" y="3014663"/>
                </a:lnTo>
                <a:lnTo>
                  <a:pt x="1271588" y="3028950"/>
                </a:lnTo>
                <a:lnTo>
                  <a:pt x="1123950" y="2995613"/>
                </a:lnTo>
                <a:lnTo>
                  <a:pt x="1057275" y="2981325"/>
                </a:lnTo>
                <a:lnTo>
                  <a:pt x="971550" y="2914650"/>
                </a:lnTo>
                <a:lnTo>
                  <a:pt x="914400" y="2852738"/>
                </a:lnTo>
                <a:lnTo>
                  <a:pt x="823913" y="2824163"/>
                </a:lnTo>
                <a:cubicBezTo>
                  <a:pt x="741217" y="2756061"/>
                  <a:pt x="767669" y="2782212"/>
                  <a:pt x="738188" y="2752725"/>
                </a:cubicBezTo>
                <a:lnTo>
                  <a:pt x="628650" y="2743200"/>
                </a:lnTo>
                <a:lnTo>
                  <a:pt x="581025" y="2700338"/>
                </a:lnTo>
                <a:lnTo>
                  <a:pt x="500063" y="2628900"/>
                </a:lnTo>
                <a:cubicBezTo>
                  <a:pt x="419009" y="2578241"/>
                  <a:pt x="448786" y="2597889"/>
                  <a:pt x="409575" y="2571750"/>
                </a:cubicBezTo>
                <a:lnTo>
                  <a:pt x="409575" y="2566988"/>
                </a:lnTo>
                <a:lnTo>
                  <a:pt x="309563" y="2566988"/>
                </a:lnTo>
                <a:lnTo>
                  <a:pt x="257175" y="2566988"/>
                </a:lnTo>
                <a:lnTo>
                  <a:pt x="171450" y="2538413"/>
                </a:lnTo>
                <a:lnTo>
                  <a:pt x="133350" y="2514600"/>
                </a:lnTo>
                <a:lnTo>
                  <a:pt x="38100" y="2433638"/>
                </a:lnTo>
                <a:lnTo>
                  <a:pt x="0" y="2290763"/>
                </a:lnTo>
                <a:lnTo>
                  <a:pt x="47625" y="2219325"/>
                </a:lnTo>
                <a:lnTo>
                  <a:pt x="147638" y="2014538"/>
                </a:lnTo>
                <a:lnTo>
                  <a:pt x="185738" y="1976438"/>
                </a:lnTo>
                <a:lnTo>
                  <a:pt x="204788" y="1928813"/>
                </a:lnTo>
                <a:lnTo>
                  <a:pt x="323850" y="1752600"/>
                </a:lnTo>
                <a:cubicBezTo>
                  <a:pt x="336550" y="1744663"/>
                  <a:pt x="350517" y="1738462"/>
                  <a:pt x="361950" y="1728788"/>
                </a:cubicBezTo>
                <a:cubicBezTo>
                  <a:pt x="371415" y="1720779"/>
                  <a:pt x="385763" y="1700213"/>
                  <a:pt x="385763" y="1700213"/>
                </a:cubicBezTo>
                <a:lnTo>
                  <a:pt x="428625" y="1628775"/>
                </a:lnTo>
                <a:cubicBezTo>
                  <a:pt x="442913" y="1606550"/>
                  <a:pt x="458379" y="1585040"/>
                  <a:pt x="471488" y="1562100"/>
                </a:cubicBezTo>
                <a:cubicBezTo>
                  <a:pt x="477486" y="1551603"/>
                  <a:pt x="485775" y="1528763"/>
                  <a:pt x="485775" y="1528763"/>
                </a:cubicBezTo>
                <a:lnTo>
                  <a:pt x="514350" y="1404938"/>
                </a:lnTo>
                <a:lnTo>
                  <a:pt x="557213" y="1257300"/>
                </a:lnTo>
                <a:lnTo>
                  <a:pt x="581025" y="1214438"/>
                </a:lnTo>
                <a:lnTo>
                  <a:pt x="676275" y="1109663"/>
                </a:lnTo>
                <a:lnTo>
                  <a:pt x="714375" y="1076325"/>
                </a:lnTo>
                <a:lnTo>
                  <a:pt x="952500" y="595313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94" name="Google Shape;94;p17"/>
          <p:cNvGrpSpPr/>
          <p:nvPr/>
        </p:nvGrpSpPr>
        <p:grpSpPr>
          <a:xfrm rot="-4789631">
            <a:off x="5018929" y="231174"/>
            <a:ext cx="4134759" cy="3866044"/>
            <a:chOff x="5807844" y="640284"/>
            <a:chExt cx="7008367" cy="6552899"/>
          </a:xfrm>
        </p:grpSpPr>
        <p:pic>
          <p:nvPicPr>
            <p:cNvPr id="95" name="Google Shape;95;p17" descr="Closed han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3290092">
              <a:off x="7350333" y="1012284"/>
              <a:ext cx="3923388" cy="5808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7"/>
            <p:cNvPicPr preferRelativeResize="0"/>
            <p:nvPr/>
          </p:nvPicPr>
          <p:blipFill rotWithShape="1">
            <a:blip r:embed="rId6">
              <a:alphaModFix/>
            </a:blip>
            <a:srcRect l="23508" t="23415" r="45890" b="29640"/>
            <a:stretch/>
          </p:blipFill>
          <p:spPr>
            <a:xfrm rot="-7971546">
              <a:off x="8062999" y="2547015"/>
              <a:ext cx="2383464" cy="2061768"/>
            </a:xfrm>
            <a:custGeom>
              <a:avLst/>
              <a:gdLst/>
              <a:ahLst/>
              <a:cxnLst/>
              <a:rect l="l" t="t" r="r" b="b"/>
              <a:pathLst>
                <a:path w="3148013" h="3219450" extrusionOk="0">
                  <a:moveTo>
                    <a:pt x="1381125" y="0"/>
                  </a:moveTo>
                  <a:lnTo>
                    <a:pt x="1585913" y="100013"/>
                  </a:lnTo>
                  <a:lnTo>
                    <a:pt x="1581150" y="157163"/>
                  </a:lnTo>
                  <a:lnTo>
                    <a:pt x="1585913" y="323850"/>
                  </a:lnTo>
                  <a:lnTo>
                    <a:pt x="1609725" y="461963"/>
                  </a:lnTo>
                  <a:lnTo>
                    <a:pt x="1666875" y="581025"/>
                  </a:lnTo>
                  <a:lnTo>
                    <a:pt x="1924050" y="1076325"/>
                  </a:lnTo>
                  <a:lnTo>
                    <a:pt x="2190750" y="1366838"/>
                  </a:lnTo>
                  <a:lnTo>
                    <a:pt x="2428875" y="1690688"/>
                  </a:lnTo>
                  <a:lnTo>
                    <a:pt x="2609850" y="2085975"/>
                  </a:lnTo>
                  <a:lnTo>
                    <a:pt x="2828925" y="2519363"/>
                  </a:lnTo>
                  <a:lnTo>
                    <a:pt x="2957513" y="2771775"/>
                  </a:lnTo>
                  <a:lnTo>
                    <a:pt x="3090863" y="2795588"/>
                  </a:lnTo>
                  <a:lnTo>
                    <a:pt x="3148013" y="2928938"/>
                  </a:lnTo>
                  <a:lnTo>
                    <a:pt x="3148013" y="3043238"/>
                  </a:lnTo>
                  <a:lnTo>
                    <a:pt x="3148013" y="3109913"/>
                  </a:lnTo>
                  <a:lnTo>
                    <a:pt x="3009900" y="3152775"/>
                  </a:lnTo>
                  <a:lnTo>
                    <a:pt x="2876550" y="3181350"/>
                  </a:lnTo>
                  <a:lnTo>
                    <a:pt x="2781300" y="3176588"/>
                  </a:lnTo>
                  <a:lnTo>
                    <a:pt x="2714625" y="3176588"/>
                  </a:lnTo>
                  <a:lnTo>
                    <a:pt x="2667000" y="3181350"/>
                  </a:lnTo>
                  <a:lnTo>
                    <a:pt x="2633663" y="3214688"/>
                  </a:lnTo>
                  <a:lnTo>
                    <a:pt x="2595563" y="3219450"/>
                  </a:lnTo>
                  <a:lnTo>
                    <a:pt x="2400300" y="3181350"/>
                  </a:lnTo>
                  <a:lnTo>
                    <a:pt x="2333625" y="3167063"/>
                  </a:lnTo>
                  <a:lnTo>
                    <a:pt x="2243138" y="3181350"/>
                  </a:lnTo>
                  <a:lnTo>
                    <a:pt x="2133600" y="3138488"/>
                  </a:lnTo>
                  <a:lnTo>
                    <a:pt x="2090738" y="3114675"/>
                  </a:lnTo>
                  <a:lnTo>
                    <a:pt x="1933575" y="3100388"/>
                  </a:lnTo>
                  <a:lnTo>
                    <a:pt x="1790700" y="3062288"/>
                  </a:lnTo>
                  <a:lnTo>
                    <a:pt x="1666875" y="3071813"/>
                  </a:lnTo>
                  <a:cubicBezTo>
                    <a:pt x="1588781" y="3077391"/>
                    <a:pt x="1618739" y="3088935"/>
                    <a:pt x="1571625" y="3057525"/>
                  </a:cubicBezTo>
                  <a:lnTo>
                    <a:pt x="1562100" y="3052763"/>
                  </a:lnTo>
                  <a:cubicBezTo>
                    <a:pt x="1465530" y="3047082"/>
                    <a:pt x="1505842" y="3058979"/>
                    <a:pt x="1438275" y="3028950"/>
                  </a:cubicBezTo>
                  <a:lnTo>
                    <a:pt x="1409700" y="3014663"/>
                  </a:lnTo>
                  <a:lnTo>
                    <a:pt x="1271588" y="3028950"/>
                  </a:lnTo>
                  <a:lnTo>
                    <a:pt x="1123950" y="2995613"/>
                  </a:lnTo>
                  <a:lnTo>
                    <a:pt x="1057275" y="2981325"/>
                  </a:lnTo>
                  <a:lnTo>
                    <a:pt x="971550" y="2914650"/>
                  </a:lnTo>
                  <a:lnTo>
                    <a:pt x="914400" y="2852738"/>
                  </a:lnTo>
                  <a:lnTo>
                    <a:pt x="823913" y="2824163"/>
                  </a:lnTo>
                  <a:cubicBezTo>
                    <a:pt x="741217" y="2756061"/>
                    <a:pt x="767669" y="2782212"/>
                    <a:pt x="738188" y="2752725"/>
                  </a:cubicBezTo>
                  <a:lnTo>
                    <a:pt x="628650" y="2743200"/>
                  </a:lnTo>
                  <a:lnTo>
                    <a:pt x="581025" y="2700338"/>
                  </a:lnTo>
                  <a:lnTo>
                    <a:pt x="500063" y="2628900"/>
                  </a:lnTo>
                  <a:cubicBezTo>
                    <a:pt x="419009" y="2578241"/>
                    <a:pt x="448786" y="2597889"/>
                    <a:pt x="409575" y="2571750"/>
                  </a:cubicBezTo>
                  <a:lnTo>
                    <a:pt x="409575" y="2566988"/>
                  </a:lnTo>
                  <a:lnTo>
                    <a:pt x="309563" y="2566988"/>
                  </a:lnTo>
                  <a:lnTo>
                    <a:pt x="257175" y="2566988"/>
                  </a:lnTo>
                  <a:lnTo>
                    <a:pt x="171450" y="2538413"/>
                  </a:lnTo>
                  <a:lnTo>
                    <a:pt x="133350" y="2514600"/>
                  </a:lnTo>
                  <a:lnTo>
                    <a:pt x="38100" y="2433638"/>
                  </a:lnTo>
                  <a:lnTo>
                    <a:pt x="0" y="2290763"/>
                  </a:lnTo>
                  <a:lnTo>
                    <a:pt x="47625" y="2219325"/>
                  </a:lnTo>
                  <a:lnTo>
                    <a:pt x="147638" y="2014538"/>
                  </a:lnTo>
                  <a:lnTo>
                    <a:pt x="185738" y="1976438"/>
                  </a:lnTo>
                  <a:lnTo>
                    <a:pt x="204788" y="1928813"/>
                  </a:lnTo>
                  <a:lnTo>
                    <a:pt x="323850" y="1752600"/>
                  </a:lnTo>
                  <a:cubicBezTo>
                    <a:pt x="336550" y="1744663"/>
                    <a:pt x="350517" y="1738462"/>
                    <a:pt x="361950" y="1728788"/>
                  </a:cubicBezTo>
                  <a:cubicBezTo>
                    <a:pt x="371415" y="1720779"/>
                    <a:pt x="385763" y="1700213"/>
                    <a:pt x="385763" y="1700213"/>
                  </a:cubicBezTo>
                  <a:lnTo>
                    <a:pt x="428625" y="1628775"/>
                  </a:lnTo>
                  <a:cubicBezTo>
                    <a:pt x="442913" y="1606550"/>
                    <a:pt x="458379" y="1585040"/>
                    <a:pt x="471488" y="1562100"/>
                  </a:cubicBezTo>
                  <a:cubicBezTo>
                    <a:pt x="477486" y="1551603"/>
                    <a:pt x="485775" y="1528763"/>
                    <a:pt x="485775" y="1528763"/>
                  </a:cubicBezTo>
                  <a:lnTo>
                    <a:pt x="514350" y="1404938"/>
                  </a:lnTo>
                  <a:lnTo>
                    <a:pt x="557213" y="1257300"/>
                  </a:lnTo>
                  <a:lnTo>
                    <a:pt x="581025" y="1214438"/>
                  </a:lnTo>
                  <a:lnTo>
                    <a:pt x="676275" y="1109663"/>
                  </a:lnTo>
                  <a:lnTo>
                    <a:pt x="714375" y="1076325"/>
                  </a:lnTo>
                  <a:lnTo>
                    <a:pt x="952500" y="595313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97" name="Google Shape;97;p17"/>
          <p:cNvSpPr/>
          <p:nvPr/>
        </p:nvSpPr>
        <p:spPr>
          <a:xfrm>
            <a:off x="388475" y="427350"/>
            <a:ext cx="3550500" cy="738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D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D600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CTS Relief Revolution</a:t>
            </a:r>
            <a:endParaRPr sz="3000">
              <a:solidFill>
                <a:srgbClr val="FFD600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832600" y="1919100"/>
            <a:ext cx="13278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Reduce tendon bulk </a:t>
            </a:r>
            <a:b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</a:b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in tunnel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7482150" y="3915873"/>
            <a:ext cx="158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Optimize space </a:t>
            </a:r>
            <a:b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</a:b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in tunnel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614450" y="3454925"/>
            <a:ext cx="158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Slacken the median nerve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cxnSp>
        <p:nvCxnSpPr>
          <p:cNvPr id="101" name="Google Shape;101;p17"/>
          <p:cNvCxnSpPr>
            <a:stCxn id="98" idx="1"/>
          </p:cNvCxnSpPr>
          <p:nvPr/>
        </p:nvCxnSpPr>
        <p:spPr>
          <a:xfrm rot="10800000">
            <a:off x="6969500" y="2090100"/>
            <a:ext cx="863100" cy="380400"/>
          </a:xfrm>
          <a:prstGeom prst="straightConnector1">
            <a:avLst/>
          </a:prstGeom>
          <a:noFill/>
          <a:ln w="9525" cap="flat" cmpd="sng">
            <a:solidFill>
              <a:srgbClr val="FFD6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7"/>
          <p:cNvCxnSpPr>
            <a:stCxn id="100" idx="0"/>
          </p:cNvCxnSpPr>
          <p:nvPr/>
        </p:nvCxnSpPr>
        <p:spPr>
          <a:xfrm rot="10800000" flipH="1">
            <a:off x="6404950" y="2633825"/>
            <a:ext cx="758700" cy="821100"/>
          </a:xfrm>
          <a:prstGeom prst="straightConnector1">
            <a:avLst/>
          </a:prstGeom>
          <a:noFill/>
          <a:ln w="9525" cap="flat" cmpd="sng">
            <a:solidFill>
              <a:srgbClr val="FFD6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7"/>
          <p:cNvCxnSpPr>
            <a:stCxn id="99" idx="0"/>
          </p:cNvCxnSpPr>
          <p:nvPr/>
        </p:nvCxnSpPr>
        <p:spPr>
          <a:xfrm rot="10800000">
            <a:off x="7373250" y="2626173"/>
            <a:ext cx="899400" cy="1289700"/>
          </a:xfrm>
          <a:prstGeom prst="straightConnector1">
            <a:avLst/>
          </a:prstGeom>
          <a:noFill/>
          <a:ln w="9525" cap="flat" cmpd="sng">
            <a:solidFill>
              <a:srgbClr val="FFD6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473500" y="3553423"/>
            <a:ext cx="35505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By flexing the fingers, the median nerve </a:t>
            </a:r>
            <a:b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</a:b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is slackened, tendon bulk is reduced, </a:t>
            </a:r>
            <a:b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</a:b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and space within the tunnel is optimized — relieving CTS pressure </a:t>
            </a:r>
            <a:r>
              <a:rPr lang="en" sz="1500" dirty="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at its source</a:t>
            </a: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.</a:t>
            </a:r>
            <a:endParaRPr sz="1500" i="1" dirty="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Collaboration That Transformed CTS Care</a:t>
            </a:r>
            <a:endParaRPr sz="30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77900" cy="3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Born from orthopedic expertise and URIEL’s innovation, </a:t>
            </a:r>
            <a:b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this partnership turned a simple idea — </a:t>
            </a:r>
            <a:b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inspired by an oven mitten — </a:t>
            </a:r>
            <a:b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into a medical device. 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Together, we redefined how CTS </a:t>
            </a:r>
            <a:b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can be managed: </a:t>
            </a:r>
            <a:b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conservative</a:t>
            </a: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b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non-invasive</a:t>
            </a: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b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and </a:t>
            </a:r>
            <a:r>
              <a:rPr lang="en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effective</a:t>
            </a: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i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12" name="Google Shape;112;p18" title="Untitled design (2).png"/>
          <p:cNvPicPr preferRelativeResize="0"/>
          <p:nvPr/>
        </p:nvPicPr>
        <p:blipFill rotWithShape="1">
          <a:blip r:embed="rId4">
            <a:alphaModFix/>
          </a:blip>
          <a:srcRect r="11119"/>
          <a:stretch/>
        </p:blipFill>
        <p:spPr>
          <a:xfrm>
            <a:off x="3212374" y="1379275"/>
            <a:ext cx="5948026" cy="3764224"/>
          </a:xfrm>
          <a:prstGeom prst="rect">
            <a:avLst/>
          </a:prstGeom>
          <a:noFill/>
          <a:ln>
            <a:noFill/>
          </a:ln>
          <a:effectLst>
            <a:outerShdw blurRad="442913" dist="47625" dir="4500000" algn="bl" rotWithShape="0">
              <a:schemeClr val="lt1">
                <a:alpha val="37000"/>
              </a:schemeClr>
            </a:outerShdw>
          </a:effectLst>
        </p:spPr>
      </p:pic>
      <p:sp>
        <p:nvSpPr>
          <p:cNvPr id="113" name="Google Shape;113;p18"/>
          <p:cNvSpPr txBox="1"/>
          <p:nvPr/>
        </p:nvSpPr>
        <p:spPr>
          <a:xfrm>
            <a:off x="3818644" y="4321689"/>
            <a:ext cx="2529300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Prof.Daniel Reis </a:t>
            </a:r>
            <a:br>
              <a:rPr lang="en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000">
                <a:solidFill>
                  <a:srgbClr val="002F6C"/>
                </a:solidFill>
                <a:highlight>
                  <a:schemeClr val="lt1"/>
                </a:highlight>
                <a:latin typeface="Assistant"/>
                <a:ea typeface="Assistant"/>
                <a:cs typeface="Assistant"/>
                <a:sym typeface="Assistant"/>
              </a:rPr>
              <a:t>Orthopedic Surgeon and President Emeritus </a:t>
            </a:r>
            <a:endParaRPr sz="1000">
              <a:solidFill>
                <a:srgbClr val="002F6C"/>
              </a:solidFill>
              <a:highlight>
                <a:schemeClr val="lt1"/>
              </a:highlight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2F6C"/>
                </a:solidFill>
                <a:highlight>
                  <a:schemeClr val="lt1"/>
                </a:highlight>
                <a:latin typeface="Assistant"/>
                <a:ea typeface="Assistant"/>
                <a:cs typeface="Assistant"/>
                <a:sym typeface="Assistant"/>
              </a:rPr>
              <a:t>of the Israeli Orthopedic Association</a:t>
            </a:r>
            <a:endParaRPr sz="1700">
              <a:solidFill>
                <a:srgbClr val="002F6C"/>
              </a:solidFill>
              <a:highlight>
                <a:schemeClr val="lt1"/>
              </a:highlight>
            </a:endParaRPr>
          </a:p>
        </p:txBody>
      </p:sp>
      <p:pic>
        <p:nvPicPr>
          <p:cNvPr id="114" name="Google Shape;114;p18" title="MAIN-LOGO_no-wing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6397022" y="4321689"/>
            <a:ext cx="2529300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Shachar Hirsh </a:t>
            </a:r>
            <a:br>
              <a:rPr lang="en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000">
                <a:solidFill>
                  <a:srgbClr val="002F6C"/>
                </a:solidFill>
                <a:highlight>
                  <a:schemeClr val="lt1"/>
                </a:highlight>
                <a:latin typeface="Assistant"/>
                <a:ea typeface="Assistant"/>
                <a:cs typeface="Assistant"/>
                <a:sym typeface="Assistant"/>
              </a:rPr>
              <a:t>CEO URIEL Meditex Group LTD.</a:t>
            </a:r>
            <a:endParaRPr sz="1700">
              <a:solidFill>
                <a:srgbClr val="002F6C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678900" y="437950"/>
            <a:ext cx="7786200" cy="18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Innovation often begins with simplicity </a:t>
            </a:r>
            <a:br>
              <a:rPr lang="en" sz="3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300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an oven mitten that became </a:t>
            </a:r>
            <a:br>
              <a:rPr lang="en" sz="300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</a:br>
            <a:r>
              <a:rPr lang="en" sz="300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a medical breakthrough</a:t>
            </a:r>
            <a:endParaRPr sz="300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pic>
        <p:nvPicPr>
          <p:cNvPr id="122" name="Google Shape;122;p19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02725" y="3319484"/>
            <a:ext cx="2103000" cy="15291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pic>
        <p:nvPicPr>
          <p:cNvPr id="124" name="Google Shape;124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6112" y="2237978"/>
            <a:ext cx="1638000" cy="10671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sp>
        <p:nvSpPr>
          <p:cNvPr id="125" name="Google Shape;125;p19"/>
          <p:cNvSpPr txBox="1"/>
          <p:nvPr/>
        </p:nvSpPr>
        <p:spPr>
          <a:xfrm>
            <a:off x="2352787" y="3178773"/>
            <a:ext cx="1902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Velcro attachment closed</a:t>
            </a:r>
            <a:endParaRPr sz="1300">
              <a:solidFill>
                <a:schemeClr val="lt1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73848" y="3197469"/>
            <a:ext cx="176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ssistant ExtraLight"/>
                <a:ea typeface="Assistant ExtraLight"/>
                <a:cs typeface="Assistant ExtraLight"/>
                <a:sym typeface="Assistant ExtraLight"/>
              </a:rPr>
              <a:t>Velcro attachment open</a:t>
            </a:r>
            <a:endParaRPr sz="1300">
              <a:solidFill>
                <a:schemeClr val="lt1"/>
              </a:solidFill>
              <a:latin typeface="Assistant ExtraLight"/>
              <a:ea typeface="Assistant ExtraLight"/>
              <a:cs typeface="Assistant ExtraLight"/>
              <a:sym typeface="Assistant ExtraLight"/>
            </a:endParaRPr>
          </a:p>
        </p:txBody>
      </p:sp>
      <p:pic>
        <p:nvPicPr>
          <p:cNvPr id="127" name="Google Shape;127;p19" title="IMG_084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1000" y="1866726"/>
            <a:ext cx="1902300" cy="2853450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Clinical Evidence</a:t>
            </a:r>
            <a:endParaRPr sz="30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311700" y="1032035"/>
            <a:ext cx="8520600" cy="8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1-Month Pilot Study with CTS-patients in one or two hands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D600"/>
                </a:solidFill>
                <a:latin typeface="Assistant"/>
                <a:ea typeface="Assistant"/>
                <a:cs typeface="Assistant"/>
                <a:sym typeface="Assistant"/>
              </a:rPr>
              <a:t>Boston Carpal Tunnel Questionnaire (BCTQ) results: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35" name="Google Shape;135;p20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/>
          <p:nvPr/>
        </p:nvSpPr>
        <p:spPr>
          <a:xfrm>
            <a:off x="425075" y="1973200"/>
            <a:ext cx="4109100" cy="453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Most patients improved after first month</a:t>
            </a:r>
            <a:endParaRPr sz="1500">
              <a:solidFill>
                <a:srgbClr val="002F6C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425100" y="2793025"/>
            <a:ext cx="4109100" cy="673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Only 11% required further surgical consideration</a:t>
            </a:r>
            <a:endParaRPr sz="1500">
              <a:solidFill>
                <a:srgbClr val="002F6C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425100" y="3846925"/>
            <a:ext cx="4109100" cy="73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Patients reported better sleep, </a:t>
            </a:r>
            <a:b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fewer wake-ups, and pain relief</a:t>
            </a:r>
            <a:endParaRPr sz="1500">
              <a:solidFill>
                <a:srgbClr val="002F6C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4810525" y="1959025"/>
            <a:ext cx="4142100" cy="2624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2F6C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2618" y="2087120"/>
            <a:ext cx="4023900" cy="25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CTS Night Mitten</a:t>
            </a:r>
            <a:r>
              <a:rPr lang="en" sz="3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- Nighttime Pain Relief Support </a:t>
            </a:r>
            <a:endParaRPr sz="3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497075" y="1742733"/>
            <a:ext cx="2536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947825" y="2749700"/>
            <a:ext cx="23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5772775" y="1454963"/>
            <a:ext cx="273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679025" y="3601340"/>
            <a:ext cx="217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5947825" y="3994950"/>
            <a:ext cx="23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3433" y="745866"/>
            <a:ext cx="2945874" cy="4418799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-5400000">
            <a:off x="2411225" y="2757890"/>
            <a:ext cx="613200" cy="1904700"/>
          </a:xfrm>
          <a:prstGeom prst="curvedConnector4">
            <a:avLst>
              <a:gd name="adj1" fmla="val -13920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-5400000">
            <a:off x="2464175" y="905733"/>
            <a:ext cx="1015500" cy="2412900"/>
          </a:xfrm>
          <a:prstGeom prst="curvedConnector4">
            <a:avLst>
              <a:gd name="adj1" fmla="val -23449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5744575" y="2535800"/>
            <a:ext cx="1393500" cy="2139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5067175" y="1371713"/>
            <a:ext cx="705600" cy="4065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-5400000" flipH="1">
            <a:off x="4965625" y="3336000"/>
            <a:ext cx="1062600" cy="9018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Why It Stands Out</a:t>
            </a:r>
            <a:endParaRPr sz="30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pic>
        <p:nvPicPr>
          <p:cNvPr id="165" name="Google Shape;165;p22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/>
          <p:nvPr/>
        </p:nvSpPr>
        <p:spPr>
          <a:xfrm>
            <a:off x="524537" y="1456025"/>
            <a:ext cx="3386400" cy="1215000"/>
          </a:xfrm>
          <a:prstGeom prst="roundRect">
            <a:avLst>
              <a:gd name="adj" fmla="val 16667"/>
            </a:avLst>
          </a:prstGeom>
          <a:solidFill>
            <a:srgbClr val="FFD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Unique</a:t>
            </a: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differentiator </a:t>
            </a:r>
            <a:b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vs. standard wrist splints</a:t>
            </a:r>
            <a:endParaRPr sz="180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5291796" y="1456025"/>
            <a:ext cx="3386400" cy="1215000"/>
          </a:xfrm>
          <a:prstGeom prst="roundRect">
            <a:avLst>
              <a:gd name="adj" fmla="val 16667"/>
            </a:avLst>
          </a:prstGeom>
          <a:solidFill>
            <a:srgbClr val="FFD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Conservative, </a:t>
            </a:r>
            <a:b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non-invasive</a:t>
            </a: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option</a:t>
            </a: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b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for early CTS management</a:t>
            </a:r>
            <a:endParaRPr sz="180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524537" y="2925675"/>
            <a:ext cx="3386400" cy="1215000"/>
          </a:xfrm>
          <a:prstGeom prst="roundRect">
            <a:avLst>
              <a:gd name="adj" fmla="val 16667"/>
            </a:avLst>
          </a:prstGeom>
          <a:solidFill>
            <a:srgbClr val="FFD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Expands</a:t>
            </a: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offering</a:t>
            </a: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into </a:t>
            </a:r>
            <a:b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nighttime therapy solutions</a:t>
            </a:r>
            <a:endParaRPr sz="180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5291796" y="2925675"/>
            <a:ext cx="3386400" cy="1215000"/>
          </a:xfrm>
          <a:prstGeom prst="roundRect">
            <a:avLst>
              <a:gd name="adj" fmla="val 16667"/>
            </a:avLst>
          </a:prstGeom>
          <a:solidFill>
            <a:srgbClr val="FFD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High potential</a:t>
            </a: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b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en" sz="18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for retail pharmacies, orthopedics, online sales</a:t>
            </a:r>
            <a:endParaRPr sz="180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70" name="Google Shape;170;p22" title="IMG_08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3433" y="745866"/>
            <a:ext cx="2945874" cy="4418799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8F333FF-D610-0EAF-9D3D-4D7DF37E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| רקעים מצגות-18.png">
            <a:extLst>
              <a:ext uri="{FF2B5EF4-FFF2-40B4-BE49-F238E27FC236}">
                <a16:creationId xmlns:a16="http://schemas.microsoft.com/office/drawing/2014/main" id="{FB459EE0-EF2C-6826-5D96-6C436F259B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291E5851-D6E3-D4F7-B81D-DDF30EE473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77014" y="1515241"/>
            <a:ext cx="8520600" cy="14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SHIELD SERIES</a:t>
            </a:r>
            <a:endParaRPr b="1"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F1C00033-91DC-8887-63EF-3DB8C555B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7014" y="2261491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Innovative orthopedic support</a:t>
            </a:r>
            <a:endParaRPr dirty="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pic>
        <p:nvPicPr>
          <p:cNvPr id="3" name="תמונה 2" descr="תמונה שמכילה לוגו, סמל, סימן, 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B274F9D-1598-65E6-6398-3985BBF79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15" y="1515240"/>
            <a:ext cx="1346177" cy="14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2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A5CA7D5-DE60-50F0-9199-A36C7D95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>
            <a:extLst>
              <a:ext uri="{FF2B5EF4-FFF2-40B4-BE49-F238E27FC236}">
                <a16:creationId xmlns:a16="http://schemas.microsoft.com/office/drawing/2014/main" id="{8E808921-9A03-5C6C-ABF7-2E54DA330459}"/>
              </a:ext>
            </a:extLst>
          </p:cNvPr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904388" y="-904387"/>
            <a:ext cx="5152824" cy="69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944B562-3903-296C-7406-2FE5FF757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1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GenuShield</a:t>
            </a:r>
            <a:b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Knee Support</a:t>
            </a:r>
            <a:endParaRPr sz="3000" dirty="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ED9CE40-4BE4-64B6-8906-62055498E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4136" y="2041071"/>
            <a:ext cx="3231600" cy="10613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Advanced support for stability, pain relief &amp; swelling reduction.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5" name="Google Shape;65;p14" title="MAIN-LOGO_no-wings.png">
            <a:extLst>
              <a:ext uri="{FF2B5EF4-FFF2-40B4-BE49-F238E27FC236}">
                <a16:creationId xmlns:a16="http://schemas.microsoft.com/office/drawing/2014/main" id="{A54FD8FD-4CCA-E3B1-66C5-9C394417CA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מציין מיקום תוכן 4" descr="תמונה שמכילה לבוש, אדם, לבוש מגן, עומד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2EBCBA-9435-0927-C920-84E24E918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000" y="1161"/>
            <a:ext cx="5151664" cy="51516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7E1762F-CFC0-3CFA-1282-5310ECBD7D9D}"/>
              </a:ext>
            </a:extLst>
          </p:cNvPr>
          <p:cNvSpPr txBox="1"/>
          <p:nvPr/>
        </p:nvSpPr>
        <p:spPr>
          <a:xfrm>
            <a:off x="311700" y="14151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With flexible stays &amp; gel pad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37862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5;p23" title="21-334 uriel | רקעים מצגות-18.png">
            <a:extLst>
              <a:ext uri="{FF2B5EF4-FFF2-40B4-BE49-F238E27FC236}">
                <a16:creationId xmlns:a16="http://schemas.microsoft.com/office/drawing/2014/main" id="{A9DF9503-220D-72F9-E007-730642C9BD0D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DBF18443-D73A-EA07-43AA-9AE6BE65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032" y="228888"/>
            <a:ext cx="6034890" cy="468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60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38B89932-3EF0-1CD3-9D8C-939A2FD138B4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5293942-22C3-3435-15F8-B26530829391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421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3000" dirty="0" err="1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SpinaShield</a:t>
            </a:r>
            <a:b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-US" sz="3000" dirty="0">
                <a:solidFill>
                  <a:schemeClr val="lt1"/>
                </a:solidFill>
                <a:latin typeface="Assistant ExtraBold"/>
                <a:cs typeface="+mn-cs"/>
              </a:rPr>
              <a:t>Posture Corrector Belt</a:t>
            </a:r>
            <a:endParaRPr lang="en-US" sz="3000" dirty="0">
              <a:solidFill>
                <a:schemeClr val="lt1"/>
              </a:solidFill>
              <a:latin typeface="Assistant ExtraBold"/>
              <a:cs typeface="+mn-cs"/>
              <a:sym typeface="Assistant ExtraBold"/>
            </a:endParaRPr>
          </a:p>
        </p:txBody>
      </p:sp>
      <p:sp>
        <p:nvSpPr>
          <p:cNvPr id="7" name="Google Shape;63;p14">
            <a:extLst>
              <a:ext uri="{FF2B5EF4-FFF2-40B4-BE49-F238E27FC236}">
                <a16:creationId xmlns:a16="http://schemas.microsoft.com/office/drawing/2014/main" id="{4489C5C2-AB10-7146-9DDD-09B180320330}"/>
              </a:ext>
            </a:extLst>
          </p:cNvPr>
          <p:cNvSpPr txBox="1">
            <a:spLocks/>
          </p:cNvSpPr>
          <p:nvPr/>
        </p:nvSpPr>
        <p:spPr>
          <a:xfrm>
            <a:off x="280450" y="1401464"/>
            <a:ext cx="4277800" cy="3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Advanced and lightweight posture corrector</a:t>
            </a:r>
          </a:p>
          <a:p>
            <a:r>
              <a:rPr lang="en-US" dirty="0">
                <a:solidFill>
                  <a:schemeClr val="bg1"/>
                </a:solidFill>
              </a:rPr>
              <a:t>designed to improve spinal alignment and reduce</a:t>
            </a:r>
          </a:p>
          <a:p>
            <a:r>
              <a:rPr lang="en-US" dirty="0">
                <a:solidFill>
                  <a:schemeClr val="bg1"/>
                </a:solidFill>
              </a:rPr>
              <a:t>upper back and shoulder pain. Featuring comfortable, adjustable straps, it supports upright posture, relieves muscle tension, and encourages natural movement.</a:t>
            </a:r>
          </a:p>
          <a:p>
            <a:r>
              <a:rPr lang="en-US" dirty="0">
                <a:solidFill>
                  <a:schemeClr val="bg1"/>
                </a:solidFill>
              </a:rPr>
              <a:t>Ideal for those who sit for long hours, suffer from poor posture, or seek pain relief in daily life.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-Supports natural spinal alignment.</a:t>
            </a:r>
          </a:p>
          <a:p>
            <a:r>
              <a:rPr lang="en-US" dirty="0">
                <a:solidFill>
                  <a:schemeClr val="bg1"/>
                </a:solidFill>
              </a:rPr>
              <a:t>-Helps relieve neck and upper back pain.</a:t>
            </a:r>
          </a:p>
          <a:p>
            <a:r>
              <a:rPr lang="en-US" dirty="0">
                <a:solidFill>
                  <a:schemeClr val="bg1"/>
                </a:solidFill>
              </a:rPr>
              <a:t>-Discreet, slim, and comfortable for everyday use.</a:t>
            </a:r>
            <a:endParaRPr lang="en-US" dirty="0">
              <a:solidFill>
                <a:schemeClr val="bg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" name="תמונה 3" descr="תמונה שמכילה לבוש, אדם, גשר, ו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ADB9563-4112-DC21-87CE-2EB321A7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099" y="0"/>
            <a:ext cx="3606901" cy="514350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B49256A-9957-ADE7-8018-4A08E3071479}"/>
              </a:ext>
            </a:extLst>
          </p:cNvPr>
          <p:cNvSpPr txBox="1"/>
          <p:nvPr/>
        </p:nvSpPr>
        <p:spPr>
          <a:xfrm>
            <a:off x="311700" y="14151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for Spine and Shoulders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984792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3F67-20A7-0A1A-8C0A-EE7D3937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5CC32773-29C0-A983-A35E-5DB63D4B1B45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B376A552-0CB3-AA02-6ACA-3428EEED781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421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3000" dirty="0" err="1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TaluAir</a:t>
            </a:r>
            <a: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 Shield</a:t>
            </a:r>
            <a:b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Ankle Stabilizer</a:t>
            </a:r>
          </a:p>
        </p:txBody>
      </p:sp>
      <p:sp>
        <p:nvSpPr>
          <p:cNvPr id="7" name="Google Shape;63;p14">
            <a:extLst>
              <a:ext uri="{FF2B5EF4-FFF2-40B4-BE49-F238E27FC236}">
                <a16:creationId xmlns:a16="http://schemas.microsoft.com/office/drawing/2014/main" id="{9B13395C-C54E-E475-3746-C4C6F23B543D}"/>
              </a:ext>
            </a:extLst>
          </p:cNvPr>
          <p:cNvSpPr txBox="1">
            <a:spLocks/>
          </p:cNvSpPr>
          <p:nvPr/>
        </p:nvSpPr>
        <p:spPr>
          <a:xfrm>
            <a:off x="249199" y="1462750"/>
            <a:ext cx="4126857" cy="2562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TaluAir</a:t>
            </a:r>
            <a:r>
              <a:rPr lang="en-US" dirty="0">
                <a:solidFill>
                  <a:schemeClr val="bg1"/>
                </a:solidFill>
              </a:rPr>
              <a:t> Shield Ankle Stabilizer is a rigid ankle brace that restricts side-to-side movement and delivers strong lateral stabilization after acute sprains, ligament injuries, or instability. </a:t>
            </a:r>
          </a:p>
          <a:p>
            <a:r>
              <a:rPr lang="en-US" dirty="0">
                <a:solidFill>
                  <a:schemeClr val="bg1"/>
                </a:solidFill>
              </a:rPr>
              <a:t>The inflatable cushions allow a customized fit and help reduce swelling during the critical first days of recovery.</a:t>
            </a:r>
            <a:endParaRPr lang="en-US" dirty="0">
              <a:solidFill>
                <a:schemeClr val="bg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3" name="תמונה 2" descr="תמונה שמכילה לבוש, אדם, גשר, בחוץ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5FA67E3-FC76-4BAF-4FF6-E5BD1A65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000" y="0"/>
            <a:ext cx="5143500" cy="514350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7A4F92A-3CC5-792D-1A21-DB7BD679F7C5}"/>
              </a:ext>
            </a:extLst>
          </p:cNvPr>
          <p:cNvSpPr txBox="1"/>
          <p:nvPr/>
        </p:nvSpPr>
        <p:spPr>
          <a:xfrm>
            <a:off x="311700" y="1462750"/>
            <a:ext cx="4890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FFFFFF"/>
                </a:solidFill>
                <a:latin typeface="NarkissHadash-Medium"/>
              </a:rPr>
              <a:t>Dual-sided Ankle Brace with Air Cushions</a:t>
            </a:r>
            <a:endParaRPr lang="he-IL" sz="18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5B023C3-FBB4-FFAF-1726-6EC83D29C1F5}"/>
              </a:ext>
            </a:extLst>
          </p:cNvPr>
          <p:cNvSpPr txBox="1"/>
          <p:nvPr/>
        </p:nvSpPr>
        <p:spPr>
          <a:xfrm>
            <a:off x="249199" y="4098311"/>
            <a:ext cx="40615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u="none" strike="noStrike" baseline="0" dirty="0">
                <a:solidFill>
                  <a:srgbClr val="FFFFFF"/>
                </a:solidFill>
                <a:latin typeface="NarkissHadash-Semibold"/>
              </a:rPr>
              <a:t>Medical Indications:</a:t>
            </a:r>
          </a:p>
          <a:p>
            <a:pPr algn="l"/>
            <a:r>
              <a:rPr lang="en-US" sz="1100" b="0" i="0" u="none" strike="noStrike" baseline="0" dirty="0">
                <a:solidFill>
                  <a:srgbClr val="FFFFFF"/>
                </a:solidFill>
                <a:latin typeface="NarkissHadash-Regular"/>
              </a:rPr>
              <a:t>Acute ankle sprains, Chronic instability, Lateral ligament injuries, Post-trauma stabilization, Early rehabilitation phase.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2332378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8FFF6700-3D03-1EC1-D41A-137719D9F0F2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94802753-4150-479A-C73D-ADAEA7FA4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20" y="543500"/>
            <a:ext cx="6359359" cy="40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9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4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746250" y="2285400"/>
            <a:ext cx="765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Thanks!</a:t>
            </a:r>
            <a:endParaRPr sz="30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540</Words>
  <Application>Microsoft Office PowerPoint</Application>
  <PresentationFormat>‫הצגה על המסך (16:9)</PresentationFormat>
  <Paragraphs>68</Paragraphs>
  <Slides>16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10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7" baseType="lpstr">
      <vt:lpstr>Calibri</vt:lpstr>
      <vt:lpstr>Assistant ExtraBold</vt:lpstr>
      <vt:lpstr>Assistant Light</vt:lpstr>
      <vt:lpstr>NarkissHadash-Semibold</vt:lpstr>
      <vt:lpstr>NarkissHadash-Medium</vt:lpstr>
      <vt:lpstr>Assistant</vt:lpstr>
      <vt:lpstr>Assistant ExtraLight</vt:lpstr>
      <vt:lpstr>NarkissHadash-Regular</vt:lpstr>
      <vt:lpstr>Arial</vt:lpstr>
      <vt:lpstr>Assistant SemiBold</vt:lpstr>
      <vt:lpstr>Simple Light</vt:lpstr>
      <vt:lpstr>Carpal Tunnel Syndrome Night Mitten</vt:lpstr>
      <vt:lpstr>Market Need</vt:lpstr>
      <vt:lpstr>מצגת של PowerPoint‏</vt:lpstr>
      <vt:lpstr>Finger flexion Simple move  Powerful relief</vt:lpstr>
      <vt:lpstr>Collaboration That Transformed CTS Care</vt:lpstr>
      <vt:lpstr>Innovation often begins with simplicity  an oven mitten that became  a medical breakthrough</vt:lpstr>
      <vt:lpstr>Clinical Evidence</vt:lpstr>
      <vt:lpstr>CTS Night Mitten - Nighttime Pain Relief Support </vt:lpstr>
      <vt:lpstr>Why It Stands Out</vt:lpstr>
      <vt:lpstr>SHIELD SERIES</vt:lpstr>
      <vt:lpstr>GenuShield Knee Support</vt:lpstr>
      <vt:lpstr>מצגת של PowerPoint‏</vt:lpstr>
      <vt:lpstr>מצגת של PowerPoint‏</vt:lpstr>
      <vt:lpstr>מצגת של PowerPoint‏</vt:lpstr>
      <vt:lpstr>מצגת של PowerPoint‏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 Cohen</dc:creator>
  <cp:lastModifiedBy>Eyal Sadot</cp:lastModifiedBy>
  <cp:revision>5</cp:revision>
  <dcterms:modified xsi:type="dcterms:W3CDTF">2026-08-10T06:52:34Z</dcterms:modified>
</cp:coreProperties>
</file>