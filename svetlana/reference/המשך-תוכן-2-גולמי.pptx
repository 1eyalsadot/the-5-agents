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sldIdLst>
    <p:sldId id="387" r:id="rId2"/>
    <p:sldId id="388" r:id="rId3"/>
    <p:sldId id="390" r:id="rId4"/>
    <p:sldId id="292" r:id="rId5"/>
    <p:sldId id="391" r:id="rId6"/>
    <p:sldId id="324" r:id="rId7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delSld">
      <pc:chgData name="Eyal Sadot" userId="9c57a40b-08c8-435b-851c-1854c25cf41d" providerId="ADAL" clId="{02003448-2CBC-42C7-80BD-DC4C07BEB2CD}" dt="2026-08-06T10:35:23.856" v="0" actId="47"/>
      <pc:docMkLst>
        <pc:docMk/>
      </pc:docMkLst>
      <pc:sldChg chg="del">
        <pc:chgData name="Eyal Sadot" userId="9c57a40b-08c8-435b-851c-1854c25cf41d" providerId="ADAL" clId="{02003448-2CBC-42C7-80BD-DC4C07BEB2CD}" dt="2026-08-06T10:35:23.856" v="0" actId="47"/>
        <pc:sldMkLst>
          <pc:docMk/>
          <pc:sldMk cId="365433265" sldId="392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93655D5-7B76-BDB2-D9B2-433ECE4B24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163DF22-3979-AEED-67F9-FFA6CD8B4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DF4C6B0-6865-9368-4A2A-5F992B973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08/06/2026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C91AE897-159A-FE08-2B04-BEA2D209F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142E9A4F-16BB-D175-FAA5-3926D3C00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60306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08/06/2026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01294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7B75F83-BCB1-4B12-A816-9BFA8C0D4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5416C64-EEAC-E597-C67C-8628531259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76EB92B-E76E-FBAB-C215-1FC745F3A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08/06/2026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AC925C5-1874-EC92-1041-5CB03A971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744C32C-730C-AAA6-1858-8CFC9B043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48547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3961AAB-9C72-2379-0782-0BA4AD4A4E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7F69A76-C002-A3EA-DCCD-1FABDD769B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2C4C56E-D457-2853-96BA-3127F904D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B0DEA4C6-3BF0-4249-2C99-647166635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08/06/2026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455BA81-6A9D-13D2-A593-7A87C28EB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122330C-FF64-3101-BE69-02E15C631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45246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5C1FAC-5FF4-0B59-4531-3DD3B20D97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B1611AB-ABBA-DA78-AB2E-3CD2D420A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278590BE-75B3-1AD8-1BA7-297B072F5A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A85205DA-C2D3-42C8-876B-BE88FEC677E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CBBE61D1-0D81-A7BF-82F1-8C9AACAE80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BE35E78D-9F79-340D-2AFF-FC6C7F036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08/06/2026</a:t>
            </a:fld>
            <a:endParaRPr lang="en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9CB09053-5BDF-1BC5-0BB4-09B3C7D83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2ADDDC0-B589-4E9A-8A3E-2F1BCBFAB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8569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EBF8E03-04EC-D433-5A50-C8DBBEF2D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80D2DE77-9B1D-A8F6-39F2-83AB364C84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08/06/2026</a:t>
            </a:fld>
            <a:endParaRPr lang="en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76EB72B3-36E6-629C-E1BB-B7FE2C080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9DA9D9B-DDFF-886C-E62B-5016B02FA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28016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B3C9AF8F-1C68-F68D-8E47-5099453F8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08/06/2026</a:t>
            </a:fld>
            <a:endParaRPr lang="en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A8C2006C-C864-1BCA-350D-776A6C90D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BB80805E-A7D9-59B1-F7FE-DB493EB7E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11157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CB6E9FD-BDCA-8615-5C76-9AE455484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9BEE56B-884A-FF20-6F16-78E1FFA48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318CFB7-7D0E-5FF6-195E-0D12C73D7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A9EA98F-4AB6-617B-0ACB-46F84A97A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08/06/2026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5323F00-1778-747D-4CA3-7BE566ED1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92B465A2-907D-FB84-6055-CBFCE4DE3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98464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2FA106A-289E-871F-F5F5-8CC8CADFD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EA8EC99-AB5D-08CE-C63E-479D1F26A8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B75CA46-2A8A-A500-73E6-574585BC63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9CE62B9-52EE-063D-A438-9E61AE151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08/06/2026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A824396-F9DB-75DA-33C9-2B779900C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C378360-5782-0A4E-2B7D-485BDFF83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94812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3DEF039-C6BC-A819-D595-4A20803C2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03D74BD-55F5-0C77-6FD9-0CF39A901E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DAA8960-576B-9503-F8FD-760E173FB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08/06/2026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A77FD7E-A75B-13CC-CDBB-C7134997A0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E207FB3-3023-8836-8CD2-AEE0C530B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0534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133AF92A-CF65-F8BD-9C54-9BD4A8F66A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9E3758F1-E76F-F635-23AE-297B21E24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53EEDB9-1BD2-CF0C-1B70-668C29D4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08/06/2026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C81EF60-A0DC-1B56-1082-11B501071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74F17FA-932C-6CCC-0DA8-3922C316E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59880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DF0BBCCB-73E7-59B5-1FA6-454B65360E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956500C-A04C-EC5C-FB8B-FB20266DF7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A44FF6E-D523-BBE0-054B-C69A1CA793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AAF1C5-50B2-4937-8234-44C132520904}" type="datetimeFigureOut">
              <a:rPr lang="en-IL" smtClean="0"/>
              <a:t>08/06/2026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3201DA7-8EE9-7183-0C56-4477E25239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915B221-736A-9F3F-D305-29A35AB23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11982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6DF8453-2933-9C72-A058-A8AAFD23C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Driving Growth Potential in Orthopedic </a:t>
            </a:r>
            <a:r>
              <a:rPr lang="en-US" dirty="0" err="1"/>
              <a:t>Categoty</a:t>
            </a:r>
            <a:endParaRPr lang="he-IL" dirty="0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0A075142-D889-2FE0-BC5A-FE52E747739A}"/>
              </a:ext>
            </a:extLst>
          </p:cNvPr>
          <p:cNvSpPr txBox="1"/>
          <p:nvPr/>
        </p:nvSpPr>
        <p:spPr>
          <a:xfrm>
            <a:off x="1188720" y="2254518"/>
            <a:ext cx="9144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Aging with Confidence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Longer life spans mean more need for lasting support.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Active Lifestyles, Active Demand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Health-conscious consumers are seeking solutions for better mobility.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Prevent Today, Perform Tomorrow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Injury prevention is key to staying active and strong.</a:t>
            </a:r>
          </a:p>
        </p:txBody>
      </p:sp>
    </p:spTree>
    <p:extLst>
      <p:ext uri="{BB962C8B-B14F-4D97-AF65-F5344CB8AC3E}">
        <p14:creationId xmlns:p14="http://schemas.microsoft.com/office/powerpoint/2010/main" val="3304475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97B072F-05A0-3EEC-7082-40D08CFBE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b="1" dirty="0"/>
              <a:t>Navigating a Competitive Landscape</a:t>
            </a:r>
            <a:br>
              <a:rPr lang="en-US" dirty="0"/>
            </a:br>
            <a:endParaRPr lang="he-IL" dirty="0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38A8AAAA-C3B3-CC3F-B913-6053FF6427EA}"/>
              </a:ext>
            </a:extLst>
          </p:cNvPr>
          <p:cNvSpPr txBox="1"/>
          <p:nvPr/>
        </p:nvSpPr>
        <p:spPr>
          <a:xfrm>
            <a:off x="838200" y="1651775"/>
            <a:ext cx="1112012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Diverse Competition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The market is filled with many players who hold geographic dominance, but lack comprehensive expertise across all categories.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Focused Solutions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While others focus on volume, we prioritize tailored solutions that empower movement and enhance well-being.</a:t>
            </a:r>
          </a:p>
        </p:txBody>
      </p:sp>
      <p:pic>
        <p:nvPicPr>
          <p:cNvPr id="7" name="תמונה 6" descr="תמונה שמכילה גופן, טקסט, גרפיקה, לוגו&#10;&#10;התיאור נוצר באופן אוטומטי">
            <a:extLst>
              <a:ext uri="{FF2B5EF4-FFF2-40B4-BE49-F238E27FC236}">
                <a16:creationId xmlns:a16="http://schemas.microsoft.com/office/drawing/2014/main" id="{2ED71C71-BF9B-6C14-42EC-3D127CA1F6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85" y="5636143"/>
            <a:ext cx="2371407" cy="637289"/>
          </a:xfrm>
          <a:prstGeom prst="rect">
            <a:avLst/>
          </a:prstGeom>
        </p:spPr>
      </p:pic>
      <p:pic>
        <p:nvPicPr>
          <p:cNvPr id="9" name="תמונה 8" descr="תמונה שמכילה גופן, גרפיקה, צילום מסך, לוגו&#10;&#10;התיאור נוצר באופן אוטומטי">
            <a:extLst>
              <a:ext uri="{FF2B5EF4-FFF2-40B4-BE49-F238E27FC236}">
                <a16:creationId xmlns:a16="http://schemas.microsoft.com/office/drawing/2014/main" id="{FDD168F1-55F5-F3E2-D509-211A74C3EB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5889" y="5542286"/>
            <a:ext cx="2101895" cy="673021"/>
          </a:xfrm>
          <a:prstGeom prst="rect">
            <a:avLst/>
          </a:prstGeom>
        </p:spPr>
      </p:pic>
      <p:pic>
        <p:nvPicPr>
          <p:cNvPr id="11" name="תמונה 10" descr="תמונה שמכילה לוגו, גופן, גרפיקה, סימן מסחרי&#10;&#10;התיאור נוצר באופן אוטומטי">
            <a:extLst>
              <a:ext uri="{FF2B5EF4-FFF2-40B4-BE49-F238E27FC236}">
                <a16:creationId xmlns:a16="http://schemas.microsoft.com/office/drawing/2014/main" id="{73A8E7DA-8851-FF79-6874-E73B5F1185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405" y="5421423"/>
            <a:ext cx="2101894" cy="1127980"/>
          </a:xfrm>
          <a:prstGeom prst="rect">
            <a:avLst/>
          </a:prstGeom>
        </p:spPr>
      </p:pic>
      <p:pic>
        <p:nvPicPr>
          <p:cNvPr id="13" name="תמונה 12" descr="תמונה שמכילה גרפיקה, גופן, לוגו, עיצוב גרפי&#10;&#10;התיאור נוצר באופן אוטומטי">
            <a:extLst>
              <a:ext uri="{FF2B5EF4-FFF2-40B4-BE49-F238E27FC236}">
                <a16:creationId xmlns:a16="http://schemas.microsoft.com/office/drawing/2014/main" id="{FE411483-18CC-8E19-0032-BBCE229396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9181" y="5428844"/>
            <a:ext cx="1292273" cy="950588"/>
          </a:xfrm>
          <a:prstGeom prst="rect">
            <a:avLst/>
          </a:prstGeom>
        </p:spPr>
      </p:pic>
      <p:pic>
        <p:nvPicPr>
          <p:cNvPr id="15" name="תמונה 14" descr="תמונה שמכילה גופן, טקסט, לוגו, סמל&#10;&#10;התיאור נוצר באופן אוטומטי">
            <a:extLst>
              <a:ext uri="{FF2B5EF4-FFF2-40B4-BE49-F238E27FC236}">
                <a16:creationId xmlns:a16="http://schemas.microsoft.com/office/drawing/2014/main" id="{138CCF1D-BD80-84EC-9981-E968358F19A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7435" y="5450951"/>
            <a:ext cx="1010727" cy="90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386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6FCAB9B-F32D-1CA1-8E74-D94337665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/>
              <a:t>Our Growth Engines</a:t>
            </a:r>
            <a:endParaRPr lang="he-IL" dirty="0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F5F0008B-659E-554A-B200-2E16E1206C03}"/>
              </a:ext>
            </a:extLst>
          </p:cNvPr>
          <p:cNvSpPr txBox="1"/>
          <p:nvPr/>
        </p:nvSpPr>
        <p:spPr>
          <a:xfrm>
            <a:off x="690880" y="1921917"/>
            <a:ext cx="882904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Global Expansion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Connecting with the world, Expanding the distributor network worldwide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E-commerce Revolution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Marketplaces reshape shopping while our website drives      direct sales, both essential for growth.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Strategic Acquisitions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Building a stronger portfolio through smart partnerships.</a:t>
            </a:r>
          </a:p>
        </p:txBody>
      </p:sp>
    </p:spTree>
    <p:extLst>
      <p:ext uri="{BB962C8B-B14F-4D97-AF65-F5344CB8AC3E}">
        <p14:creationId xmlns:p14="http://schemas.microsoft.com/office/powerpoint/2010/main" val="385009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7">
            <a:extLst>
              <a:ext uri="{FF2B5EF4-FFF2-40B4-BE49-F238E27FC236}">
                <a16:creationId xmlns:a16="http://schemas.microsoft.com/office/drawing/2014/main" id="{E09CC57B-4804-9865-AFA2-C060D96DB3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2" y="0"/>
            <a:ext cx="12192000" cy="6858000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5F6BAB48-C931-F4FC-D805-72F496E09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2575" y="1887918"/>
            <a:ext cx="9086850" cy="4289045"/>
          </a:xfrm>
          <a:prstGeom prst="rect">
            <a:avLst/>
          </a:prstGeom>
        </p:spPr>
      </p:pic>
      <p:sp>
        <p:nvSpPr>
          <p:cNvPr id="7" name="TextBox 10">
            <a:extLst>
              <a:ext uri="{FF2B5EF4-FFF2-40B4-BE49-F238E27FC236}">
                <a16:creationId xmlns:a16="http://schemas.microsoft.com/office/drawing/2014/main" id="{C51CE015-8EB2-1F2D-09EF-7C862D1DC618}"/>
              </a:ext>
            </a:extLst>
          </p:cNvPr>
          <p:cNvSpPr txBox="1"/>
          <p:nvPr/>
        </p:nvSpPr>
        <p:spPr>
          <a:xfrm>
            <a:off x="340025" y="-23467"/>
            <a:ext cx="8360381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lang="he-IL" sz="1800" b="0" i="0" u="none" strike="noStrike" baseline="0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algn="l" rtl="0"/>
            <a:r>
              <a:rPr lang="en-US" sz="4000" b="1" spc="-153" dirty="0">
                <a:solidFill>
                  <a:srgbClr val="082D67"/>
                </a:solidFill>
                <a:latin typeface="Calibri" panose="020F0502020204030204" pitchFamily="34" charset="0"/>
                <a:ea typeface="Open Sans Light"/>
                <a:cs typeface="Open Sans Light"/>
              </a:rPr>
              <a:t>Sales Channels</a:t>
            </a:r>
          </a:p>
        </p:txBody>
      </p:sp>
      <p:pic>
        <p:nvPicPr>
          <p:cNvPr id="8" name="תמונה 7">
            <a:extLst>
              <a:ext uri="{FF2B5EF4-FFF2-40B4-BE49-F238E27FC236}">
                <a16:creationId xmlns:a16="http://schemas.microsoft.com/office/drawing/2014/main" id="{FBA0485F-0AC0-19E2-75F6-FAD35B89F2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3396" y="5491388"/>
            <a:ext cx="2144885" cy="1840233"/>
          </a:xfrm>
          <a:prstGeom prst="rect">
            <a:avLst/>
          </a:prstGeom>
        </p:spPr>
      </p:pic>
      <p:sp>
        <p:nvSpPr>
          <p:cNvPr id="9" name="מלבן 8">
            <a:extLst>
              <a:ext uri="{FF2B5EF4-FFF2-40B4-BE49-F238E27FC236}">
                <a16:creationId xmlns:a16="http://schemas.microsoft.com/office/drawing/2014/main" id="{548EF063-1227-2D19-F1C9-6D232DA18DAA}"/>
              </a:ext>
            </a:extLst>
          </p:cNvPr>
          <p:cNvSpPr/>
          <p:nvPr/>
        </p:nvSpPr>
        <p:spPr>
          <a:xfrm>
            <a:off x="8941740" y="4331967"/>
            <a:ext cx="1354785" cy="685800"/>
          </a:xfrm>
          <a:prstGeom prst="rect">
            <a:avLst/>
          </a:prstGeom>
          <a:solidFill>
            <a:srgbClr val="BFBFBF"/>
          </a:solidFill>
          <a:ln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CC060263-EC68-04E3-DD4A-9D3AE4812796}"/>
              </a:ext>
            </a:extLst>
          </p:cNvPr>
          <p:cNvSpPr/>
          <p:nvPr/>
        </p:nvSpPr>
        <p:spPr>
          <a:xfrm>
            <a:off x="7210426" y="4331967"/>
            <a:ext cx="1354785" cy="685800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CF6E9D87-B8EF-A363-D6C2-08D49653444F}"/>
              </a:ext>
            </a:extLst>
          </p:cNvPr>
          <p:cNvSpPr/>
          <p:nvPr/>
        </p:nvSpPr>
        <p:spPr>
          <a:xfrm>
            <a:off x="5418607" y="4331967"/>
            <a:ext cx="1354785" cy="685800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1CC90F18-2328-9E55-1C2F-67377865E6AB}"/>
              </a:ext>
            </a:extLst>
          </p:cNvPr>
          <p:cNvSpPr/>
          <p:nvPr/>
        </p:nvSpPr>
        <p:spPr>
          <a:xfrm>
            <a:off x="3750615" y="4331967"/>
            <a:ext cx="1354785" cy="685800"/>
          </a:xfrm>
          <a:prstGeom prst="rect">
            <a:avLst/>
          </a:prstGeom>
          <a:solidFill>
            <a:srgbClr val="B2B2B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5E896509-7E68-216F-9C51-44883E901975}"/>
              </a:ext>
            </a:extLst>
          </p:cNvPr>
          <p:cNvSpPr/>
          <p:nvPr/>
        </p:nvSpPr>
        <p:spPr>
          <a:xfrm>
            <a:off x="1895475" y="4331967"/>
            <a:ext cx="1354785" cy="685800"/>
          </a:xfrm>
          <a:prstGeom prst="rect">
            <a:avLst/>
          </a:prstGeom>
          <a:solidFill>
            <a:srgbClr val="A7A7A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A7DC7A94-50BA-3093-A483-7AEA688B2365}"/>
              </a:ext>
            </a:extLst>
          </p:cNvPr>
          <p:cNvSpPr txBox="1"/>
          <p:nvPr/>
        </p:nvSpPr>
        <p:spPr>
          <a:xfrm>
            <a:off x="3289323" y="4111790"/>
            <a:ext cx="24360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2400" b="1" dirty="0">
                <a:solidFill>
                  <a:srgbClr val="002871"/>
                </a:solidFill>
              </a:rPr>
              <a:t>Hospitals</a:t>
            </a:r>
          </a:p>
          <a:p>
            <a:pPr lvl="0" algn="ctr" rtl="0">
              <a:spcAft>
                <a:spcPts val="0"/>
              </a:spcAft>
            </a:pPr>
            <a:endParaRPr lang="en-US" sz="2400" b="1" dirty="0">
              <a:solidFill>
                <a:srgbClr val="002871"/>
              </a:solidFill>
            </a:endParaRPr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34C10314-DB46-7E0E-5317-E615B6832A8E}"/>
              </a:ext>
            </a:extLst>
          </p:cNvPr>
          <p:cNvSpPr txBox="1"/>
          <p:nvPr/>
        </p:nvSpPr>
        <p:spPr>
          <a:xfrm>
            <a:off x="4924703" y="4118822"/>
            <a:ext cx="24360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2871"/>
                </a:solidFill>
              </a:rPr>
              <a:t>digital</a:t>
            </a:r>
            <a:endParaRPr lang="he-IL" sz="2400" b="1" dirty="0">
              <a:solidFill>
                <a:srgbClr val="002871"/>
              </a:solidFill>
            </a:endParaRPr>
          </a:p>
        </p:txBody>
      </p:sp>
      <p:sp>
        <p:nvSpPr>
          <p:cNvPr id="18" name="תיבת טקסט 17">
            <a:extLst>
              <a:ext uri="{FF2B5EF4-FFF2-40B4-BE49-F238E27FC236}">
                <a16:creationId xmlns:a16="http://schemas.microsoft.com/office/drawing/2014/main" id="{AE37F88B-2B1B-50D9-B4DB-282BDEBA1748}"/>
              </a:ext>
            </a:extLst>
          </p:cNvPr>
          <p:cNvSpPr txBox="1"/>
          <p:nvPr/>
        </p:nvSpPr>
        <p:spPr>
          <a:xfrm>
            <a:off x="1318705" y="3904735"/>
            <a:ext cx="24360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2400" b="1" dirty="0">
                <a:solidFill>
                  <a:srgbClr val="002871"/>
                </a:solidFill>
              </a:rPr>
              <a:t>pharmacies</a:t>
            </a:r>
            <a:r>
              <a:rPr lang="he-IL" sz="2400" b="1" dirty="0">
                <a:solidFill>
                  <a:srgbClr val="002871"/>
                </a:solidFill>
              </a:rPr>
              <a:t> </a:t>
            </a:r>
            <a:r>
              <a:rPr lang="en-US" sz="2400" b="1" dirty="0">
                <a:solidFill>
                  <a:srgbClr val="002871"/>
                </a:solidFill>
              </a:rPr>
              <a:t>&amp; Drug stores</a:t>
            </a:r>
            <a:endParaRPr lang="he-IL" sz="2400" b="1" dirty="0">
              <a:solidFill>
                <a:srgbClr val="002871"/>
              </a:solidFill>
            </a:endParaRPr>
          </a:p>
        </p:txBody>
      </p: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6B959F06-F668-9316-6F12-A253253F40BA}"/>
              </a:ext>
            </a:extLst>
          </p:cNvPr>
          <p:cNvSpPr txBox="1"/>
          <p:nvPr/>
        </p:nvSpPr>
        <p:spPr>
          <a:xfrm>
            <a:off x="6781299" y="4059284"/>
            <a:ext cx="214488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2871"/>
                </a:solidFill>
              </a:rPr>
              <a:t>Orthopedic and physiotherapy institutes</a:t>
            </a:r>
            <a:endParaRPr lang="he-IL" sz="2400" b="1" dirty="0">
              <a:solidFill>
                <a:srgbClr val="002871"/>
              </a:solidFill>
            </a:endParaRP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3005099A-C683-B2C4-BBB6-2C6417373950}"/>
              </a:ext>
            </a:extLst>
          </p:cNvPr>
          <p:cNvSpPr txBox="1"/>
          <p:nvPr/>
        </p:nvSpPr>
        <p:spPr>
          <a:xfrm>
            <a:off x="8596321" y="3984862"/>
            <a:ext cx="243601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002871"/>
                </a:solidFill>
              </a:rPr>
              <a:t>Private labels </a:t>
            </a:r>
            <a:endParaRPr lang="he-IL" sz="2400" b="1" dirty="0">
              <a:solidFill>
                <a:srgbClr val="00287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50069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תמונה 5">
            <a:extLst>
              <a:ext uri="{FF2B5EF4-FFF2-40B4-BE49-F238E27FC236}">
                <a16:creationId xmlns:a16="http://schemas.microsoft.com/office/drawing/2014/main" id="{4155B065-C55E-F36F-E861-46129253B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3620"/>
            <a:ext cx="12206167" cy="6861619"/>
          </a:xfrm>
          <a:prstGeom prst="rect">
            <a:avLst/>
          </a:prstGeom>
        </p:spPr>
      </p:pic>
      <p:pic>
        <p:nvPicPr>
          <p:cNvPr id="7" name="תמונה 6">
            <a:extLst>
              <a:ext uri="{FF2B5EF4-FFF2-40B4-BE49-F238E27FC236}">
                <a16:creationId xmlns:a16="http://schemas.microsoft.com/office/drawing/2014/main" id="{53907C0D-2F8D-0C2E-4AC0-83F08AA3E8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0"/>
            <a:ext cx="10692406" cy="6010668"/>
          </a:xfrm>
          <a:prstGeom prst="rect">
            <a:avLst/>
          </a:prstGeom>
        </p:spPr>
      </p:pic>
      <p:sp>
        <p:nvSpPr>
          <p:cNvPr id="5" name="TextBox 10">
            <a:extLst>
              <a:ext uri="{FF2B5EF4-FFF2-40B4-BE49-F238E27FC236}">
                <a16:creationId xmlns:a16="http://schemas.microsoft.com/office/drawing/2014/main" id="{410C7B91-8EC8-3319-91A7-92BF732953C9}"/>
              </a:ext>
            </a:extLst>
          </p:cNvPr>
          <p:cNvSpPr txBox="1"/>
          <p:nvPr/>
        </p:nvSpPr>
        <p:spPr>
          <a:xfrm>
            <a:off x="-1523411" y="230346"/>
            <a:ext cx="6869612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/>
            <a:r>
              <a:rPr lang="en-US" sz="4400" b="1" spc="-153" dirty="0">
                <a:latin typeface="Calibri" panose="020F0502020204030204" pitchFamily="34" charset="0"/>
                <a:ea typeface="Open Sans Light"/>
                <a:cs typeface="Open Sans Light"/>
              </a:rPr>
              <a:t>REGULATION</a:t>
            </a:r>
          </a:p>
          <a:p>
            <a:pPr algn="ctr" rtl="0"/>
            <a:r>
              <a:rPr lang="en-US" sz="4400" b="1" spc="-153" dirty="0">
                <a:latin typeface="Calibri" panose="020F0502020204030204" pitchFamily="34" charset="0"/>
                <a:ea typeface="Open Sans Light"/>
                <a:cs typeface="Open Sans Light"/>
              </a:rPr>
              <a:t>AROUND THE</a:t>
            </a:r>
          </a:p>
          <a:p>
            <a:pPr algn="ctr" rtl="0"/>
            <a:r>
              <a:rPr lang="en-US" sz="4400" b="1" spc="-153" dirty="0">
                <a:latin typeface="Calibri" panose="020F0502020204030204" pitchFamily="34" charset="0"/>
                <a:ea typeface="Open Sans Light"/>
                <a:cs typeface="Open Sans Light"/>
              </a:rPr>
              <a:t>WORLD</a:t>
            </a:r>
          </a:p>
        </p:txBody>
      </p:sp>
      <p:pic>
        <p:nvPicPr>
          <p:cNvPr id="9" name="תמונה 8" descr="תמונה שמכילה גופן, גרפיקה, לוגו, סמל&#10;&#10;התיאור נוצר באופן אוטומטי">
            <a:extLst>
              <a:ext uri="{FF2B5EF4-FFF2-40B4-BE49-F238E27FC236}">
                <a16:creationId xmlns:a16="http://schemas.microsoft.com/office/drawing/2014/main" id="{BDEF1867-A6A2-E0A3-974C-E90C177CBD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585" y="2861468"/>
            <a:ext cx="2384856" cy="1353163"/>
          </a:xfrm>
          <a:prstGeom prst="rect">
            <a:avLst/>
          </a:prstGeom>
        </p:spPr>
      </p:pic>
      <p:pic>
        <p:nvPicPr>
          <p:cNvPr id="11" name="תמונה 10" descr="תמונה שמכילה גופן, גרפיקה, לוגו, סמל&#10;&#10;התיאור נוצר באופן אוטומטי">
            <a:extLst>
              <a:ext uri="{FF2B5EF4-FFF2-40B4-BE49-F238E27FC236}">
                <a16:creationId xmlns:a16="http://schemas.microsoft.com/office/drawing/2014/main" id="{BDDDCAB4-1EAF-B398-6777-30445BF599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9985" y="2764948"/>
            <a:ext cx="3868575" cy="1568531"/>
          </a:xfrm>
          <a:prstGeom prst="rect">
            <a:avLst/>
          </a:prstGeom>
        </p:spPr>
      </p:pic>
      <p:pic>
        <p:nvPicPr>
          <p:cNvPr id="13" name="תמונה 12" descr="תמונה שמכילה שחור, עיגול, שחור ולבן, גרפיקה&#10;&#10;התיאור נוצר באופן אוטומטי">
            <a:extLst>
              <a:ext uri="{FF2B5EF4-FFF2-40B4-BE49-F238E27FC236}">
                <a16:creationId xmlns:a16="http://schemas.microsoft.com/office/drawing/2014/main" id="{FC6B4954-416C-7D4A-FC0A-0119587BC87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2508" y="4442779"/>
            <a:ext cx="2076557" cy="1568531"/>
          </a:xfrm>
          <a:prstGeom prst="rect">
            <a:avLst/>
          </a:prstGeom>
        </p:spPr>
      </p:pic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612CFDA3-27BE-FF84-CEFA-1D7EEF659CDC}"/>
              </a:ext>
            </a:extLst>
          </p:cNvPr>
          <p:cNvSpPr txBox="1"/>
          <p:nvPr/>
        </p:nvSpPr>
        <p:spPr>
          <a:xfrm>
            <a:off x="4859585" y="504232"/>
            <a:ext cx="72212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URIEL meets the highest standards of the authorities in Israel and around the world</a:t>
            </a:r>
          </a:p>
        </p:txBody>
      </p:sp>
      <p:pic>
        <p:nvPicPr>
          <p:cNvPr id="17" name="תמונה 16" descr="תמונה שמכילה גרפיקה, עיצוב גרפי, גופן, יצירתיות&#10;&#10;התיאור נוצר באופן אוטומטי">
            <a:extLst>
              <a:ext uri="{FF2B5EF4-FFF2-40B4-BE49-F238E27FC236}">
                <a16:creationId xmlns:a16="http://schemas.microsoft.com/office/drawing/2014/main" id="{06EFD722-11B4-2101-1366-61D502111C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2016" y="4247767"/>
            <a:ext cx="4181302" cy="2061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644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מחבר חץ ישר 2">
            <a:extLst>
              <a:ext uri="{FF2B5EF4-FFF2-40B4-BE49-F238E27FC236}">
                <a16:creationId xmlns:a16="http://schemas.microsoft.com/office/drawing/2014/main" id="{FC59CE8F-F809-64ED-4A2F-D08B7080DA43}"/>
              </a:ext>
            </a:extLst>
          </p:cNvPr>
          <p:cNvCxnSpPr/>
          <p:nvPr/>
        </p:nvCxnSpPr>
        <p:spPr>
          <a:xfrm>
            <a:off x="1924050" y="3752850"/>
            <a:ext cx="9077325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AB5670D9-A6BE-D44A-6517-18A319C5F330}"/>
              </a:ext>
            </a:extLst>
          </p:cNvPr>
          <p:cNvSpPr txBox="1"/>
          <p:nvPr/>
        </p:nvSpPr>
        <p:spPr>
          <a:xfrm>
            <a:off x="1307306" y="3864848"/>
            <a:ext cx="14168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spc="-153" dirty="0">
                <a:solidFill>
                  <a:srgbClr val="082D67"/>
                </a:solidFill>
                <a:latin typeface="Calibri" panose="020F0502020204030204" pitchFamily="34" charset="0"/>
                <a:ea typeface="Open Sans Light"/>
                <a:cs typeface="Open Sans Light"/>
              </a:rPr>
              <a:t>Medical</a:t>
            </a:r>
            <a:endParaRPr lang="he-IL" dirty="0"/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BD931BA8-CEF7-BBCF-2D09-09B2AB514AD8}"/>
              </a:ext>
            </a:extLst>
          </p:cNvPr>
          <p:cNvSpPr txBox="1"/>
          <p:nvPr/>
        </p:nvSpPr>
        <p:spPr>
          <a:xfrm>
            <a:off x="10060782" y="3865048"/>
            <a:ext cx="10167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spc="-153" dirty="0" err="1">
                <a:solidFill>
                  <a:srgbClr val="082D67"/>
                </a:solidFill>
                <a:latin typeface="Calibri" panose="020F0502020204030204" pitchFamily="34" charset="0"/>
                <a:ea typeface="Open Sans Light"/>
                <a:cs typeface="Open Sans Light"/>
              </a:rPr>
              <a:t>LifeStyle</a:t>
            </a:r>
            <a:endParaRPr lang="he-IL" dirty="0"/>
          </a:p>
        </p:txBody>
      </p:sp>
      <p:pic>
        <p:nvPicPr>
          <p:cNvPr id="11" name="תמונה 10">
            <a:extLst>
              <a:ext uri="{FF2B5EF4-FFF2-40B4-BE49-F238E27FC236}">
                <a16:creationId xmlns:a16="http://schemas.microsoft.com/office/drawing/2014/main" id="{86DBED1B-9DE0-D99C-6495-DED943140B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3557" y="1912617"/>
            <a:ext cx="2144885" cy="1840233"/>
          </a:xfrm>
          <a:prstGeom prst="rect">
            <a:avLst/>
          </a:prstGeom>
        </p:spPr>
      </p:pic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B54EC78E-B375-1BA4-EDEE-C06A7CE72448}"/>
              </a:ext>
            </a:extLst>
          </p:cNvPr>
          <p:cNvSpPr txBox="1"/>
          <p:nvPr/>
        </p:nvSpPr>
        <p:spPr>
          <a:xfrm>
            <a:off x="1259241" y="2643485"/>
            <a:ext cx="1514475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>
                <a:solidFill>
                  <a:srgbClr val="FF0000"/>
                </a:solidFill>
              </a:rPr>
              <a:t>לשלב קומפוזיציית מוצרים רפואיים</a:t>
            </a: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0B75C53E-B39B-41BA-DE20-06A12C302817}"/>
              </a:ext>
            </a:extLst>
          </p:cNvPr>
          <p:cNvSpPr txBox="1"/>
          <p:nvPr/>
        </p:nvSpPr>
        <p:spPr>
          <a:xfrm>
            <a:off x="10011338" y="2682954"/>
            <a:ext cx="1514475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dirty="0">
                <a:solidFill>
                  <a:srgbClr val="FF0000"/>
                </a:solidFill>
              </a:rPr>
              <a:t>לשלב קומפוזיציית  מוצרי ספורט, טיפוח כף רגל</a:t>
            </a:r>
          </a:p>
        </p:txBody>
      </p:sp>
      <p:pic>
        <p:nvPicPr>
          <p:cNvPr id="7" name="תמונה 6">
            <a:extLst>
              <a:ext uri="{FF2B5EF4-FFF2-40B4-BE49-F238E27FC236}">
                <a16:creationId xmlns:a16="http://schemas.microsoft.com/office/drawing/2014/main" id="{005A73EF-D31E-D35E-C2B0-D19208A3E4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2377"/>
            <a:ext cx="12221746" cy="6870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51420"/>
      </p:ext>
    </p:extLst>
  </p:cSld>
  <p:clrMapOvr>
    <a:masterClrMapping/>
  </p:clrMapOvr>
</p:sld>
</file>

<file path=ppt/theme/theme1.xml><?xml version="1.0" encoding="utf-8"?>
<a:theme xmlns:a="http://schemas.openxmlformats.org/drawingml/2006/main" name="1_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190</Words>
  <Application>Microsoft Office PowerPoint</Application>
  <PresentationFormat>מסך רחב</PresentationFormat>
  <Paragraphs>27</Paragraphs>
  <Slides>6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Wingdings</vt:lpstr>
      <vt:lpstr>1_ערכת נושא Office</vt:lpstr>
      <vt:lpstr>Driving Growth Potential in Orthopedic Categoty</vt:lpstr>
      <vt:lpstr>Navigating a Competitive Landscape </vt:lpstr>
      <vt:lpstr>Our Growth Engines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Eyal Sadot</dc:creator>
  <cp:lastModifiedBy>Eyal Sadot</cp:lastModifiedBy>
  <cp:revision>1</cp:revision>
  <dcterms:created xsi:type="dcterms:W3CDTF">2026-08-06T09:49:43Z</dcterms:created>
  <dcterms:modified xsi:type="dcterms:W3CDTF">2026-08-06T10:35:28Z</dcterms:modified>
</cp:coreProperties>
</file>