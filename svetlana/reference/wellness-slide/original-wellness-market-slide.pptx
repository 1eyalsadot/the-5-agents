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sldIdLst>
    <p:sldId id="263" r:id="rId2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00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72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19046800687943"/>
          <c:y val="5.6308149281640817E-2"/>
          <c:w val="0.87809531993120571"/>
          <c:h val="0.8279587153766295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D8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9B22-43D0-8F07-86793FB78CE6}"/>
              </c:ext>
            </c:extLst>
          </c:dPt>
          <c:dPt>
            <c:idx val="1"/>
            <c:invertIfNegative val="0"/>
            <c:bubble3D val="0"/>
            <c:spPr>
              <a:solidFill>
                <a:srgbClr val="FFD8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9B22-43D0-8F07-86793FB78CE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rgbClr val="092E67"/>
                    </a:solidFill>
                    <a:latin typeface="Cerebri Sans" panose="00000500000000000000" pitchFamily="2" charset="0"/>
                    <a:ea typeface="+mn-ea"/>
                    <a:cs typeface="+mn-cs"/>
                  </a:defRPr>
                </a:pPr>
                <a:endParaRPr lang="he-I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2"/>
                <c:pt idx="0">
                  <c:v>2019</c:v>
                </c:pt>
                <c:pt idx="1">
                  <c:v>2025*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2"/>
                <c:pt idx="0">
                  <c:v>4428.18</c:v>
                </c:pt>
                <c:pt idx="1">
                  <c:v>6033.2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B22-43D0-8F07-86793FB78CE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395261336"/>
        <c:axId val="395260024"/>
      </c:barChart>
      <c:catAx>
        <c:axId val="3952613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Cerebri Sans" panose="00000500000000000000" pitchFamily="2" charset="0"/>
                <a:ea typeface="+mn-ea"/>
                <a:cs typeface="+mn-cs"/>
              </a:defRPr>
            </a:pPr>
            <a:endParaRPr lang="he-IL"/>
          </a:p>
        </c:txPr>
        <c:crossAx val="395260024"/>
        <c:crosses val="autoZero"/>
        <c:auto val="1"/>
        <c:lblAlgn val="ctr"/>
        <c:lblOffset val="100"/>
        <c:noMultiLvlLbl val="0"/>
      </c:catAx>
      <c:valAx>
        <c:axId val="3952600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Cerebri Sans" panose="00000500000000000000" pitchFamily="2" charset="0"/>
                <a:ea typeface="+mn-ea"/>
                <a:cs typeface="+mn-cs"/>
              </a:defRPr>
            </a:pPr>
            <a:endParaRPr lang="he-IL"/>
          </a:p>
        </c:txPr>
        <c:crossAx val="395261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Cerebri Sans" panose="00000500000000000000" pitchFamily="2" charset="0"/>
        </a:defRPr>
      </a:pPr>
      <a:endParaRPr lang="he-I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bg1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Cerebri Sans" panose="00000500000000000000" pitchFamily="2" charset="0"/>
                    <a:ea typeface="+mn-ea"/>
                    <a:cs typeface="+mn-cs"/>
                  </a:defRPr>
                </a:pPr>
                <a:endParaRPr lang="he-I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Brazil</c:v>
                </c:pt>
                <c:pt idx="1">
                  <c:v>China</c:v>
                </c:pt>
                <c:pt idx="2">
                  <c:v>Germany</c:v>
                </c:pt>
                <c:pt idx="3">
                  <c:v>Japan</c:v>
                </c:pt>
                <c:pt idx="4">
                  <c:v>UK</c:v>
                </c:pt>
                <c:pt idx="5">
                  <c:v>US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8.6</c:v>
                </c:pt>
                <c:pt idx="1">
                  <c:v>8.1</c:v>
                </c:pt>
                <c:pt idx="2">
                  <c:v>6.7</c:v>
                </c:pt>
                <c:pt idx="3">
                  <c:v>9.1</c:v>
                </c:pt>
                <c:pt idx="4">
                  <c:v>9.3000000000000007</c:v>
                </c:pt>
                <c:pt idx="5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51-4623-821D-0784ED3CB85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092E67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Cerebri Sans" panose="00000500000000000000" pitchFamily="2" charset="0"/>
                    <a:ea typeface="+mn-ea"/>
                    <a:cs typeface="+mn-cs"/>
                  </a:defRPr>
                </a:pPr>
                <a:endParaRPr lang="he-I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Brazil</c:v>
                </c:pt>
                <c:pt idx="1">
                  <c:v>China</c:v>
                </c:pt>
                <c:pt idx="2">
                  <c:v>Germany</c:v>
                </c:pt>
                <c:pt idx="3">
                  <c:v>Japan</c:v>
                </c:pt>
                <c:pt idx="4">
                  <c:v>UK</c:v>
                </c:pt>
                <c:pt idx="5">
                  <c:v>US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17.3</c:v>
                </c:pt>
                <c:pt idx="1">
                  <c:v>25.3</c:v>
                </c:pt>
                <c:pt idx="2">
                  <c:v>58.4</c:v>
                </c:pt>
                <c:pt idx="3">
                  <c:v>55</c:v>
                </c:pt>
                <c:pt idx="4">
                  <c:v>39.4</c:v>
                </c:pt>
                <c:pt idx="5">
                  <c:v>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B51-4623-821D-0784ED3CB85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FFD8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erebri Sans" panose="00000500000000000000" pitchFamily="2" charset="0"/>
                    <a:ea typeface="+mn-ea"/>
                    <a:cs typeface="+mn-cs"/>
                  </a:defRPr>
                </a:pPr>
                <a:endParaRPr lang="he-I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Brazil</c:v>
                </c:pt>
                <c:pt idx="1">
                  <c:v>China</c:v>
                </c:pt>
                <c:pt idx="2">
                  <c:v>Germany</c:v>
                </c:pt>
                <c:pt idx="3">
                  <c:v>Japan</c:v>
                </c:pt>
                <c:pt idx="4">
                  <c:v>UK</c:v>
                </c:pt>
                <c:pt idx="5">
                  <c:v>US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74.099999999999994</c:v>
                </c:pt>
                <c:pt idx="1">
                  <c:v>66.599999999999994</c:v>
                </c:pt>
                <c:pt idx="2">
                  <c:v>35</c:v>
                </c:pt>
                <c:pt idx="3">
                  <c:v>35.9</c:v>
                </c:pt>
                <c:pt idx="4">
                  <c:v>51.3</c:v>
                </c:pt>
                <c:pt idx="5">
                  <c:v>48.2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B51-4623-821D-0784ED3CB85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503458288"/>
        <c:axId val="503453040"/>
      </c:barChart>
      <c:catAx>
        <c:axId val="5034582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Cerebri Sans" panose="00000500000000000000" pitchFamily="2" charset="0"/>
                <a:ea typeface="+mn-ea"/>
                <a:cs typeface="+mn-cs"/>
              </a:defRPr>
            </a:pPr>
            <a:endParaRPr lang="he-IL"/>
          </a:p>
        </c:txPr>
        <c:crossAx val="503453040"/>
        <c:crosses val="autoZero"/>
        <c:auto val="1"/>
        <c:lblAlgn val="ctr"/>
        <c:lblOffset val="100"/>
        <c:noMultiLvlLbl val="0"/>
      </c:catAx>
      <c:valAx>
        <c:axId val="503453040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Cerebri Sans" panose="00000500000000000000" pitchFamily="2" charset="0"/>
                <a:ea typeface="+mn-ea"/>
                <a:cs typeface="+mn-cs"/>
              </a:defRPr>
            </a:pPr>
            <a:endParaRPr lang="he-IL"/>
          </a:p>
        </c:txPr>
        <c:crossAx val="5034582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latin typeface="Cerebri Sans" panose="00000500000000000000" pitchFamily="2" charset="0"/>
        </a:defRPr>
      </a:pPr>
      <a:endParaRPr lang="he-I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9B301-A3F2-4991-BE20-555F8820B4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9D699E-05EA-49C9-AA6B-F238778A9A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C2DDB-BA7D-4FE1-8783-ED85D0912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77492-CD32-47A5-838B-9BA351FFD3D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D9B6BC-4B68-439F-A887-24A62868A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12AB5A-D4F0-4DBE-B342-BAC8C51E7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A3C9B-0DC8-4813-8B83-18C00CDFC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929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F03EA-5023-4E0A-BB75-BBA43ABEB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65F65-B601-4F48-B7A5-AA4F95032D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B23961-BEA8-4DC4-8409-8276BBEDB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77492-CD32-47A5-838B-9BA351FFD3D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344836-57D6-4AFF-A67F-9A15B9D4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11C63F-A0CE-431D-8173-A418FD710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A3C9B-0DC8-4813-8B83-18C00CDFC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612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6442F-8BD4-49FE-85AD-FC1C33BF4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F792A7-1C7B-45C7-B515-534FF4E9FD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ECDE0-44C3-4C18-A14B-ECCB25BAE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77492-CD32-47A5-838B-9BA351FFD3D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2D22D3-6412-4B04-9FE3-34B508447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043B5-1DF7-46BF-A92C-0C9272D6B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A3C9B-0DC8-4813-8B83-18C00CDFC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773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BA571-2542-414F-B7E2-8787027B4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594329-C95B-4DC8-8CC3-CF1A7401BA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4DFE67-75E3-4792-850E-27368108EE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CD5D22-2FC6-42DF-A780-BE566A636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77492-CD32-47A5-838B-9BA351FFD3D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A7DAD7-9525-4590-870E-98B4FEF1A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F1A3D5-EB61-4EA7-B926-C50730CBC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A3C9B-0DC8-4813-8B83-18C00CDFC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85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E4737-9645-4199-B596-BDD0F9BE3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8DC7F0-86D4-4237-8F78-4F51C96C82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8AFBEA-3E89-4B46-B8F5-8327E88AE2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CE0957-4FCD-4C41-99C9-19F1B6441C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97A716-C0D0-458D-87E5-1A790E8B25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255A42-9561-4269-8339-32AE3EBA3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77492-CD32-47A5-838B-9BA351FFD3D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03D1A8-AE95-4A9B-98B2-FEE87D174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7C89F8-220B-4CBC-A434-7E6621E0D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A3C9B-0DC8-4813-8B83-18C00CDFC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807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4C5E3-3A45-42CA-997D-387C56989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A56FCB-7EA0-41EF-BB66-6993B4E40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77492-CD32-47A5-838B-9BA351FFD3D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36ABAA-2392-43D0-800C-3754C394D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EA6E09-3302-4DAE-B405-FEA3C1844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A3C9B-0DC8-4813-8B83-18C00CDFC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351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7FB064-8A6E-4225-89C5-0B1C1B103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77492-CD32-47A5-838B-9BA351FFD3D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4AC76C-ABFA-4E2C-AAE8-A4548F75F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0643F2-14CF-4318-AF7B-0077C6A0C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A3C9B-0DC8-4813-8B83-18C00CDFC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906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E19DB-E8D6-4E6E-B20F-0A247DBD5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68406-58B1-4AB4-9E48-86B5C7A4FA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56F928-911A-4F05-A9F8-D9F5D27E2B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BFE7EC-94EF-4C26-B437-F2091E3C0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77492-CD32-47A5-838B-9BA351FFD3D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132459-B823-406E-9A74-788E6F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C7ABCD-8444-4602-8275-F7B709C86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A3C9B-0DC8-4813-8B83-18C00CDFC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565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A23ED2-6D41-46D8-B807-72C846DED7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199586" y="987425"/>
            <a:ext cx="415580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3D9391A9-23D2-429A-88E0-51969D0B80CD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290623" y="908598"/>
            <a:ext cx="2778398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C9CB0C8F-F782-49D5-9862-EDC570B49B3F}"/>
              </a:ext>
            </a:extLst>
          </p:cNvPr>
          <p:cNvSpPr>
            <a:spLocks noGrp="1"/>
          </p:cNvSpPr>
          <p:nvPr>
            <p:ph type="pic" idx="11"/>
          </p:nvPr>
        </p:nvSpPr>
        <p:spPr>
          <a:xfrm>
            <a:off x="3480512" y="908598"/>
            <a:ext cx="2778398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156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6B457-182F-469A-8AC1-D43FA0E4D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601DD6-27CC-4179-9A5B-7413144DA7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D6748D-A6D0-4E61-8B95-1A2A69345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77492-CD32-47A5-838B-9BA351FFD3D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DD7176-ED65-4FFA-9D41-D805E1F6F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2DDBE-6D71-4D90-BC8A-9FDF24A36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A3C9B-0DC8-4813-8B83-18C00CDFC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71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B0201E-32AD-425F-8735-8E6B5EAA2A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F93841-B534-442A-955B-AD20D0987A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ABEF10-665B-4806-9B24-363F2BFA9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77492-CD32-47A5-838B-9BA351FFD3D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FF4863-B422-4B90-A15E-B85480A23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0EA7AC-46C5-4670-86D5-16BE32699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A3C9B-0DC8-4813-8B83-18C00CDFC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917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233596-0777-4932-8296-D2C1D2C9A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0BFB01-D08B-401E-ADA5-DF5113B290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CFE8CE-CD6A-4E14-AD0A-E2C4BD2E1F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477492-CD32-47A5-838B-9BA351FFD3D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A5026-5C97-4637-8F86-EE6B70E073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FEDA3-875B-4848-8A77-A4B2A81E8F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A3C9B-0DC8-4813-8B83-18C00CDFC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044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961F9965-728E-4EB1-B9FF-01B3D663CF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F0789DD-53F5-40C9-8DAC-D7DA4F1C7A64}"/>
              </a:ext>
            </a:extLst>
          </p:cNvPr>
          <p:cNvSpPr txBox="1"/>
          <p:nvPr/>
        </p:nvSpPr>
        <p:spPr>
          <a:xfrm>
            <a:off x="500139" y="806899"/>
            <a:ext cx="10416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92E67"/>
                </a:solidFill>
                <a:effectLst/>
                <a:uLnTx/>
                <a:uFillTx/>
                <a:latin typeface="Cerebri Sans" panose="00000500000000000000" pitchFamily="2" charset="0"/>
                <a:ea typeface="+mn-ea"/>
                <a:cs typeface="+mn-cs"/>
              </a:rPr>
              <a:t>Holistic Health is a Long-term Growth Opportunity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3A015A-DFF9-41AB-A463-20689FC3893F}"/>
              </a:ext>
            </a:extLst>
          </p:cNvPr>
          <p:cNvSpPr/>
          <p:nvPr/>
        </p:nvSpPr>
        <p:spPr>
          <a:xfrm>
            <a:off x="606165" y="690411"/>
            <a:ext cx="457042" cy="5812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6629A5F5-768E-4ECF-9442-5DF765CA76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66436" y="6238423"/>
            <a:ext cx="695905" cy="34616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9719C00-E686-478D-AC23-FAB9F0B6D51B}"/>
              </a:ext>
            </a:extLst>
          </p:cNvPr>
          <p:cNvSpPr txBox="1"/>
          <p:nvPr/>
        </p:nvSpPr>
        <p:spPr>
          <a:xfrm>
            <a:off x="500139" y="6268374"/>
            <a:ext cx="4105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92E67"/>
                </a:solidFill>
                <a:effectLst/>
                <a:uLnTx/>
                <a:uFillTx/>
                <a:latin typeface="Cerebri Sans" panose="00000500000000000000" pitchFamily="2" charset="0"/>
                <a:ea typeface="+mn-ea"/>
                <a:cs typeface="+mn-cs"/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35EC94-5966-4605-BD38-F023907199E7}"/>
              </a:ext>
            </a:extLst>
          </p:cNvPr>
          <p:cNvSpPr txBox="1"/>
          <p:nvPr/>
        </p:nvSpPr>
        <p:spPr>
          <a:xfrm>
            <a:off x="506921" y="1781688"/>
            <a:ext cx="45485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800"/>
              </a:buClr>
              <a:buSzPct val="121000"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92E67"/>
                </a:solidFill>
                <a:effectLst/>
                <a:uLnTx/>
                <a:uFillTx/>
                <a:latin typeface="Cerebri Sans" panose="00000500000000000000" pitchFamily="2" charset="0"/>
                <a:ea typeface="+mn-ea"/>
                <a:cs typeface="+mn-cs"/>
              </a:rPr>
              <a:t>Wellness is a rising priority worldwide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33C91AD-F5EE-4577-8508-2AC8BB262C21}"/>
              </a:ext>
            </a:extLst>
          </p:cNvPr>
          <p:cNvSpPr/>
          <p:nvPr/>
        </p:nvSpPr>
        <p:spPr>
          <a:xfrm>
            <a:off x="624272" y="2347273"/>
            <a:ext cx="4294570" cy="3703828"/>
          </a:xfrm>
          <a:prstGeom prst="rect">
            <a:avLst/>
          </a:prstGeom>
          <a:noFill/>
          <a:ln w="38100">
            <a:solidFill>
              <a:srgbClr val="092E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501ED219-8B28-498D-A325-87788155DAC1}"/>
              </a:ext>
            </a:extLst>
          </p:cNvPr>
          <p:cNvGraphicFramePr/>
          <p:nvPr/>
        </p:nvGraphicFramePr>
        <p:xfrm>
          <a:off x="910674" y="2997473"/>
          <a:ext cx="3671836" cy="27081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85716862-4A8C-4D34-B6DC-92F52E1079ED}"/>
              </a:ext>
            </a:extLst>
          </p:cNvPr>
          <p:cNvGrpSpPr/>
          <p:nvPr/>
        </p:nvGrpSpPr>
        <p:grpSpPr>
          <a:xfrm>
            <a:off x="852792" y="2531408"/>
            <a:ext cx="4886502" cy="472451"/>
            <a:chOff x="910674" y="2478856"/>
            <a:chExt cx="4886502" cy="472451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952E363C-A76F-4952-B76C-03B901C51421}"/>
                </a:ext>
              </a:extLst>
            </p:cNvPr>
            <p:cNvSpPr txBox="1"/>
            <p:nvPr/>
          </p:nvSpPr>
          <p:spPr>
            <a:xfrm>
              <a:off x="910674" y="2532215"/>
              <a:ext cx="4886502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D800"/>
                </a:buClr>
                <a:buSzPct val="121000"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Cerebri Sans" panose="00000500000000000000" pitchFamily="2" charset="0"/>
                  <a:ea typeface="+mn-ea"/>
                  <a:cs typeface="+mn-cs"/>
                </a:rPr>
                <a:t>Value of the Health and Wellness Market Worldwide</a:t>
              </a:r>
              <a:endPara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92E67"/>
                </a:solidFill>
                <a:effectLst/>
                <a:uLnTx/>
                <a:uFillTx/>
                <a:latin typeface="Cerebri Sans" panose="00000500000000000000" pitchFamily="2" charset="0"/>
                <a:ea typeface="+mn-ea"/>
                <a:cs typeface="+mn-cs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6018C291-37CE-4AE3-985D-17559AB8A818}"/>
                </a:ext>
              </a:extLst>
            </p:cNvPr>
            <p:cNvSpPr/>
            <p:nvPr/>
          </p:nvSpPr>
          <p:spPr>
            <a:xfrm>
              <a:off x="1007579" y="2478856"/>
              <a:ext cx="268772" cy="58121"/>
            </a:xfrm>
            <a:prstGeom prst="rect">
              <a:avLst/>
            </a:prstGeom>
            <a:solidFill>
              <a:srgbClr val="FFD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FD18FFC-4F36-40DE-9912-EECC32EED5C8}"/>
                </a:ext>
              </a:extLst>
            </p:cNvPr>
            <p:cNvSpPr txBox="1"/>
            <p:nvPr/>
          </p:nvSpPr>
          <p:spPr>
            <a:xfrm>
              <a:off x="910674" y="2735863"/>
              <a:ext cx="2168857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D800"/>
                </a:buClr>
                <a:buSzPct val="121000"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Cerebri Sans" panose="00000500000000000000" pitchFamily="2" charset="0"/>
                  <a:ea typeface="+mn-ea"/>
                  <a:cs typeface="+mn-cs"/>
                </a:rPr>
                <a:t>In billion U.S. dollars (2019 and 2025)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92E67"/>
                </a:solidFill>
                <a:effectLst/>
                <a:uLnTx/>
                <a:uFillTx/>
                <a:latin typeface="Cerebri Sans" panose="000005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03907816-F946-438A-8109-394CE278928E}"/>
              </a:ext>
            </a:extLst>
          </p:cNvPr>
          <p:cNvSpPr txBox="1"/>
          <p:nvPr/>
        </p:nvSpPr>
        <p:spPr>
          <a:xfrm>
            <a:off x="910672" y="5726896"/>
            <a:ext cx="232651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800"/>
              </a:buClr>
              <a:buSzPct val="121000"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92E67"/>
                </a:solidFill>
                <a:effectLst/>
                <a:uLnTx/>
                <a:uFillTx/>
                <a:latin typeface="Cerebri Sans" panose="00000500000000000000" pitchFamily="2" charset="0"/>
                <a:ea typeface="+mn-ea"/>
                <a:cs typeface="+mn-cs"/>
              </a:rPr>
              <a:t>Source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rebri Sans" panose="00000500000000000000" pitchFamily="2" charset="0"/>
                <a:ea typeface="+mn-ea"/>
                <a:cs typeface="+mn-cs"/>
              </a:rPr>
              <a:t>: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rebri Sans" panose="00000500000000000000" pitchFamily="2" charset="0"/>
                <a:ea typeface="+mn-ea"/>
                <a:cs typeface="+mn-cs"/>
              </a:rPr>
              <a:t>Market Watch, Statista 2021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92E67"/>
              </a:solidFill>
              <a:effectLst/>
              <a:uLnTx/>
              <a:uFillTx/>
              <a:latin typeface="Cerebri Sans" panose="00000500000000000000" pitchFamily="2" charset="0"/>
              <a:ea typeface="+mn-ea"/>
              <a:cs typeface="+mn-cs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3DFAF97-D82E-42BF-9910-84F0D8EEEAFA}"/>
              </a:ext>
            </a:extLst>
          </p:cNvPr>
          <p:cNvSpPr/>
          <p:nvPr/>
        </p:nvSpPr>
        <p:spPr>
          <a:xfrm>
            <a:off x="5302150" y="2347273"/>
            <a:ext cx="6265582" cy="3703828"/>
          </a:xfrm>
          <a:prstGeom prst="rect">
            <a:avLst/>
          </a:prstGeom>
          <a:noFill/>
          <a:ln w="38100">
            <a:solidFill>
              <a:srgbClr val="092E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303A3A2E-FC8F-4F60-9D21-9225ED252C04}"/>
              </a:ext>
            </a:extLst>
          </p:cNvPr>
          <p:cNvGrpSpPr/>
          <p:nvPr/>
        </p:nvGrpSpPr>
        <p:grpSpPr>
          <a:xfrm>
            <a:off x="5543114" y="2531408"/>
            <a:ext cx="4886502" cy="472451"/>
            <a:chOff x="910674" y="2478856"/>
            <a:chExt cx="4886502" cy="472451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668C04D2-3824-43D8-8B17-9A6E17E7ACA6}"/>
                </a:ext>
              </a:extLst>
            </p:cNvPr>
            <p:cNvSpPr txBox="1"/>
            <p:nvPr/>
          </p:nvSpPr>
          <p:spPr>
            <a:xfrm>
              <a:off x="910674" y="2532215"/>
              <a:ext cx="4886502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D800"/>
                </a:buClr>
                <a:buSzPct val="121000"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Cerebri Sans" panose="00000500000000000000" pitchFamily="2" charset="0"/>
                  <a:ea typeface="+mn-ea"/>
                  <a:cs typeface="+mn-cs"/>
                </a:rPr>
                <a:t>Change in Wellness Prioritization Compared with 2-3 Years Ago</a:t>
              </a:r>
              <a:endPara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92E67"/>
                </a:solidFill>
                <a:effectLst/>
                <a:uLnTx/>
                <a:uFillTx/>
                <a:latin typeface="Cerebri Sans" panose="00000500000000000000" pitchFamily="2" charset="0"/>
                <a:ea typeface="+mn-ea"/>
                <a:cs typeface="+mn-cs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CBCB465D-1A4A-4AF6-A07D-10734AC1353C}"/>
                </a:ext>
              </a:extLst>
            </p:cNvPr>
            <p:cNvSpPr/>
            <p:nvPr/>
          </p:nvSpPr>
          <p:spPr>
            <a:xfrm>
              <a:off x="1007579" y="2478856"/>
              <a:ext cx="268772" cy="58121"/>
            </a:xfrm>
            <a:prstGeom prst="rect">
              <a:avLst/>
            </a:prstGeom>
            <a:solidFill>
              <a:srgbClr val="FFD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06D5232-D8B3-42C1-B47F-07685B269574}"/>
                </a:ext>
              </a:extLst>
            </p:cNvPr>
            <p:cNvSpPr txBox="1"/>
            <p:nvPr/>
          </p:nvSpPr>
          <p:spPr>
            <a:xfrm>
              <a:off x="910674" y="2735863"/>
              <a:ext cx="1370071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D800"/>
                </a:buClr>
                <a:buSzPct val="121000"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Cerebri Sans" panose="00000500000000000000" pitchFamily="2" charset="0"/>
                  <a:ea typeface="+mn-ea"/>
                  <a:cs typeface="+mn-cs"/>
                </a:rPr>
                <a:t>% of respondents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92E67"/>
                </a:solidFill>
                <a:effectLst/>
                <a:uLnTx/>
                <a:uFillTx/>
                <a:latin typeface="Cerebri Sans" panose="00000500000000000000" pitchFamily="2" charset="0"/>
                <a:ea typeface="+mn-ea"/>
                <a:cs typeface="+mn-cs"/>
              </a:endParaRPr>
            </a:p>
          </p:txBody>
        </p:sp>
      </p:grpSp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F90BE68F-24ED-4105-A813-54158554C0DA}"/>
              </a:ext>
            </a:extLst>
          </p:cNvPr>
          <p:cNvGraphicFramePr/>
          <p:nvPr/>
        </p:nvGraphicFramePr>
        <p:xfrm>
          <a:off x="5543114" y="3083870"/>
          <a:ext cx="5902652" cy="27914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4" name="TextBox 53">
            <a:extLst>
              <a:ext uri="{FF2B5EF4-FFF2-40B4-BE49-F238E27FC236}">
                <a16:creationId xmlns:a16="http://schemas.microsoft.com/office/drawing/2014/main" id="{A9D0A1F1-8795-4406-BF49-6809FBFA87B7}"/>
              </a:ext>
            </a:extLst>
          </p:cNvPr>
          <p:cNvSpPr txBox="1"/>
          <p:nvPr/>
        </p:nvSpPr>
        <p:spPr>
          <a:xfrm>
            <a:off x="529676" y="1330980"/>
            <a:ext cx="105421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800"/>
              </a:buClr>
              <a:buSzPct val="121000"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rebri Sans" panose="00000500000000000000" pitchFamily="2" charset="0"/>
                <a:ea typeface="+mn-ea"/>
                <a:cs typeface="+mn-cs"/>
              </a:rPr>
              <a:t>The global wellness market is worth more than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92E67"/>
                </a:solidFill>
                <a:effectLst/>
                <a:uLnTx/>
                <a:uFillTx/>
                <a:latin typeface="Cerebri Sans" panose="00000500000000000000" pitchFamily="2" charset="0"/>
                <a:ea typeface="+mn-ea"/>
                <a:cs typeface="+mn-cs"/>
              </a:rPr>
              <a:t>$1.5 trillion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rebri Sans" panose="00000500000000000000" pitchFamily="2" charset="0"/>
                <a:ea typeface="+mn-ea"/>
                <a:cs typeface="+mn-cs"/>
              </a:rPr>
              <a:t>, with annual growth of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92E67"/>
                </a:solidFill>
                <a:effectLst/>
                <a:uLnTx/>
                <a:uFillTx/>
                <a:latin typeface="Cerebri Sans" panose="00000500000000000000" pitchFamily="2" charset="0"/>
                <a:ea typeface="+mn-ea"/>
                <a:cs typeface="+mn-cs"/>
              </a:rPr>
              <a:t>5-10%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599315" y="2481344"/>
            <a:ext cx="174723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D8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INCREASED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92E6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 CHANGE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DESCREASED</a:t>
            </a:r>
          </a:p>
        </p:txBody>
      </p:sp>
    </p:spTree>
    <p:extLst>
      <p:ext uri="{BB962C8B-B14F-4D97-AF65-F5344CB8AC3E}">
        <p14:creationId xmlns:p14="http://schemas.microsoft.com/office/powerpoint/2010/main" val="11666146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</Words>
  <Application>Microsoft Office PowerPoint</Application>
  <PresentationFormat>מסך רחב</PresentationFormat>
  <Paragraphs>12</Paragraphs>
  <Slides>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Cerebri Sans</vt:lpstr>
      <vt:lpstr>Office Theme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Eyal Sadot</dc:creator>
  <cp:lastModifiedBy>Eyal Sadot</cp:lastModifiedBy>
  <cp:revision>1</cp:revision>
  <dcterms:created xsi:type="dcterms:W3CDTF">2026-08-08T11:54:45Z</dcterms:created>
  <dcterms:modified xsi:type="dcterms:W3CDTF">2026-08-08T11:55:28Z</dcterms:modified>
</cp:coreProperties>
</file>