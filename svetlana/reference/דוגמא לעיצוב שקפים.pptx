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90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גיליון2!$E$55</c:f>
              <c:strCache>
                <c:ptCount val="1"/>
                <c:pt idx="0">
                  <c:v>Bud 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גיליון2!$D$66:$D$71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גיליון2!$E$66:$E$71</c:f>
              <c:numCache>
                <c:formatCode>_ * #,##0.0_ ;_ * \-#,##0.0_ ;_ * "-"??_ ;_ @_ </c:formatCode>
                <c:ptCount val="6"/>
                <c:pt idx="0">
                  <c:v>2.3788905346040252</c:v>
                </c:pt>
                <c:pt idx="1">
                  <c:v>2.6710409513150655</c:v>
                </c:pt>
                <c:pt idx="2">
                  <c:v>2.781129263530461</c:v>
                </c:pt>
                <c:pt idx="3">
                  <c:v>2.9493025913263651</c:v>
                </c:pt>
                <c:pt idx="4">
                  <c:v>3.1590573869676075</c:v>
                </c:pt>
                <c:pt idx="5">
                  <c:v>3.4866632993357816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F8-4FB7-87AD-79EA7AD5ECFD}"/>
            </c:ext>
          </c:extLst>
        </c:ser>
        <c:ser>
          <c:idx val="1"/>
          <c:order val="1"/>
          <c:tx>
            <c:strRef>
              <c:f>גיליון2!$F$55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גיליון2!$D$66:$D$71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גיליון2!$F$66:$F$71</c:f>
              <c:numCache>
                <c:formatCode>_ * #,##0.0_ ;_ * \-#,##0.0_ ;_ * "-"??_ ;_ @_ </c:formatCode>
                <c:ptCount val="6"/>
                <c:pt idx="0">
                  <c:v>1.8973034399999991</c:v>
                </c:pt>
                <c:pt idx="1">
                  <c:v>2.1678532319999984</c:v>
                </c:pt>
                <c:pt idx="2">
                  <c:v>1.7513701080000128</c:v>
                </c:pt>
                <c:pt idx="3">
                  <c:v>2.3968084580000211</c:v>
                </c:pt>
                <c:pt idx="4">
                  <c:v>2.154385474000001</c:v>
                </c:pt>
                <c:pt idx="5">
                  <c:v>2.304087394999998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F8-4FB7-87AD-79EA7AD5ECFD}"/>
            </c:ext>
          </c:extLst>
        </c:ser>
        <c:ser>
          <c:idx val="2"/>
          <c:order val="2"/>
          <c:tx>
            <c:strRef>
              <c:f>גיליון2!$G$55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גיליון2!$D$66:$D$71</c:f>
              <c:strCache>
                <c:ptCount val="6"/>
                <c:pt idx="0">
                  <c:v>Jan 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גיליון2!$G$66:$G$71</c:f>
              <c:numCache>
                <c:formatCode>_ * #,##0.0_ ;_ * \-#,##0.0_ ;_ * "-"??_ ;_ @_ </c:formatCode>
                <c:ptCount val="6"/>
                <c:pt idx="0">
                  <c:v>1.7556433100000022</c:v>
                </c:pt>
                <c:pt idx="1">
                  <c:v>2.0758194900000055</c:v>
                </c:pt>
                <c:pt idx="2">
                  <c:v>1.7833275020000019</c:v>
                </c:pt>
                <c:pt idx="3">
                  <c:v>2.2891390900000075</c:v>
                </c:pt>
                <c:pt idx="4">
                  <c:v>2.3046236500000115</c:v>
                </c:pt>
                <c:pt idx="5">
                  <c:v>1.4239127000000051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F8-4FB7-87AD-79EA7AD5E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3132024"/>
        <c:axId val="983131304"/>
      </c:barChart>
      <c:catAx>
        <c:axId val="983132024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83131304"/>
        <c:crosses val="autoZero"/>
        <c:auto val="1"/>
        <c:lblAlgn val="ctr"/>
        <c:lblOffset val="100"/>
        <c:noMultiLvlLbl val="0"/>
      </c:catAx>
      <c:valAx>
        <c:axId val="983131304"/>
        <c:scaling>
          <c:orientation val="minMax"/>
        </c:scaling>
        <c:delete val="1"/>
        <c:axPos val="r"/>
        <c:numFmt formatCode="_ * #,##0.0_ ;_ * \-#,##0.0_ ;_ * &quot;-&quot;??_ ;_ @_ " sourceLinked="1"/>
        <c:majorTickMark val="none"/>
        <c:minorTickMark val="none"/>
        <c:tickLblPos val="nextTo"/>
        <c:crossAx val="983132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733913A-2121-4A8A-851F-8EA3E48CA370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8D7FD2D-F0FE-4874-A712-A261222948A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388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45B8972-D3DA-AC1D-37B5-548749B3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fb957f764_0_101:notes">
            <a:extLst>
              <a:ext uri="{FF2B5EF4-FFF2-40B4-BE49-F238E27FC236}">
                <a16:creationId xmlns:a16="http://schemas.microsoft.com/office/drawing/2014/main" id="{CB935FC4-CF5F-3391-9090-62553B425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72" name="Google Shape;72;g33fb957f764_0_101:notes">
            <a:extLst>
              <a:ext uri="{FF2B5EF4-FFF2-40B4-BE49-F238E27FC236}">
                <a16:creationId xmlns:a16="http://schemas.microsoft.com/office/drawing/2014/main" id="{EB43C17C-FB83-EAAC-2BA7-55F9E222E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292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DA2C84-6B85-7775-AF3C-848C95522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D264606-75F7-E8CC-F6AF-657C791B7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2A16B53-8353-02DE-2B60-0E331D89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49BBA92-F5EA-2F75-B7B6-0BF82F25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A057FF-FBB1-795A-9DA3-F15AD721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245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A4C319-B31A-ADC3-DE4C-5C2F5B78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9C30D3-D1AE-9716-8E0F-20680614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734790-6C99-2E4C-4197-D4FF32BE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14B27D-B1BE-CD64-5C03-0407C869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00356BF-09F6-7674-E591-1B5D78BF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566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761762-08B9-A0AC-C1C5-81C5E621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6E8BAF-FE0E-0766-7918-2306B1CFC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D7E95C-8665-5F87-B1F8-E213690E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97B6084-AD98-9EA3-66EF-2FC677D3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1E8913-33E7-86A0-2801-6DEFE980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601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B8EC03-E089-3FAF-0656-73433EB6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182BBB-7B18-F14B-853A-DC2095375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4C62F63-F52E-DB8E-3DF2-F241360E7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B438877-2456-1BBB-BDBE-F3E34C34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43DE013-996E-53F7-39AF-92D82DF6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9ED78DA-821C-FEBE-FD65-3223C1FD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445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9A6E55-E0F1-6BD6-9AD0-656DC5B6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3A52E67-420C-2DC9-F33C-17DB90B6B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0A8AA4B-2C99-0A89-B759-D5545A9AF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CFA49BD-A344-A272-2436-A16DAE174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BA0E9AB-FB13-D4AB-C45C-121C47F25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3D592B6-B0B6-0CA3-C75F-B6E17B5D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C08A818-BC9A-FFC2-33FB-98214FE0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CF93DE0-1A28-7641-7A58-DBB425AD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575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31BF58-FFF5-F61E-EA56-C3A577A2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89468BC-FF6D-6B5C-5EFE-8D82F44B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0AB0E6F-0182-F912-3139-CAD8550A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15066E0-8492-AF3B-CE51-332669CC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498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7E5656A-A584-DC2C-DC3F-D81E26A4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4EF9098-CF67-8862-FAE5-9B6586CD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6C655A2-F0D6-48DB-71DE-C2D4359C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105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C13200-E6DA-0512-EA99-122FBE4D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8BC012-DEB0-4ACE-F144-4355E49D5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3E0084D-7302-F85D-8132-265EBE0B9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733E3A5-6F8D-987E-E650-94548C3F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A5AE42C-AD17-E8C2-0494-1E39B138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2D5B34C-D517-0511-9340-8C7FB587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750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4935A2-8E27-EACF-4569-914BB969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BCF5774-C467-9AAF-AE20-2DF7D3C95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F42FEF9-EA68-9C7F-B727-0BC417BC9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ED3EE51-AEE4-A7EB-CDE1-79AFEEC2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42D2624-4B90-7BCC-5386-878CE2AA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539E1F4-186B-4B7A-2B1B-C661A0C8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16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E57BF5-0555-E22D-6A8A-FC680858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D5EB559-8FAF-E60C-CED5-ADBE9291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2A019B-499D-0662-521F-194A500D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159E67-645B-40F1-C47D-D0161E3C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9A96F7-EDF8-FAF8-29E6-7899807A5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52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362AE27-4F82-1F55-1A53-AB3BBD317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53890F6-A531-B14D-4DB1-B0DC5B82C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0EE2363-54A3-A4DB-DF8F-9885F2EC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D69BBF1-9FB4-FE1A-8814-DE02B6D3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2BD921-F3BF-5413-AB60-1B31122C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439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BE0A0C7-CAB8-DC71-DF56-A5BCB1A1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9EBC733-CE98-7E03-BC02-578EF2DC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0F34CB5-6B1C-4BBE-B52E-52B219BB3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EBDE0-273A-4B51-BF96-558E7BA4D77E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F23A0B-29D7-BA99-77B7-EA9EE6F09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C8294A-0595-4534-01E6-FDAB2310B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C6DD-74AD-4E10-BE75-DE9D8EA084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318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D29C646-7D5D-1CDA-B117-72D0D6BB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21-334 uriel | רקעים מצגות-07.png">
            <a:extLst>
              <a:ext uri="{FF2B5EF4-FFF2-40B4-BE49-F238E27FC236}">
                <a16:creationId xmlns:a16="http://schemas.microsoft.com/office/drawing/2014/main" id="{A48779ED-ED9F-5648-5363-115D850002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2"/>
            <a:ext cx="12192000" cy="68580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7C093EA5-6625-40FC-54D1-4279461D4FC6}"/>
              </a:ext>
            </a:extLst>
          </p:cNvPr>
          <p:cNvGraphicFramePr>
            <a:graphicFrameLocks/>
          </p:cNvGraphicFramePr>
          <p:nvPr/>
        </p:nvGraphicFramePr>
        <p:xfrm>
          <a:off x="1946275" y="933706"/>
          <a:ext cx="8299451" cy="410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55A0C96-E28F-3DC0-C3CC-328903945EA7}"/>
              </a:ext>
            </a:extLst>
          </p:cNvPr>
          <p:cNvSpPr txBox="1"/>
          <p:nvPr/>
        </p:nvSpPr>
        <p:spPr>
          <a:xfrm>
            <a:off x="2954216" y="5053402"/>
            <a:ext cx="7747264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600" b="1" dirty="0">
                <a:solidFill>
                  <a:srgbClr val="002F6C"/>
                </a:solidFill>
              </a:rPr>
              <a:t>שנת 2026 עם גידול קטן לעומת שנת 2025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600" b="1" dirty="0">
                <a:solidFill>
                  <a:srgbClr val="002F6C"/>
                </a:solidFill>
              </a:rPr>
              <a:t>ההבדל המשמעותי חודש יוני, כאשר ב 2025 היה מבצע "עם כלביא" </a:t>
            </a:r>
          </a:p>
        </p:txBody>
      </p:sp>
      <p:sp>
        <p:nvSpPr>
          <p:cNvPr id="7" name="Google Shape;107;g341c3af2acd_1_217">
            <a:extLst>
              <a:ext uri="{FF2B5EF4-FFF2-40B4-BE49-F238E27FC236}">
                <a16:creationId xmlns:a16="http://schemas.microsoft.com/office/drawing/2014/main" id="{4AA5D7D6-19AA-811D-3231-3B423EF373D6}"/>
              </a:ext>
            </a:extLst>
          </p:cNvPr>
          <p:cNvSpPr txBox="1"/>
          <p:nvPr/>
        </p:nvSpPr>
        <p:spPr>
          <a:xfrm>
            <a:off x="3381315" y="384828"/>
            <a:ext cx="7942800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>
              <a:buSzPts val="1500"/>
            </a:pPr>
            <a:r>
              <a:rPr lang="he-IL" sz="2133" b="1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מכירות – חציון ראשון 2026</a:t>
            </a:r>
          </a:p>
          <a:p>
            <a:pPr algn="r" rtl="1">
              <a:buSzPts val="1500"/>
            </a:pPr>
            <a:r>
              <a:rPr lang="he-IL" sz="2133" b="1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התפלגות לפי חודשים </a:t>
            </a:r>
            <a:endParaRPr sz="2133" b="1" dirty="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  <p:extLst>
      <p:ext uri="{BB962C8B-B14F-4D97-AF65-F5344CB8AC3E}">
        <p14:creationId xmlns:p14="http://schemas.microsoft.com/office/powerpoint/2010/main" val="287474905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מסך רחב</PresentationFormat>
  <Paragraphs>4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Assistant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2026-08-01T10:40:47Z</dcterms:created>
  <dcterms:modified xsi:type="dcterms:W3CDTF">2026-08-01T10:41:11Z</dcterms:modified>
</cp:coreProperties>
</file>