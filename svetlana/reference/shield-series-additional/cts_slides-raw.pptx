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302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15E5E2-DBD9-48AF-AAEE-1F71870665AF}" v="2" dt="2026-08-11T08:05:5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addSld modSld sldOrd">
      <pc:chgData name="Eyal Sadot" userId="9c57a40b-08c8-435b-851c-1854c25cf41d" providerId="ADAL" clId="{02003448-2CBC-42C7-80BD-DC4C07BEB2CD}" dt="2026-08-11T08:06:02.054" v="5"/>
      <pc:docMkLst>
        <pc:docMk/>
      </pc:docMkLst>
      <pc:sldChg chg="add">
        <pc:chgData name="Eyal Sadot" userId="9c57a40b-08c8-435b-851c-1854c25cf41d" providerId="ADAL" clId="{02003448-2CBC-42C7-80BD-DC4C07BEB2CD}" dt="2026-08-11T08:05:52.154" v="3"/>
        <pc:sldMkLst>
          <pc:docMk/>
          <pc:sldMk cId="0" sldId="256"/>
        </pc:sldMkLst>
      </pc:sldChg>
      <pc:sldChg chg="add ord">
        <pc:chgData name="Eyal Sadot" userId="9c57a40b-08c8-435b-851c-1854c25cf41d" providerId="ADAL" clId="{02003448-2CBC-42C7-80BD-DC4C07BEB2CD}" dt="2026-08-11T08:06:02.054" v="5"/>
        <pc:sldMkLst>
          <pc:docMk/>
          <pc:sldMk cId="0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80503B4-B2F5-4EB1-A2AA-176340F67E3E}" type="datetimeFigureOut">
              <a:rPr lang="he-IL" smtClean="0"/>
              <a:t>כ"ח/אב/תשפ"ו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630AF2F-4482-4E15-A1A3-4B3D24A54B6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542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e2e9a83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ee2e9a83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38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764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637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131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543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365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434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223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100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674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386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63962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"/>
            <a:ext cx="12192000" cy="68580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415600" y="2433979"/>
            <a:ext cx="11360800" cy="199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Carpal Tunnel Syndrome Night Mitten</a:t>
            </a:r>
            <a:endParaRPr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15600" y="5187024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indent="0"/>
            <a:r>
              <a:rPr lang="en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solution for CTS</a:t>
            </a:r>
            <a:endParaRPr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 title="Reasons-Why-Carpal-Tunnel-Symptoms-Are-Worse-at-Night..jpg"/>
          <p:cNvPicPr preferRelativeResize="0"/>
          <p:nvPr/>
        </p:nvPicPr>
        <p:blipFill rotWithShape="1">
          <a:blip r:embed="rId3">
            <a:alphaModFix/>
          </a:blip>
          <a:srcRect l="5547" r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522600" y="524343"/>
            <a:ext cx="11146800" cy="99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 fontScale="92500" lnSpcReduction="20000"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Night symptoms</a:t>
            </a:r>
            <a:endParaRPr sz="40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684631" y="2136400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buClr>
                <a:srgbClr val="000000"/>
              </a:buClr>
            </a:pPr>
            <a:r>
              <a:rPr lang="en" sz="3333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PAIN</a:t>
            </a:r>
            <a:endParaRPr sz="3333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684633" y="4295167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buClr>
                <a:srgbClr val="000000"/>
              </a:buClr>
            </a:pPr>
            <a:r>
              <a:rPr lang="en" sz="3333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NUMBLESS</a:t>
            </a:r>
            <a:endParaRPr sz="3333" kern="0" dirty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910667" y="2136400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buClr>
                <a:srgbClr val="000000"/>
              </a:buClr>
            </a:pPr>
            <a:r>
              <a:rPr lang="en" sz="3333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TINGLING</a:t>
            </a:r>
            <a:endParaRPr sz="3333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910663" y="4295167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lnSpc>
                <a:spcPct val="80000"/>
              </a:lnSpc>
              <a:buClr>
                <a:srgbClr val="000000"/>
              </a:buClr>
            </a:pPr>
            <a:r>
              <a:rPr lang="en" sz="3333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FREQUENT WAKE-UPS</a:t>
            </a:r>
            <a:endParaRPr sz="3333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84" name="Google Shape;84;p16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660785" y="-2660783"/>
            <a:ext cx="6870432" cy="12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56204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Market Need</a:t>
            </a:r>
            <a:endParaRPr sz="4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90713" y="1966719"/>
            <a:ext cx="5251200" cy="292456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CTS affects millions worldwide (10% of adults may experience CTS).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Traditional splints often fail to provide the desired effect.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Patients seek non-invasive, comfortable solutions. 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Orthopedic shops need innovative products to expand their portfolio.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" name="Google Shape;65;p14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6C82DB80-3498-8EB2-E5B6-3DF88068B78F}"/>
              </a:ext>
            </a:extLst>
          </p:cNvPr>
          <p:cNvGrpSpPr/>
          <p:nvPr/>
        </p:nvGrpSpPr>
        <p:grpSpPr>
          <a:xfrm>
            <a:off x="5934635" y="493213"/>
            <a:ext cx="5620400" cy="5572690"/>
            <a:chOff x="4187740" y="96816"/>
            <a:chExt cx="4972660" cy="4865484"/>
          </a:xfrm>
        </p:grpSpPr>
        <p:pic>
          <p:nvPicPr>
            <p:cNvPr id="3" name="Google Shape;92;p17" descr="Hand">
              <a:extLst>
                <a:ext uri="{FF2B5EF4-FFF2-40B4-BE49-F238E27FC236}">
                  <a16:creationId xmlns:a16="http://schemas.microsoft.com/office/drawing/2014/main" id="{70DC63C0-9A45-A76D-29E4-A85964B5793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4">
              <a:off x="4187740" y="1919101"/>
              <a:ext cx="1580924" cy="3043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3;p17">
              <a:extLst>
                <a:ext uri="{FF2B5EF4-FFF2-40B4-BE49-F238E27FC236}">
                  <a16:creationId xmlns:a16="http://schemas.microsoft.com/office/drawing/2014/main" id="{70CB9D48-0CEF-17C6-19BA-134B7EDA4C8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3508" t="23415" r="45890" b="29640"/>
            <a:stretch/>
          </p:blipFill>
          <p:spPr>
            <a:xfrm rot="10800000">
              <a:off x="4724400" y="3072950"/>
              <a:ext cx="731913" cy="1102662"/>
            </a:xfrm>
            <a:custGeom>
              <a:avLst/>
              <a:gdLst/>
              <a:ahLst/>
              <a:cxnLst/>
              <a:rect l="l" t="t" r="r" b="b"/>
              <a:pathLst>
                <a:path w="3148013" h="3219450" extrusionOk="0">
                  <a:moveTo>
                    <a:pt x="1381125" y="0"/>
                  </a:moveTo>
                  <a:lnTo>
                    <a:pt x="1585913" y="100013"/>
                  </a:lnTo>
                  <a:lnTo>
                    <a:pt x="1581150" y="157163"/>
                  </a:lnTo>
                  <a:lnTo>
                    <a:pt x="1585913" y="323850"/>
                  </a:lnTo>
                  <a:lnTo>
                    <a:pt x="1609725" y="461963"/>
                  </a:lnTo>
                  <a:lnTo>
                    <a:pt x="1666875" y="581025"/>
                  </a:lnTo>
                  <a:lnTo>
                    <a:pt x="1924050" y="1076325"/>
                  </a:lnTo>
                  <a:lnTo>
                    <a:pt x="2190750" y="1366838"/>
                  </a:lnTo>
                  <a:lnTo>
                    <a:pt x="2428875" y="1690688"/>
                  </a:lnTo>
                  <a:lnTo>
                    <a:pt x="2609850" y="2085975"/>
                  </a:lnTo>
                  <a:lnTo>
                    <a:pt x="2828925" y="2519363"/>
                  </a:lnTo>
                  <a:lnTo>
                    <a:pt x="2957513" y="2771775"/>
                  </a:lnTo>
                  <a:lnTo>
                    <a:pt x="3090863" y="2795588"/>
                  </a:lnTo>
                  <a:lnTo>
                    <a:pt x="3148013" y="2928938"/>
                  </a:lnTo>
                  <a:lnTo>
                    <a:pt x="3148013" y="3043238"/>
                  </a:lnTo>
                  <a:lnTo>
                    <a:pt x="3148013" y="3109913"/>
                  </a:lnTo>
                  <a:lnTo>
                    <a:pt x="3009900" y="3152775"/>
                  </a:lnTo>
                  <a:lnTo>
                    <a:pt x="2876550" y="3181350"/>
                  </a:lnTo>
                  <a:lnTo>
                    <a:pt x="2781300" y="3176588"/>
                  </a:lnTo>
                  <a:lnTo>
                    <a:pt x="2714625" y="3176588"/>
                  </a:lnTo>
                  <a:lnTo>
                    <a:pt x="2667000" y="3181350"/>
                  </a:lnTo>
                  <a:lnTo>
                    <a:pt x="2633663" y="3214688"/>
                  </a:lnTo>
                  <a:lnTo>
                    <a:pt x="2595563" y="3219450"/>
                  </a:lnTo>
                  <a:lnTo>
                    <a:pt x="2400300" y="3181350"/>
                  </a:lnTo>
                  <a:lnTo>
                    <a:pt x="2333625" y="3167063"/>
                  </a:lnTo>
                  <a:lnTo>
                    <a:pt x="2243138" y="3181350"/>
                  </a:lnTo>
                  <a:lnTo>
                    <a:pt x="2133600" y="3138488"/>
                  </a:lnTo>
                  <a:lnTo>
                    <a:pt x="2090738" y="3114675"/>
                  </a:lnTo>
                  <a:lnTo>
                    <a:pt x="1933575" y="3100388"/>
                  </a:lnTo>
                  <a:lnTo>
                    <a:pt x="1790700" y="3062288"/>
                  </a:lnTo>
                  <a:lnTo>
                    <a:pt x="1666875" y="3071813"/>
                  </a:lnTo>
                  <a:cubicBezTo>
                    <a:pt x="1588781" y="3077391"/>
                    <a:pt x="1618739" y="3088935"/>
                    <a:pt x="1571625" y="3057525"/>
                  </a:cubicBezTo>
                  <a:lnTo>
                    <a:pt x="1562100" y="3052763"/>
                  </a:lnTo>
                  <a:cubicBezTo>
                    <a:pt x="1465530" y="3047082"/>
                    <a:pt x="1505842" y="3058979"/>
                    <a:pt x="1438275" y="3028950"/>
                  </a:cubicBezTo>
                  <a:lnTo>
                    <a:pt x="1409700" y="3014663"/>
                  </a:lnTo>
                  <a:lnTo>
                    <a:pt x="1271588" y="3028950"/>
                  </a:lnTo>
                  <a:lnTo>
                    <a:pt x="1123950" y="2995613"/>
                  </a:lnTo>
                  <a:lnTo>
                    <a:pt x="1057275" y="2981325"/>
                  </a:lnTo>
                  <a:lnTo>
                    <a:pt x="971550" y="2914650"/>
                  </a:lnTo>
                  <a:lnTo>
                    <a:pt x="914400" y="2852738"/>
                  </a:lnTo>
                  <a:lnTo>
                    <a:pt x="823913" y="2824163"/>
                  </a:lnTo>
                  <a:cubicBezTo>
                    <a:pt x="741217" y="2756061"/>
                    <a:pt x="767669" y="2782212"/>
                    <a:pt x="738188" y="2752725"/>
                  </a:cubicBezTo>
                  <a:lnTo>
                    <a:pt x="628650" y="2743200"/>
                  </a:lnTo>
                  <a:lnTo>
                    <a:pt x="581025" y="2700338"/>
                  </a:lnTo>
                  <a:lnTo>
                    <a:pt x="500063" y="2628900"/>
                  </a:lnTo>
                  <a:cubicBezTo>
                    <a:pt x="419009" y="2578241"/>
                    <a:pt x="448786" y="2597889"/>
                    <a:pt x="409575" y="2571750"/>
                  </a:cubicBezTo>
                  <a:lnTo>
                    <a:pt x="409575" y="2566988"/>
                  </a:lnTo>
                  <a:lnTo>
                    <a:pt x="309563" y="2566988"/>
                  </a:lnTo>
                  <a:lnTo>
                    <a:pt x="257175" y="2566988"/>
                  </a:lnTo>
                  <a:lnTo>
                    <a:pt x="171450" y="2538413"/>
                  </a:lnTo>
                  <a:lnTo>
                    <a:pt x="133350" y="2514600"/>
                  </a:lnTo>
                  <a:lnTo>
                    <a:pt x="38100" y="2433638"/>
                  </a:lnTo>
                  <a:lnTo>
                    <a:pt x="0" y="2290763"/>
                  </a:lnTo>
                  <a:lnTo>
                    <a:pt x="47625" y="2219325"/>
                  </a:lnTo>
                  <a:lnTo>
                    <a:pt x="147638" y="2014538"/>
                  </a:lnTo>
                  <a:lnTo>
                    <a:pt x="185738" y="1976438"/>
                  </a:lnTo>
                  <a:lnTo>
                    <a:pt x="204788" y="1928813"/>
                  </a:lnTo>
                  <a:lnTo>
                    <a:pt x="323850" y="1752600"/>
                  </a:lnTo>
                  <a:cubicBezTo>
                    <a:pt x="336550" y="1744663"/>
                    <a:pt x="350517" y="1738462"/>
                    <a:pt x="361950" y="1728788"/>
                  </a:cubicBezTo>
                  <a:cubicBezTo>
                    <a:pt x="371415" y="1720779"/>
                    <a:pt x="385763" y="1700213"/>
                    <a:pt x="385763" y="1700213"/>
                  </a:cubicBezTo>
                  <a:lnTo>
                    <a:pt x="428625" y="1628775"/>
                  </a:lnTo>
                  <a:cubicBezTo>
                    <a:pt x="442913" y="1606550"/>
                    <a:pt x="458379" y="1585040"/>
                    <a:pt x="471488" y="1562100"/>
                  </a:cubicBezTo>
                  <a:cubicBezTo>
                    <a:pt x="477486" y="1551603"/>
                    <a:pt x="485775" y="1528763"/>
                    <a:pt x="485775" y="1528763"/>
                  </a:cubicBezTo>
                  <a:lnTo>
                    <a:pt x="514350" y="1404938"/>
                  </a:lnTo>
                  <a:lnTo>
                    <a:pt x="557213" y="1257300"/>
                  </a:lnTo>
                  <a:lnTo>
                    <a:pt x="581025" y="1214438"/>
                  </a:lnTo>
                  <a:lnTo>
                    <a:pt x="676275" y="1109663"/>
                  </a:lnTo>
                  <a:lnTo>
                    <a:pt x="714375" y="1076325"/>
                  </a:lnTo>
                  <a:lnTo>
                    <a:pt x="952500" y="595313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5" name="Google Shape;94;p17">
              <a:extLst>
                <a:ext uri="{FF2B5EF4-FFF2-40B4-BE49-F238E27FC236}">
                  <a16:creationId xmlns:a16="http://schemas.microsoft.com/office/drawing/2014/main" id="{85709009-0943-523C-2FE5-4D635F7C7B34}"/>
                </a:ext>
              </a:extLst>
            </p:cNvPr>
            <p:cNvGrpSpPr/>
            <p:nvPr/>
          </p:nvGrpSpPr>
          <p:grpSpPr>
            <a:xfrm rot="-4789631">
              <a:off x="5018929" y="231174"/>
              <a:ext cx="4134759" cy="3866044"/>
              <a:chOff x="5807844" y="640284"/>
              <a:chExt cx="7008367" cy="6552899"/>
            </a:xfrm>
          </p:grpSpPr>
          <p:pic>
            <p:nvPicPr>
              <p:cNvPr id="12" name="Google Shape;95;p17" descr="Closed hand">
                <a:extLst>
                  <a:ext uri="{FF2B5EF4-FFF2-40B4-BE49-F238E27FC236}">
                    <a16:creationId xmlns:a16="http://schemas.microsoft.com/office/drawing/2014/main" id="{4A101C33-8960-E418-B151-B59BA88F1A34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 rot="3290092">
                <a:off x="7350333" y="1012284"/>
                <a:ext cx="3923388" cy="580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6;p17">
                <a:extLst>
                  <a:ext uri="{FF2B5EF4-FFF2-40B4-BE49-F238E27FC236}">
                    <a16:creationId xmlns:a16="http://schemas.microsoft.com/office/drawing/2014/main" id="{631D7D80-6C6F-3D88-190D-B5DE541CB442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l="23508" t="23415" r="45890" b="29640"/>
              <a:stretch/>
            </p:blipFill>
            <p:spPr>
              <a:xfrm rot="-7971546">
                <a:off x="8062999" y="2547015"/>
                <a:ext cx="2383464" cy="2061768"/>
              </a:xfrm>
              <a:custGeom>
                <a:avLst/>
                <a:gdLst/>
                <a:ahLst/>
                <a:cxnLst/>
                <a:rect l="l" t="t" r="r" b="b"/>
                <a:pathLst>
                  <a:path w="3148013" h="3219450" extrusionOk="0">
                    <a:moveTo>
                      <a:pt x="1381125" y="0"/>
                    </a:moveTo>
                    <a:lnTo>
                      <a:pt x="1585913" y="100013"/>
                    </a:lnTo>
                    <a:lnTo>
                      <a:pt x="1581150" y="157163"/>
                    </a:lnTo>
                    <a:lnTo>
                      <a:pt x="1585913" y="323850"/>
                    </a:lnTo>
                    <a:lnTo>
                      <a:pt x="1609725" y="461963"/>
                    </a:lnTo>
                    <a:lnTo>
                      <a:pt x="1666875" y="581025"/>
                    </a:lnTo>
                    <a:lnTo>
                      <a:pt x="1924050" y="1076325"/>
                    </a:lnTo>
                    <a:lnTo>
                      <a:pt x="2190750" y="1366838"/>
                    </a:lnTo>
                    <a:lnTo>
                      <a:pt x="2428875" y="1690688"/>
                    </a:lnTo>
                    <a:lnTo>
                      <a:pt x="2609850" y="2085975"/>
                    </a:lnTo>
                    <a:lnTo>
                      <a:pt x="2828925" y="2519363"/>
                    </a:lnTo>
                    <a:lnTo>
                      <a:pt x="2957513" y="2771775"/>
                    </a:lnTo>
                    <a:lnTo>
                      <a:pt x="3090863" y="2795588"/>
                    </a:lnTo>
                    <a:lnTo>
                      <a:pt x="3148013" y="2928938"/>
                    </a:lnTo>
                    <a:lnTo>
                      <a:pt x="3148013" y="3043238"/>
                    </a:lnTo>
                    <a:lnTo>
                      <a:pt x="3148013" y="3109913"/>
                    </a:lnTo>
                    <a:lnTo>
                      <a:pt x="3009900" y="3152775"/>
                    </a:lnTo>
                    <a:lnTo>
                      <a:pt x="2876550" y="3181350"/>
                    </a:lnTo>
                    <a:lnTo>
                      <a:pt x="2781300" y="3176588"/>
                    </a:lnTo>
                    <a:lnTo>
                      <a:pt x="2714625" y="3176588"/>
                    </a:lnTo>
                    <a:lnTo>
                      <a:pt x="2667000" y="3181350"/>
                    </a:lnTo>
                    <a:lnTo>
                      <a:pt x="2633663" y="3214688"/>
                    </a:lnTo>
                    <a:lnTo>
                      <a:pt x="2595563" y="3219450"/>
                    </a:lnTo>
                    <a:lnTo>
                      <a:pt x="2400300" y="3181350"/>
                    </a:lnTo>
                    <a:lnTo>
                      <a:pt x="2333625" y="3167063"/>
                    </a:lnTo>
                    <a:lnTo>
                      <a:pt x="2243138" y="3181350"/>
                    </a:lnTo>
                    <a:lnTo>
                      <a:pt x="2133600" y="3138488"/>
                    </a:lnTo>
                    <a:lnTo>
                      <a:pt x="2090738" y="3114675"/>
                    </a:lnTo>
                    <a:lnTo>
                      <a:pt x="1933575" y="3100388"/>
                    </a:lnTo>
                    <a:lnTo>
                      <a:pt x="1790700" y="3062288"/>
                    </a:lnTo>
                    <a:lnTo>
                      <a:pt x="1666875" y="3071813"/>
                    </a:lnTo>
                    <a:cubicBezTo>
                      <a:pt x="1588781" y="3077391"/>
                      <a:pt x="1618739" y="3088935"/>
                      <a:pt x="1571625" y="3057525"/>
                    </a:cubicBezTo>
                    <a:lnTo>
                      <a:pt x="1562100" y="3052763"/>
                    </a:lnTo>
                    <a:cubicBezTo>
                      <a:pt x="1465530" y="3047082"/>
                      <a:pt x="1505842" y="3058979"/>
                      <a:pt x="1438275" y="3028950"/>
                    </a:cubicBezTo>
                    <a:lnTo>
                      <a:pt x="1409700" y="3014663"/>
                    </a:lnTo>
                    <a:lnTo>
                      <a:pt x="1271588" y="3028950"/>
                    </a:lnTo>
                    <a:lnTo>
                      <a:pt x="1123950" y="2995613"/>
                    </a:lnTo>
                    <a:lnTo>
                      <a:pt x="1057275" y="2981325"/>
                    </a:lnTo>
                    <a:lnTo>
                      <a:pt x="971550" y="2914650"/>
                    </a:lnTo>
                    <a:lnTo>
                      <a:pt x="914400" y="2852738"/>
                    </a:lnTo>
                    <a:lnTo>
                      <a:pt x="823913" y="2824163"/>
                    </a:lnTo>
                    <a:cubicBezTo>
                      <a:pt x="741217" y="2756061"/>
                      <a:pt x="767669" y="2782212"/>
                      <a:pt x="738188" y="2752725"/>
                    </a:cubicBezTo>
                    <a:lnTo>
                      <a:pt x="628650" y="2743200"/>
                    </a:lnTo>
                    <a:lnTo>
                      <a:pt x="581025" y="2700338"/>
                    </a:lnTo>
                    <a:lnTo>
                      <a:pt x="500063" y="2628900"/>
                    </a:lnTo>
                    <a:cubicBezTo>
                      <a:pt x="419009" y="2578241"/>
                      <a:pt x="448786" y="2597889"/>
                      <a:pt x="409575" y="2571750"/>
                    </a:cubicBezTo>
                    <a:lnTo>
                      <a:pt x="409575" y="2566988"/>
                    </a:lnTo>
                    <a:lnTo>
                      <a:pt x="309563" y="2566988"/>
                    </a:lnTo>
                    <a:lnTo>
                      <a:pt x="257175" y="2566988"/>
                    </a:lnTo>
                    <a:lnTo>
                      <a:pt x="171450" y="2538413"/>
                    </a:lnTo>
                    <a:lnTo>
                      <a:pt x="133350" y="2514600"/>
                    </a:lnTo>
                    <a:lnTo>
                      <a:pt x="38100" y="2433638"/>
                    </a:lnTo>
                    <a:lnTo>
                      <a:pt x="0" y="2290763"/>
                    </a:lnTo>
                    <a:lnTo>
                      <a:pt x="47625" y="2219325"/>
                    </a:lnTo>
                    <a:lnTo>
                      <a:pt x="147638" y="2014538"/>
                    </a:lnTo>
                    <a:lnTo>
                      <a:pt x="185738" y="1976438"/>
                    </a:lnTo>
                    <a:lnTo>
                      <a:pt x="204788" y="1928813"/>
                    </a:lnTo>
                    <a:lnTo>
                      <a:pt x="323850" y="1752600"/>
                    </a:lnTo>
                    <a:cubicBezTo>
                      <a:pt x="336550" y="1744663"/>
                      <a:pt x="350517" y="1738462"/>
                      <a:pt x="361950" y="1728788"/>
                    </a:cubicBezTo>
                    <a:cubicBezTo>
                      <a:pt x="371415" y="1720779"/>
                      <a:pt x="385763" y="1700213"/>
                      <a:pt x="385763" y="1700213"/>
                    </a:cubicBezTo>
                    <a:lnTo>
                      <a:pt x="428625" y="1628775"/>
                    </a:lnTo>
                    <a:cubicBezTo>
                      <a:pt x="442913" y="1606550"/>
                      <a:pt x="458379" y="1585040"/>
                      <a:pt x="471488" y="1562100"/>
                    </a:cubicBezTo>
                    <a:cubicBezTo>
                      <a:pt x="477486" y="1551603"/>
                      <a:pt x="485775" y="1528763"/>
                      <a:pt x="485775" y="1528763"/>
                    </a:cubicBezTo>
                    <a:lnTo>
                      <a:pt x="514350" y="1404938"/>
                    </a:lnTo>
                    <a:lnTo>
                      <a:pt x="557213" y="1257300"/>
                    </a:lnTo>
                    <a:lnTo>
                      <a:pt x="581025" y="1214438"/>
                    </a:lnTo>
                    <a:lnTo>
                      <a:pt x="676275" y="1109663"/>
                    </a:lnTo>
                    <a:lnTo>
                      <a:pt x="714375" y="1076325"/>
                    </a:lnTo>
                    <a:lnTo>
                      <a:pt x="952500" y="59531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sp>
          <p:nvSpPr>
            <p:cNvPr id="6" name="Google Shape;98;p17">
              <a:extLst>
                <a:ext uri="{FF2B5EF4-FFF2-40B4-BE49-F238E27FC236}">
                  <a16:creationId xmlns:a16="http://schemas.microsoft.com/office/drawing/2014/main" id="{C71746E6-1E1D-909C-5277-A7AA19204A01}"/>
                </a:ext>
              </a:extLst>
            </p:cNvPr>
            <p:cNvSpPr txBox="1"/>
            <p:nvPr/>
          </p:nvSpPr>
          <p:spPr>
            <a:xfrm>
              <a:off x="7832600" y="1919100"/>
              <a:ext cx="1327800" cy="11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l" defTabSz="1219170" rtl="0">
                <a:buClr>
                  <a:srgbClr val="000000"/>
                </a:buClr>
              </a:pP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Reduce tendon bulk </a:t>
              </a:r>
              <a:b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</a:b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in tunnel</a:t>
              </a:r>
              <a:endParaRPr sz="2000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  <p:sp>
          <p:nvSpPr>
            <p:cNvPr id="7" name="Google Shape;99;p17">
              <a:extLst>
                <a:ext uri="{FF2B5EF4-FFF2-40B4-BE49-F238E27FC236}">
                  <a16:creationId xmlns:a16="http://schemas.microsoft.com/office/drawing/2014/main" id="{57355234-AF5A-3AE3-BC16-DD6DB0C9341A}"/>
                </a:ext>
              </a:extLst>
            </p:cNvPr>
            <p:cNvSpPr txBox="1"/>
            <p:nvPr/>
          </p:nvSpPr>
          <p:spPr>
            <a:xfrm>
              <a:off x="7482151" y="3915873"/>
              <a:ext cx="1581000" cy="10210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l" defTabSz="1219170" rtl="0">
                <a:buClr>
                  <a:srgbClr val="000000"/>
                </a:buClr>
              </a:pP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Optimize space </a:t>
              </a:r>
              <a:b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</a:b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in tunnel</a:t>
              </a:r>
              <a:endParaRPr sz="2000" kern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100;p17">
              <a:extLst>
                <a:ext uri="{FF2B5EF4-FFF2-40B4-BE49-F238E27FC236}">
                  <a16:creationId xmlns:a16="http://schemas.microsoft.com/office/drawing/2014/main" id="{7520F51F-005A-6776-6C52-4F361A1291B6}"/>
                </a:ext>
              </a:extLst>
            </p:cNvPr>
            <p:cNvSpPr txBox="1"/>
            <p:nvPr/>
          </p:nvSpPr>
          <p:spPr>
            <a:xfrm>
              <a:off x="5614450" y="3454925"/>
              <a:ext cx="1581000" cy="75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l" defTabSz="1219170" rtl="0">
                <a:buClr>
                  <a:srgbClr val="000000"/>
                </a:buClr>
              </a:pP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Slacken the median nerve</a:t>
              </a:r>
              <a:endParaRPr sz="2000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  <p:cxnSp>
          <p:nvCxnSpPr>
            <p:cNvPr id="9" name="Google Shape;101;p17">
              <a:extLst>
                <a:ext uri="{FF2B5EF4-FFF2-40B4-BE49-F238E27FC236}">
                  <a16:creationId xmlns:a16="http://schemas.microsoft.com/office/drawing/2014/main" id="{C7896C8C-FCBB-2BD8-2B0C-6A3C908835C1}"/>
                </a:ext>
              </a:extLst>
            </p:cNvPr>
            <p:cNvCxnSpPr>
              <a:stCxn id="6" idx="1"/>
            </p:cNvCxnSpPr>
            <p:nvPr/>
          </p:nvCxnSpPr>
          <p:spPr>
            <a:xfrm rot="10800000">
              <a:off x="6969500" y="2090100"/>
              <a:ext cx="863100" cy="380400"/>
            </a:xfrm>
            <a:prstGeom prst="straightConnector1">
              <a:avLst/>
            </a:prstGeom>
            <a:noFill/>
            <a:ln w="28575" cap="flat" cmpd="sng">
              <a:solidFill>
                <a:srgbClr val="FFD6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102;p17">
              <a:extLst>
                <a:ext uri="{FF2B5EF4-FFF2-40B4-BE49-F238E27FC236}">
                  <a16:creationId xmlns:a16="http://schemas.microsoft.com/office/drawing/2014/main" id="{7655DB2C-F0D2-BD57-9393-5FC2962CDD68}"/>
                </a:ext>
              </a:extLst>
            </p:cNvPr>
            <p:cNvCxnSpPr>
              <a:stCxn id="8" idx="0"/>
            </p:cNvCxnSpPr>
            <p:nvPr/>
          </p:nvCxnSpPr>
          <p:spPr>
            <a:xfrm flipV="1">
              <a:off x="6404951" y="2633825"/>
              <a:ext cx="758699" cy="821101"/>
            </a:xfrm>
            <a:prstGeom prst="straightConnector1">
              <a:avLst/>
            </a:prstGeom>
            <a:noFill/>
            <a:ln w="28575" cap="flat" cmpd="sng">
              <a:solidFill>
                <a:srgbClr val="FFD6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103;p17">
              <a:extLst>
                <a:ext uri="{FF2B5EF4-FFF2-40B4-BE49-F238E27FC236}">
                  <a16:creationId xmlns:a16="http://schemas.microsoft.com/office/drawing/2014/main" id="{E7B9988F-823A-B88F-5EBB-3039589BB3D0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7373252" y="2626172"/>
              <a:ext cx="899399" cy="1289701"/>
            </a:xfrm>
            <a:prstGeom prst="straightConnector1">
              <a:avLst/>
            </a:prstGeom>
            <a:noFill/>
            <a:ln w="28575" cap="flat" cmpd="sng">
              <a:solidFill>
                <a:srgbClr val="FFD6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title="MAIN-LOGO_no-w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577" y="994489"/>
            <a:ext cx="3927832" cy="586351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5" name="Text Panel">
            <a:extLst>
              <a:ext uri="{FF2B5EF4-FFF2-40B4-BE49-F238E27FC236}">
                <a16:creationId xmlns:a16="http://schemas.microsoft.com/office/drawing/2014/main" id="{8D611C3C-521F-8DE0-8CC9-76D5297F6D93}"/>
              </a:ext>
            </a:extLst>
          </p:cNvPr>
          <p:cNvSpPr/>
          <p:nvPr/>
        </p:nvSpPr>
        <p:spPr>
          <a:xfrm>
            <a:off x="224287" y="208306"/>
            <a:ext cx="11819895" cy="1070306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0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CTS NIGHT MITTEN </a:t>
            </a:r>
            <a:br>
              <a:rPr kumimoji="0" lang="en" sz="40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" sz="18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NIGHTTIME PAIN RELIEF SUPPORT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</Words>
  <Application>Microsoft Office PowerPoint</Application>
  <PresentationFormat>מסך רחב</PresentationFormat>
  <Paragraphs>21</Paragraphs>
  <Slides>4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12" baseType="lpstr">
      <vt:lpstr>Aptos</vt:lpstr>
      <vt:lpstr>Arial</vt:lpstr>
      <vt:lpstr>Assistant</vt:lpstr>
      <vt:lpstr>Assistant ExtraBold</vt:lpstr>
      <vt:lpstr>Assistant Light</vt:lpstr>
      <vt:lpstr>Assistant SemiBold</vt:lpstr>
      <vt:lpstr>Calibri</vt:lpstr>
      <vt:lpstr>Simple Light</vt:lpstr>
      <vt:lpstr>Carpal Tunnel Syndrome Night Mitten</vt:lpstr>
      <vt:lpstr>מצגת של PowerPoint‏</vt:lpstr>
      <vt:lpstr>Market Need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2026-08-11T07:43:36Z</dcterms:created>
  <dcterms:modified xsi:type="dcterms:W3CDTF">2026-08-11T08:06:05Z</dcterms:modified>
</cp:coreProperties>
</file>