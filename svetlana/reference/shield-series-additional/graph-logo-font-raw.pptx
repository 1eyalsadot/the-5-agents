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62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54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408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77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/>
          <p:nvPr/>
        </p:nvSpPr>
        <p:spPr>
          <a:xfrm>
            <a:off x="548640" y="41148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DOMINATING THE LOCAL MARKET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 ISRAEL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Rect 102"/>
          <p:cNvSpPr/>
          <p:nvPr/>
        </p:nvSpPr>
        <p:spPr>
          <a:xfrm>
            <a:off x="548640" y="166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3" name="Check 103"/>
          <p:cNvSpPr/>
          <p:nvPr/>
        </p:nvSpPr>
        <p:spPr>
          <a:xfrm>
            <a:off x="548640" y="166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BulletText 104"/>
          <p:cNvSpPr/>
          <p:nvPr/>
        </p:nvSpPr>
        <p:spPr>
          <a:xfrm>
            <a:off x="978640" y="165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 Brand Awareness: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brand is widely recognized as a trusted choice in Israel's orthopedic market.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 105"/>
          <p:cNvSpPr/>
          <p:nvPr/>
        </p:nvSpPr>
        <p:spPr>
          <a:xfrm>
            <a:off x="548640" y="201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6" name="Check 106"/>
          <p:cNvSpPr/>
          <p:nvPr/>
        </p:nvSpPr>
        <p:spPr>
          <a:xfrm>
            <a:off x="548640" y="201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BulletText 107"/>
          <p:cNvSpPr/>
          <p:nvPr/>
        </p:nvSpPr>
        <p:spPr>
          <a:xfrm>
            <a:off x="978640" y="200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Preference: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Many consumers prefer our products, showcasing their confidence in our quality.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 108"/>
          <p:cNvSpPr/>
          <p:nvPr/>
        </p:nvSpPr>
        <p:spPr>
          <a:xfrm>
            <a:off x="548640" y="236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9" name="Check 109"/>
          <p:cNvSpPr/>
          <p:nvPr/>
        </p:nvSpPr>
        <p:spPr>
          <a:xfrm>
            <a:off x="548640" y="236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BulletText 110"/>
          <p:cNvSpPr/>
          <p:nvPr/>
        </p:nvSpPr>
        <p:spPr>
          <a:xfrm>
            <a:off x="978640" y="235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Robust Reputation: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maintain a strong reputation for reliability and innovation in the local market.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Card 111"/>
          <p:cNvSpPr/>
          <p:nvPr/>
        </p:nvSpPr>
        <p:spPr>
          <a:xfrm>
            <a:off x="548640" y="2741480"/>
            <a:ext cx="11094720" cy="284101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798640" y="2891480"/>
            <a:ext cx="105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BRAND AWARENESS &amp; PREFERENCE — ISRAEL ORTHOPEDIC MARKET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Line 113"/>
          <p:cNvSpPr/>
          <p:nvPr/>
        </p:nvSpPr>
        <p:spPr>
          <a:xfrm>
            <a:off x="798640" y="4474739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4" name="Line 114"/>
          <p:cNvSpPr/>
          <p:nvPr/>
        </p:nvSpPr>
        <p:spPr>
          <a:xfrm>
            <a:off x="798640" y="4136986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5" name="Line 115"/>
          <p:cNvSpPr/>
          <p:nvPr/>
        </p:nvSpPr>
        <p:spPr>
          <a:xfrm>
            <a:off x="798640" y="3799233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6" name="Line 116"/>
          <p:cNvSpPr/>
          <p:nvPr/>
        </p:nvSpPr>
        <p:spPr>
          <a:xfrm>
            <a:off x="798640" y="4812492"/>
            <a:ext cx="10594720" cy="0"/>
          </a:xfrm>
          <a:prstGeom prst="line">
            <a:avLst/>
          </a:prstGeom>
          <a:noFill/>
          <a:ln w="12700">
            <a:solidFill>
              <a:srgbClr val="D6D5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7" name="Rect 117"/>
          <p:cNvSpPr/>
          <p:nvPr/>
        </p:nvSpPr>
        <p:spPr>
          <a:xfrm>
            <a:off x="976129" y="3461480"/>
            <a:ext cx="460000" cy="1351012"/>
          </a:xfrm>
          <a:prstGeom prst="rect">
            <a:avLst/>
          </a:prstGeom>
          <a:solidFill>
            <a:srgbClr val="140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798640" y="3271480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CatLabel 119"/>
          <p:cNvSpPr/>
          <p:nvPr/>
        </p:nvSpPr>
        <p:spPr>
          <a:xfrm>
            <a:off x="798640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Scholl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Rect 120"/>
          <p:cNvSpPr/>
          <p:nvPr/>
        </p:nvSpPr>
        <p:spPr>
          <a:xfrm>
            <a:off x="1791107" y="3483997"/>
            <a:ext cx="460000" cy="1328495"/>
          </a:xfrm>
          <a:prstGeom prst="rect">
            <a:avLst/>
          </a:prstGeom>
          <a:solidFill>
            <a:srgbClr val="140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1" name="TextBox 121"/>
          <p:cNvSpPr/>
          <p:nvPr/>
        </p:nvSpPr>
        <p:spPr>
          <a:xfrm>
            <a:off x="1613618" y="3293997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CatLabel 122"/>
          <p:cNvSpPr/>
          <p:nvPr/>
        </p:nvSpPr>
        <p:spPr>
          <a:xfrm>
            <a:off x="1613618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Rect 123"/>
          <p:cNvSpPr/>
          <p:nvPr/>
        </p:nvSpPr>
        <p:spPr>
          <a:xfrm>
            <a:off x="2606086" y="3529031"/>
            <a:ext cx="460000" cy="1283461"/>
          </a:xfrm>
          <a:prstGeom prst="rect">
            <a:avLst/>
          </a:prstGeom>
          <a:solidFill>
            <a:srgbClr val="FFD500"/>
          </a:solidFill>
          <a:ln w="12700">
            <a:solidFill>
              <a:srgbClr val="140D4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2428596" y="3339031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CatLabel 125"/>
          <p:cNvSpPr/>
          <p:nvPr/>
        </p:nvSpPr>
        <p:spPr>
          <a:xfrm>
            <a:off x="2428596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URIEL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Rect 126"/>
          <p:cNvSpPr/>
          <p:nvPr/>
        </p:nvSpPr>
        <p:spPr>
          <a:xfrm>
            <a:off x="3421064" y="4654874"/>
            <a:ext cx="460000" cy="157618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7" name="TextBox 127"/>
          <p:cNvSpPr/>
          <p:nvPr/>
        </p:nvSpPr>
        <p:spPr>
          <a:xfrm>
            <a:off x="3243575" y="446487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atLabel 128"/>
          <p:cNvSpPr/>
          <p:nvPr/>
        </p:nvSpPr>
        <p:spPr>
          <a:xfrm>
            <a:off x="3243575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Rect 129"/>
          <p:cNvSpPr/>
          <p:nvPr/>
        </p:nvSpPr>
        <p:spPr>
          <a:xfrm>
            <a:off x="4236043" y="4677391"/>
            <a:ext cx="460000" cy="135101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4058553" y="4487391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CatLabel 131"/>
          <p:cNvSpPr/>
          <p:nvPr/>
        </p:nvSpPr>
        <p:spPr>
          <a:xfrm>
            <a:off x="4058553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Mueller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Rect 132"/>
          <p:cNvSpPr/>
          <p:nvPr/>
        </p:nvSpPr>
        <p:spPr>
          <a:xfrm>
            <a:off x="5051021" y="4722425"/>
            <a:ext cx="460000" cy="90067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3" name="TextBox 133"/>
          <p:cNvSpPr/>
          <p:nvPr/>
        </p:nvSpPr>
        <p:spPr>
          <a:xfrm>
            <a:off x="4873532" y="4532425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CatLabel 134"/>
          <p:cNvSpPr/>
          <p:nvPr/>
        </p:nvSpPr>
        <p:spPr>
          <a:xfrm>
            <a:off x="4873532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Slim Fit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 135"/>
          <p:cNvSpPr/>
          <p:nvPr/>
        </p:nvSpPr>
        <p:spPr>
          <a:xfrm>
            <a:off x="5866000" y="4767459"/>
            <a:ext cx="460000" cy="45033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5688510" y="4577459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CatLabel 137"/>
          <p:cNvSpPr/>
          <p:nvPr/>
        </p:nvSpPr>
        <p:spPr>
          <a:xfrm>
            <a:off x="5688510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Orliman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 138"/>
          <p:cNvSpPr/>
          <p:nvPr/>
        </p:nvSpPr>
        <p:spPr>
          <a:xfrm>
            <a:off x="6680978" y="4767459"/>
            <a:ext cx="460000" cy="45033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9" name="TextBox 139"/>
          <p:cNvSpPr/>
          <p:nvPr/>
        </p:nvSpPr>
        <p:spPr>
          <a:xfrm>
            <a:off x="6503489" y="4577459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CatLabel 140"/>
          <p:cNvSpPr/>
          <p:nvPr/>
        </p:nvSpPr>
        <p:spPr>
          <a:xfrm>
            <a:off x="6503489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Sport On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 141"/>
          <p:cNvSpPr/>
          <p:nvPr/>
        </p:nvSpPr>
        <p:spPr>
          <a:xfrm>
            <a:off x="7495956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7318467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CatLabel 143"/>
          <p:cNvSpPr/>
          <p:nvPr/>
        </p:nvSpPr>
        <p:spPr>
          <a:xfrm>
            <a:off x="7318467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Bauerfeind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 144"/>
          <p:cNvSpPr/>
          <p:nvPr/>
        </p:nvSpPr>
        <p:spPr>
          <a:xfrm>
            <a:off x="8310935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5" name="TextBox 145"/>
          <p:cNvSpPr/>
          <p:nvPr/>
        </p:nvSpPr>
        <p:spPr>
          <a:xfrm>
            <a:off x="8133446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CatLabel 146"/>
          <p:cNvSpPr/>
          <p:nvPr/>
        </p:nvSpPr>
        <p:spPr>
          <a:xfrm>
            <a:off x="8133446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Genutrain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 147"/>
          <p:cNvSpPr/>
          <p:nvPr/>
        </p:nvSpPr>
        <p:spPr>
          <a:xfrm>
            <a:off x="9125913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8948424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CatLabel 149"/>
          <p:cNvSpPr/>
          <p:nvPr/>
        </p:nvSpPr>
        <p:spPr>
          <a:xfrm>
            <a:off x="8948424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Bort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Rect 150"/>
          <p:cNvSpPr/>
          <p:nvPr/>
        </p:nvSpPr>
        <p:spPr>
          <a:xfrm>
            <a:off x="9940892" y="4801234"/>
            <a:ext cx="460000" cy="11258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51" name="TextBox 151"/>
          <p:cNvSpPr/>
          <p:nvPr/>
        </p:nvSpPr>
        <p:spPr>
          <a:xfrm>
            <a:off x="9763403" y="461123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CatLabel 152"/>
          <p:cNvSpPr/>
          <p:nvPr/>
        </p:nvSpPr>
        <p:spPr>
          <a:xfrm>
            <a:off x="9763403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Rect 153"/>
          <p:cNvSpPr/>
          <p:nvPr/>
        </p:nvSpPr>
        <p:spPr>
          <a:xfrm>
            <a:off x="10755870" y="4654874"/>
            <a:ext cx="460000" cy="15761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10578381" y="446487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4948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CatLabel 155"/>
          <p:cNvSpPr/>
          <p:nvPr/>
        </p:nvSpPr>
        <p:spPr>
          <a:xfrm>
            <a:off x="10578381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6" name="logo-scho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329" y="5152492"/>
            <a:ext cx="291600" cy="300000"/>
          </a:xfrm>
          <a:prstGeom prst="rect">
            <a:avLst/>
          </a:prstGeom>
        </p:spPr>
      </p:pic>
      <p:pic>
        <p:nvPicPr>
          <p:cNvPr id="157" name="logo-lif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07" y="5152492"/>
            <a:ext cx="451800" cy="300000"/>
          </a:xfrm>
          <a:prstGeom prst="rect">
            <a:avLst/>
          </a:prstGeom>
        </p:spPr>
      </p:pic>
      <p:pic>
        <p:nvPicPr>
          <p:cNvPr id="158" name="logo-uri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597" y="5161314"/>
            <a:ext cx="814978" cy="282355"/>
          </a:xfrm>
          <a:prstGeom prst="rect">
            <a:avLst/>
          </a:prstGeom>
        </p:spPr>
      </p:pic>
      <p:sp>
        <p:nvSpPr>
          <p:cNvPr id="159" name="TextBox 159"/>
          <p:cNvSpPr/>
          <p:nvPr/>
        </p:nvSpPr>
        <p:spPr>
          <a:xfrm>
            <a:off x="548640" y="5662492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C8B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**Survey of 500 consumers, 2023.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0" name="Image Foo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מסך רחב</PresentationFormat>
  <Paragraphs>37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2026-08-11T09:09:32Z</dcterms:created>
  <dcterms:modified xsi:type="dcterms:W3CDTF">2026-08-11T09:09:50Z</dcterms:modified>
</cp:coreProperties>
</file>