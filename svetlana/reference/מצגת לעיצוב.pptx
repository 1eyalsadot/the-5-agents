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73" r:id="rId2"/>
    <p:sldId id="271" r:id="rId3"/>
    <p:sldId id="282" r:id="rId4"/>
    <p:sldId id="288" r:id="rId5"/>
    <p:sldId id="279" r:id="rId6"/>
    <p:sldId id="280" r:id="rId7"/>
    <p:sldId id="287" r:id="rId8"/>
    <p:sldId id="284" r:id="rId9"/>
    <p:sldId id="285" r:id="rId10"/>
    <p:sldId id="277" r:id="rId11"/>
    <p:sldId id="289" r:id="rId12"/>
    <p:sldId id="278" r:id="rId13"/>
    <p:sldId id="256" r:id="rId14"/>
  </p:sldIdLst>
  <p:sldSz cx="9144000" cy="5143500" type="screen16x9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2FF83-6C6E-45F3-A0B9-520196BCD1E3}" v="2" dt="2026-08-01T10:37:32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סגנון בהיר 3 - הדגשה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סגנון בהיר 1 - הדגשה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סגנון בהיר 1 - הדגשה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סגנון ערכת נושא 2 - הדגשה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סגנון בהיר 2 - הדגשה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סגנון בהיר 3 - הדגשה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סגנון בהיר 2 - הדגשה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סגנון ערכת נושא 2 - הדגשה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custSel addSld delSld modSld">
      <pc:chgData name="Eyal Sadot" userId="9c57a40b-08c8-435b-851c-1854c25cf41d" providerId="ADAL" clId="{02003448-2CBC-42C7-80BD-DC4C07BEB2CD}" dt="2026-08-01T10:39:04.672" v="4" actId="47"/>
      <pc:docMkLst>
        <pc:docMk/>
      </pc:docMkLst>
      <pc:sldChg chg="delSp add del mod">
        <pc:chgData name="Eyal Sadot" userId="9c57a40b-08c8-435b-851c-1854c25cf41d" providerId="ADAL" clId="{02003448-2CBC-42C7-80BD-DC4C07BEB2CD}" dt="2026-08-01T10:39:04.672" v="4" actId="47"/>
        <pc:sldMkLst>
          <pc:docMk/>
          <pc:sldMk cId="2009794691" sldId="290"/>
        </pc:sldMkLst>
        <pc:spChg chg="del">
          <ac:chgData name="Eyal Sadot" userId="9c57a40b-08c8-435b-851c-1854c25cf41d" providerId="ADAL" clId="{02003448-2CBC-42C7-80BD-DC4C07BEB2CD}" dt="2026-08-01T10:37:35.244" v="2" actId="478"/>
          <ac:spMkLst>
            <pc:docMk/>
            <pc:sldMk cId="2009794691" sldId="290"/>
            <ac:spMk id="7" creationId="{51FC76DD-B866-5D30-5E7D-21798FCF7A9E}"/>
          </ac:spMkLst>
        </pc:spChg>
        <pc:graphicFrameChg chg="del">
          <ac:chgData name="Eyal Sadot" userId="9c57a40b-08c8-435b-851c-1854c25cf41d" providerId="ADAL" clId="{02003448-2CBC-42C7-80BD-DC4C07BEB2CD}" dt="2026-08-01T10:37:33.597" v="1" actId="478"/>
          <ac:graphicFrameMkLst>
            <pc:docMk/>
            <pc:sldMk cId="2009794691" sldId="290"/>
            <ac:graphicFrameMk id="2" creationId="{31AB7CE8-2B56-7E6E-749F-A97293D581EA}"/>
          </ac:graphicFrameMkLst>
        </pc:graphicFrameChg>
        <pc:cxnChg chg="del">
          <ac:chgData name="Eyal Sadot" userId="9c57a40b-08c8-435b-851c-1854c25cf41d" providerId="ADAL" clId="{02003448-2CBC-42C7-80BD-DC4C07BEB2CD}" dt="2026-08-01T10:37:36.066" v="3" actId="478"/>
          <ac:cxnSpMkLst>
            <pc:docMk/>
            <pc:sldMk cId="2009794691" sldId="290"/>
            <ac:cxnSpMk id="5" creationId="{0265BF59-DCF8-4BC2-3306-7ECBB24891C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050" tIns="91050" rIns="91050" bIns="9105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16e41d7d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16e41d7de_1_0:notes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fb957f764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fb957f764_0_141:notes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54DA66A1-D3AF-3336-D2BA-BDDFE4D9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fb957f764_0_141:notes">
            <a:extLst>
              <a:ext uri="{FF2B5EF4-FFF2-40B4-BE49-F238E27FC236}">
                <a16:creationId xmlns:a16="http://schemas.microsoft.com/office/drawing/2014/main" id="{E9B2B915-1BA5-4407-BEC9-A12C4F7B51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fb957f764_0_141:notes">
            <a:extLst>
              <a:ext uri="{FF2B5EF4-FFF2-40B4-BE49-F238E27FC236}">
                <a16:creationId xmlns:a16="http://schemas.microsoft.com/office/drawing/2014/main" id="{58860E9F-DC57-85B1-C0FF-F492A5C58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606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F3D5F654-98CA-FFC0-0D21-6A4E1579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fb957f764_0_141:notes">
            <a:extLst>
              <a:ext uri="{FF2B5EF4-FFF2-40B4-BE49-F238E27FC236}">
                <a16:creationId xmlns:a16="http://schemas.microsoft.com/office/drawing/2014/main" id="{4AB6F114-DE7A-337B-8E1C-42D13B67C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fb957f764_0_141:notes">
            <a:extLst>
              <a:ext uri="{FF2B5EF4-FFF2-40B4-BE49-F238E27FC236}">
                <a16:creationId xmlns:a16="http://schemas.microsoft.com/office/drawing/2014/main" id="{8EB62562-79A7-5D4F-DCAA-9E06A1AC6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061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C229398-4CB8-DA95-40EE-77B42F4C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b957f764_0_125:notes">
            <a:extLst>
              <a:ext uri="{FF2B5EF4-FFF2-40B4-BE49-F238E27FC236}">
                <a16:creationId xmlns:a16="http://schemas.microsoft.com/office/drawing/2014/main" id="{2E54C993-BEB2-F4B8-DFBA-C9CEA49CF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fb957f764_0_125:notes">
            <a:extLst>
              <a:ext uri="{FF2B5EF4-FFF2-40B4-BE49-F238E27FC236}">
                <a16:creationId xmlns:a16="http://schemas.microsoft.com/office/drawing/2014/main" id="{0A7A80EE-6A7C-F277-663E-954012966B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550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53A0B18-110C-68A4-2314-0CBABA9F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b957f764_0_125:notes">
            <a:extLst>
              <a:ext uri="{FF2B5EF4-FFF2-40B4-BE49-F238E27FC236}">
                <a16:creationId xmlns:a16="http://schemas.microsoft.com/office/drawing/2014/main" id="{DED087B9-9D3E-F056-DB2F-A096F2E4C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fb957f764_0_125:notes">
            <a:extLst>
              <a:ext uri="{FF2B5EF4-FFF2-40B4-BE49-F238E27FC236}">
                <a16:creationId xmlns:a16="http://schemas.microsoft.com/office/drawing/2014/main" id="{E22F1F80-3693-C1A5-8609-57A2CBB86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69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EA56963-A21F-F19F-FD72-F678F4EE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b957f764_0_125:notes">
            <a:extLst>
              <a:ext uri="{FF2B5EF4-FFF2-40B4-BE49-F238E27FC236}">
                <a16:creationId xmlns:a16="http://schemas.microsoft.com/office/drawing/2014/main" id="{DD16AD7F-62EC-A654-6C50-0161A3919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fb957f764_0_125:notes">
            <a:extLst>
              <a:ext uri="{FF2B5EF4-FFF2-40B4-BE49-F238E27FC236}">
                <a16:creationId xmlns:a16="http://schemas.microsoft.com/office/drawing/2014/main" id="{FD9704F0-D6E0-D957-793F-07378AD59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532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33B7DD-EDF2-3CB0-86B6-C2A221F00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b957f764_0_125:notes">
            <a:extLst>
              <a:ext uri="{FF2B5EF4-FFF2-40B4-BE49-F238E27FC236}">
                <a16:creationId xmlns:a16="http://schemas.microsoft.com/office/drawing/2014/main" id="{4F720F86-4B95-C0CA-0BE6-92B50F31B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fb957f764_0_125:notes">
            <a:extLst>
              <a:ext uri="{FF2B5EF4-FFF2-40B4-BE49-F238E27FC236}">
                <a16:creationId xmlns:a16="http://schemas.microsoft.com/office/drawing/2014/main" id="{21FFA4B1-7FD7-8E6B-DB24-33DF869BF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770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649D04-083F-F7FB-FAD2-87A2F7E2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fb957f764_0_125:notes">
            <a:extLst>
              <a:ext uri="{FF2B5EF4-FFF2-40B4-BE49-F238E27FC236}">
                <a16:creationId xmlns:a16="http://schemas.microsoft.com/office/drawing/2014/main" id="{E6B44F8E-35AB-C9BB-1E02-DD502DB438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fb957f764_0_125:notes">
            <a:extLst>
              <a:ext uri="{FF2B5EF4-FFF2-40B4-BE49-F238E27FC236}">
                <a16:creationId xmlns:a16="http://schemas.microsoft.com/office/drawing/2014/main" id="{E4206EB8-B207-23F7-C9AA-A0CDF402B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31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D0CCA82E-4E5C-30B1-2E24-AAD89876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fb957f764_0_109:notes">
            <a:extLst>
              <a:ext uri="{FF2B5EF4-FFF2-40B4-BE49-F238E27FC236}">
                <a16:creationId xmlns:a16="http://schemas.microsoft.com/office/drawing/2014/main" id="{67D317D7-E365-4AC5-5F0E-088E2EA37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fb957f764_0_109:notes">
            <a:extLst>
              <a:ext uri="{FF2B5EF4-FFF2-40B4-BE49-F238E27FC236}">
                <a16:creationId xmlns:a16="http://schemas.microsoft.com/office/drawing/2014/main" id="{60E87FC7-125F-0619-1EC9-6C6D06AAD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98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E6745BA3-EA5B-4B6B-2D5F-3C418278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fb957f764_0_109:notes">
            <a:extLst>
              <a:ext uri="{FF2B5EF4-FFF2-40B4-BE49-F238E27FC236}">
                <a16:creationId xmlns:a16="http://schemas.microsoft.com/office/drawing/2014/main" id="{A7C59620-6220-7118-3D0E-982344C69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fb957f764_0_109:notes">
            <a:extLst>
              <a:ext uri="{FF2B5EF4-FFF2-40B4-BE49-F238E27FC236}">
                <a16:creationId xmlns:a16="http://schemas.microsoft.com/office/drawing/2014/main" id="{78A2A8DE-2C76-91E3-06B0-09A9FA083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526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16512FA-3274-2278-4D78-65198D9A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fb957f764_0_109:notes">
            <a:extLst>
              <a:ext uri="{FF2B5EF4-FFF2-40B4-BE49-F238E27FC236}">
                <a16:creationId xmlns:a16="http://schemas.microsoft.com/office/drawing/2014/main" id="{4485F4AA-700E-DAD2-3903-FE5F47402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fb957f764_0_109:notes">
            <a:extLst>
              <a:ext uri="{FF2B5EF4-FFF2-40B4-BE49-F238E27FC236}">
                <a16:creationId xmlns:a16="http://schemas.microsoft.com/office/drawing/2014/main" id="{4480957C-5FD1-DFAD-315B-DDADDF690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6648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spcFirstLastPara="1" wrap="square" lIns="91050" tIns="91050" rIns="91050" bIns="9105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 title="21-334 uriel | רקעים מצגות-1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AA382ADB-E1E0-42E8-C5D9-F4EC095B0781}"/>
              </a:ext>
            </a:extLst>
          </p:cNvPr>
          <p:cNvSpPr txBox="1"/>
          <p:nvPr/>
        </p:nvSpPr>
        <p:spPr>
          <a:xfrm>
            <a:off x="1802803" y="1871305"/>
            <a:ext cx="5957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he-IL" sz="3200" b="1" dirty="0">
                <a:solidFill>
                  <a:schemeClr val="bg1"/>
                </a:solidFill>
                <a:latin typeface="Arial" panose="020B0604020202020204" pitchFamily="34" charset="0"/>
                <a:ea typeface="Assistant"/>
                <a:cs typeface="Arial" panose="020B0604020202020204" pitchFamily="34" charset="0"/>
                <a:sym typeface="Assistant"/>
              </a:rPr>
              <a:t>ישיבת מכירות – אוגוסט 26</a:t>
            </a:r>
            <a:endParaRPr sz="3200" b="1" dirty="0">
              <a:solidFill>
                <a:schemeClr val="bg1"/>
              </a:solidFill>
              <a:latin typeface="Arial" panose="020B0604020202020204" pitchFamily="34" charset="0"/>
              <a:ea typeface="Assistant"/>
              <a:cs typeface="Arial" panose="020B0604020202020204" pitchFamily="34" charset="0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 title="21-334 uriel _ רקעים מצגות-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6D6673C5-FEDA-F65F-E2C9-D91081F4264A}"/>
              </a:ext>
            </a:extLst>
          </p:cNvPr>
          <p:cNvSpPr txBox="1"/>
          <p:nvPr/>
        </p:nvSpPr>
        <p:spPr>
          <a:xfrm>
            <a:off x="1725685" y="1034023"/>
            <a:ext cx="595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he-IL" sz="2400" b="1" dirty="0">
                <a:solidFill>
                  <a:srgbClr val="002F6C"/>
                </a:solidFill>
                <a:latin typeface="Arial" panose="020B0604020202020204" pitchFamily="34" charset="0"/>
                <a:ea typeface="Assistant"/>
                <a:cs typeface="Arial" panose="020B0604020202020204" pitchFamily="34" charset="0"/>
                <a:sym typeface="Assistant"/>
              </a:rPr>
              <a:t>מכירות מול יעד – יולי 26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73F03775-EBE8-76AA-0CAF-EE57F0E933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981564"/>
              </p:ext>
            </p:extLst>
          </p:nvPr>
        </p:nvGraphicFramePr>
        <p:xfrm>
          <a:off x="2112287" y="1799102"/>
          <a:ext cx="4376057" cy="2263080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1075423">
                  <a:extLst>
                    <a:ext uri="{9D8B030D-6E8A-4147-A177-3AD203B41FA5}">
                      <a16:colId xmlns:a16="http://schemas.microsoft.com/office/drawing/2014/main" val="2128097304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490125775"/>
                    </a:ext>
                  </a:extLst>
                </a:gridCol>
                <a:gridCol w="1192809">
                  <a:extLst>
                    <a:ext uri="{9D8B030D-6E8A-4147-A177-3AD203B41FA5}">
                      <a16:colId xmlns:a16="http://schemas.microsoft.com/office/drawing/2014/main" val="1922679155"/>
                    </a:ext>
                  </a:extLst>
                </a:gridCol>
                <a:gridCol w="981154">
                  <a:extLst>
                    <a:ext uri="{9D8B030D-6E8A-4147-A177-3AD203B41FA5}">
                      <a16:colId xmlns:a16="http://schemas.microsoft.com/office/drawing/2014/main" val="2162498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סוכן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יעד</a:t>
                      </a:r>
                      <a:endParaRPr lang="he-IL" sz="1400" b="0" i="0" u="none" strike="noStrike" cap="none" dirty="0">
                        <a:solidFill>
                          <a:srgbClr val="002F6C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ביצוע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אחוז ביצוע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4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צפון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1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361,175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R="0"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he-IL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R="0"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he-IL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0536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דודו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1" fontAlgn="b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340,114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860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חיים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268,278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24742519"/>
                  </a:ext>
                </a:extLst>
              </a:tr>
              <a:tr h="422880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סטאס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281,275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9789439"/>
                  </a:ext>
                </a:extLst>
              </a:tr>
              <a:tr h="422880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סה"כ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1,250,884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endParaRPr lang="he-IL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235484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0E89930B-5B20-17B3-EB8B-592A2F3B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 title="21-334 uriel _ רקעים מצגות-03.png">
            <a:extLst>
              <a:ext uri="{FF2B5EF4-FFF2-40B4-BE49-F238E27FC236}">
                <a16:creationId xmlns:a16="http://schemas.microsoft.com/office/drawing/2014/main" id="{7FF64D0D-4BFC-BA37-D49B-71664FEC95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A4C15502-2952-EEBE-FFAE-4F0E3BEB5727}"/>
              </a:ext>
            </a:extLst>
          </p:cNvPr>
          <p:cNvSpPr txBox="1"/>
          <p:nvPr/>
        </p:nvSpPr>
        <p:spPr>
          <a:xfrm>
            <a:off x="1725685" y="1034023"/>
            <a:ext cx="595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he-IL" sz="2400" b="1" dirty="0">
                <a:solidFill>
                  <a:srgbClr val="002F6C"/>
                </a:solidFill>
                <a:latin typeface="Arial" panose="020B0604020202020204" pitchFamily="34" charset="0"/>
                <a:ea typeface="Assistant"/>
                <a:cs typeface="Arial" panose="020B0604020202020204" pitchFamily="34" charset="0"/>
                <a:sym typeface="Assistant"/>
              </a:rPr>
              <a:t>יעד אוגוסט  - 26 לפי סוכן</a:t>
            </a:r>
            <a:endParaRPr sz="2400" b="1" dirty="0">
              <a:solidFill>
                <a:srgbClr val="002F6C"/>
              </a:solidFill>
              <a:latin typeface="Arial" panose="020B0604020202020204" pitchFamily="34" charset="0"/>
              <a:ea typeface="Assistant"/>
              <a:cs typeface="Arial" panose="020B0604020202020204" pitchFamily="34" charset="0"/>
              <a:sym typeface="Assistant"/>
            </a:endParaRP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830A14C-D342-0703-16E0-6CA6BD1D1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641931"/>
              </p:ext>
            </p:extLst>
          </p:nvPr>
        </p:nvGraphicFramePr>
        <p:xfrm>
          <a:off x="3718101" y="1592610"/>
          <a:ext cx="1972268" cy="2409796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749632">
                  <a:extLst>
                    <a:ext uri="{9D8B030D-6E8A-4147-A177-3AD203B41FA5}">
                      <a16:colId xmlns:a16="http://schemas.microsoft.com/office/drawing/2014/main" val="2128097304"/>
                    </a:ext>
                  </a:extLst>
                </a:gridCol>
                <a:gridCol w="1222636">
                  <a:extLst>
                    <a:ext uri="{9D8B030D-6E8A-4147-A177-3AD203B41FA5}">
                      <a16:colId xmlns:a16="http://schemas.microsoft.com/office/drawing/2014/main" val="813053892"/>
                    </a:ext>
                  </a:extLst>
                </a:gridCol>
              </a:tblGrid>
              <a:tr h="399476"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סוכן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Arial"/>
                        </a:rPr>
                        <a:t>יעד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54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צפון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346,211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860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דוד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317,552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24742519"/>
                  </a:ext>
                </a:extLst>
              </a:tr>
              <a:tr h="42288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חיים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264,662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2991574"/>
                  </a:ext>
                </a:extLst>
              </a:tr>
              <a:tr h="42288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 err="1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סטאס</a:t>
                      </a:r>
                      <a:endParaRPr lang="he-IL" sz="1400" b="0" i="0" u="none" strike="noStrike" cap="none" dirty="0">
                        <a:solidFill>
                          <a:srgbClr val="002F6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257,074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9789439"/>
                  </a:ext>
                </a:extLst>
              </a:tr>
              <a:tr h="422880">
                <a:tc>
                  <a:txBody>
                    <a:bodyPr/>
                    <a:lstStyle/>
                    <a:p>
                      <a:pPr marL="0" marR="0" lvl="0" indent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he-IL" sz="1400" b="0" i="0" u="none" strike="noStrike" cap="none" dirty="0">
                          <a:solidFill>
                            <a:srgbClr val="002F6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/>
                        </a:rPr>
                        <a:t>סה"כ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1,185,500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1112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37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D3B777B-1017-80B8-71C0-CE456B23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 title="21-334 uriel _ רקעים מצגות-03.png">
            <a:extLst>
              <a:ext uri="{FF2B5EF4-FFF2-40B4-BE49-F238E27FC236}">
                <a16:creationId xmlns:a16="http://schemas.microsoft.com/office/drawing/2014/main" id="{FE0A6FE5-55B6-F567-483C-F9DE3E81D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95E1A7C2-1F67-918C-F790-D39D3F7E1335}"/>
              </a:ext>
            </a:extLst>
          </p:cNvPr>
          <p:cNvSpPr txBox="1"/>
          <p:nvPr/>
        </p:nvSpPr>
        <p:spPr>
          <a:xfrm>
            <a:off x="1725685" y="876300"/>
            <a:ext cx="595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he-IL" sz="2400" b="1" dirty="0">
                <a:solidFill>
                  <a:srgbClr val="002F6C"/>
                </a:solidFill>
                <a:latin typeface="Arial" panose="020B0604020202020204" pitchFamily="34" charset="0"/>
                <a:ea typeface="Assistant"/>
                <a:cs typeface="Arial" panose="020B0604020202020204" pitchFamily="34" charset="0"/>
                <a:sym typeface="Assistant"/>
              </a:rPr>
              <a:t>יעד אוגוסט 26</a:t>
            </a:r>
            <a:endParaRPr sz="2400" b="1" dirty="0">
              <a:solidFill>
                <a:srgbClr val="002F6C"/>
              </a:solidFill>
              <a:latin typeface="Arial" panose="020B0604020202020204" pitchFamily="34" charset="0"/>
              <a:ea typeface="Assistant"/>
              <a:cs typeface="Arial" panose="020B0604020202020204" pitchFamily="34" charset="0"/>
              <a:sym typeface="Assistant"/>
            </a:endParaRP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0ED23923-ACA7-A346-82D8-E47B29802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84108"/>
              </p:ext>
            </p:extLst>
          </p:nvPr>
        </p:nvGraphicFramePr>
        <p:xfrm>
          <a:off x="1913269" y="1606544"/>
          <a:ext cx="5957101" cy="2660660"/>
        </p:xfrm>
        <a:graphic>
          <a:graphicData uri="http://schemas.openxmlformats.org/drawingml/2006/table">
            <a:tbl>
              <a:tblPr rtl="1">
                <a:tableStyleId>{BC89EF96-8CEA-46FF-86C4-4CE0E7609802}</a:tableStyleId>
              </a:tblPr>
              <a:tblGrid>
                <a:gridCol w="2029967">
                  <a:extLst>
                    <a:ext uri="{9D8B030D-6E8A-4147-A177-3AD203B41FA5}">
                      <a16:colId xmlns:a16="http://schemas.microsoft.com/office/drawing/2014/main" val="3652406973"/>
                    </a:ext>
                  </a:extLst>
                </a:gridCol>
                <a:gridCol w="1119328">
                  <a:extLst>
                    <a:ext uri="{9D8B030D-6E8A-4147-A177-3AD203B41FA5}">
                      <a16:colId xmlns:a16="http://schemas.microsoft.com/office/drawing/2014/main" val="1988229441"/>
                    </a:ext>
                  </a:extLst>
                </a:gridCol>
                <a:gridCol w="1403903">
                  <a:extLst>
                    <a:ext uri="{9D8B030D-6E8A-4147-A177-3AD203B41FA5}">
                      <a16:colId xmlns:a16="http://schemas.microsoft.com/office/drawing/2014/main" val="2916633826"/>
                    </a:ext>
                  </a:extLst>
                </a:gridCol>
                <a:gridCol w="1403903">
                  <a:extLst>
                    <a:ext uri="{9D8B030D-6E8A-4147-A177-3AD203B41FA5}">
                      <a16:colId xmlns:a16="http://schemas.microsoft.com/office/drawing/2014/main" val="3924245725"/>
                    </a:ext>
                  </a:extLst>
                </a:gridCol>
              </a:tblGrid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סקטור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תקציב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מטרה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הפרש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16600687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סופרפארם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660,211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         599,500 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60,711-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2752128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BE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85,643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109,000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           23,357 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18292737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בתי מרקחת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186,252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218,000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31,748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51772302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מאוחדת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116,959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109,000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7,959-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23142524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מכוני אורטופדיה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177,087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         100,000 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</a:t>
                      </a:r>
                      <a:r>
                        <a:rPr lang="he-IL" sz="1400" u="none" strike="noStrike" dirty="0">
                          <a:effectLst/>
                        </a:rPr>
                        <a:t>           77,087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71690332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חנויות פרטיות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8,730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20,000  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11,270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3270481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בתי חולים ושרות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50,000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5,000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45,000-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80893226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מכוני פיזיותרפיה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17,460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25,000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 7,540 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33256830"/>
                  </a:ext>
                </a:extLst>
              </a:tr>
              <a:tr h="266066"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>
                          <a:effectLst/>
                        </a:rPr>
                        <a:t>סה"כ ישראל ללא אונליין</a:t>
                      </a:r>
                      <a:endParaRPr lang="he-IL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1,302,342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1,185,500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          116,842 - 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2342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349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34C9887-D13B-A1AB-75EE-A7D0B6F3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title="21-334 uriel | רקעים מצגות-05.png">
            <a:extLst>
              <a:ext uri="{FF2B5EF4-FFF2-40B4-BE49-F238E27FC236}">
                <a16:creationId xmlns:a16="http://schemas.microsoft.com/office/drawing/2014/main" id="{2AEB62B5-36CE-8740-D2C4-3A76B5FA72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6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07638A49-5E6F-CFBD-CBAE-DA4D918D5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41970"/>
              </p:ext>
            </p:extLst>
          </p:nvPr>
        </p:nvGraphicFramePr>
        <p:xfrm>
          <a:off x="1306284" y="822746"/>
          <a:ext cx="6090559" cy="3631698"/>
        </p:xfrm>
        <a:graphic>
          <a:graphicData uri="http://schemas.openxmlformats.org/drawingml/2006/table">
            <a:tbl>
              <a:tblPr rtl="1" firstRow="1" bandRow="1">
                <a:tableStyleId>{5940675A-B579-460E-94D1-54222C63F5DA}</a:tableStyleId>
              </a:tblPr>
              <a:tblGrid>
                <a:gridCol w="667032">
                  <a:extLst>
                    <a:ext uri="{9D8B030D-6E8A-4147-A177-3AD203B41FA5}">
                      <a16:colId xmlns:a16="http://schemas.microsoft.com/office/drawing/2014/main" val="774286025"/>
                    </a:ext>
                  </a:extLst>
                </a:gridCol>
                <a:gridCol w="1829357">
                  <a:extLst>
                    <a:ext uri="{9D8B030D-6E8A-4147-A177-3AD203B41FA5}">
                      <a16:colId xmlns:a16="http://schemas.microsoft.com/office/drawing/2014/main" val="2478088242"/>
                    </a:ext>
                  </a:extLst>
                </a:gridCol>
                <a:gridCol w="1709655">
                  <a:extLst>
                    <a:ext uri="{9D8B030D-6E8A-4147-A177-3AD203B41FA5}">
                      <a16:colId xmlns:a16="http://schemas.microsoft.com/office/drawing/2014/main" val="805080657"/>
                    </a:ext>
                  </a:extLst>
                </a:gridCol>
                <a:gridCol w="1884515">
                  <a:extLst>
                    <a:ext uri="{9D8B030D-6E8A-4147-A177-3AD203B41FA5}">
                      <a16:colId xmlns:a16="http://schemas.microsoft.com/office/drawing/2014/main" val="3408435194"/>
                    </a:ext>
                  </a:extLst>
                </a:gridCol>
              </a:tblGrid>
              <a:tr h="270454">
                <a:tc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734863"/>
                  </a:ext>
                </a:extLst>
              </a:tr>
              <a:tr h="440323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יעד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מכירות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אחוז ביצוע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871247"/>
                  </a:ext>
                </a:extLst>
              </a:tr>
              <a:tr h="577315">
                <a:tc>
                  <a:txBody>
                    <a:bodyPr/>
                    <a:lstStyle/>
                    <a:p>
                      <a:pPr algn="r" rtl="1"/>
                      <a:r>
                        <a:rPr lang="he-IL" sz="1200" dirty="0"/>
                        <a:t>צפון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151,717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9496805"/>
                  </a:ext>
                </a:extLst>
              </a:tr>
              <a:tr h="577315">
                <a:tc>
                  <a:txBody>
                    <a:bodyPr/>
                    <a:lstStyle/>
                    <a:p>
                      <a:pPr algn="r" rtl="1"/>
                      <a:r>
                        <a:rPr lang="he-IL" sz="1200" dirty="0"/>
                        <a:t>דודו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95,182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3081138"/>
                  </a:ext>
                </a:extLst>
              </a:tr>
              <a:tr h="577315">
                <a:tc>
                  <a:txBody>
                    <a:bodyPr/>
                    <a:lstStyle/>
                    <a:p>
                      <a:pPr algn="r" rtl="1"/>
                      <a:r>
                        <a:rPr lang="he-IL" sz="1200" dirty="0"/>
                        <a:t>חיים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131,752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he-IL" sz="14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3564287"/>
                  </a:ext>
                </a:extLst>
              </a:tr>
              <a:tr h="577315">
                <a:tc>
                  <a:txBody>
                    <a:bodyPr/>
                    <a:lstStyle/>
                    <a:p>
                      <a:pPr algn="r" rtl="1"/>
                      <a:r>
                        <a:rPr lang="he-IL" sz="1200" dirty="0" err="1"/>
                        <a:t>סטאס</a:t>
                      </a:r>
                      <a:endParaRPr lang="he-IL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1400" b="1" dirty="0"/>
                        <a:t>172,170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he-IL" sz="14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1299170"/>
                  </a:ext>
                </a:extLst>
              </a:tr>
              <a:tr h="577315">
                <a:tc>
                  <a:txBody>
                    <a:bodyPr/>
                    <a:lstStyle/>
                    <a:p>
                      <a:pPr algn="r" rtl="1"/>
                      <a:r>
                        <a:rPr lang="he-IL" sz="1200" dirty="0"/>
                        <a:t>סה"כ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e-IL" sz="14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     550,821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R="0"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he-IL" sz="14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R="0" algn="ctr" rtl="1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he-IL" sz="1400" b="1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17603886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3DD6B9B-9373-6565-27D3-5CCFA8CB1E82}"/>
              </a:ext>
            </a:extLst>
          </p:cNvPr>
          <p:cNvSpPr txBox="1"/>
          <p:nvPr/>
        </p:nvSpPr>
        <p:spPr>
          <a:xfrm>
            <a:off x="2170323" y="361081"/>
            <a:ext cx="480335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ביתא רוקחים </a:t>
            </a:r>
          </a:p>
        </p:txBody>
      </p:sp>
    </p:spTree>
    <p:extLst>
      <p:ext uri="{BB962C8B-B14F-4D97-AF65-F5344CB8AC3E}">
        <p14:creationId xmlns:p14="http://schemas.microsoft.com/office/powerpoint/2010/main" val="559914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7FAD175-6FCF-3838-2834-A56602BD9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1F69D48A-4D48-B98D-EA15-305A78379D4F}"/>
              </a:ext>
            </a:extLst>
          </p:cNvPr>
          <p:cNvSpPr txBox="1"/>
          <p:nvPr/>
        </p:nvSpPr>
        <p:spPr>
          <a:xfrm>
            <a:off x="1652531" y="495760"/>
            <a:ext cx="532114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ביתא רוקחים – מבצע יולי אוגוסט 26</a:t>
            </a:r>
            <a:endParaRPr lang="he-IL" sz="2400" b="1" dirty="0">
              <a:solidFill>
                <a:schemeClr val="tx1"/>
              </a:solidFill>
              <a:latin typeface="Assistant"/>
              <a:cs typeface="Assistant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6136CB2-61D0-9672-F7A2-EF0A35F5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103" y="957425"/>
            <a:ext cx="1612719" cy="1565468"/>
          </a:xfrm>
          <a:prstGeom prst="rect">
            <a:avLst/>
          </a:prstGeom>
        </p:spPr>
      </p:pic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E1208DE-94D7-0644-EA9D-A235B1A08CAE}"/>
              </a:ext>
            </a:extLst>
          </p:cNvPr>
          <p:cNvSpPr txBox="1"/>
          <p:nvPr/>
        </p:nvSpPr>
        <p:spPr>
          <a:xfrm>
            <a:off x="3405087" y="2620608"/>
            <a:ext cx="308875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/>
              <a:t>מבצע לרוקח 35% הנחה</a:t>
            </a:r>
          </a:p>
          <a:p>
            <a:endParaRPr lang="he-IL" dirty="0"/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D4727B4-2DED-7B2F-34E0-F38ADF0F7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158822"/>
              </p:ext>
            </p:extLst>
          </p:nvPr>
        </p:nvGraphicFramePr>
        <p:xfrm>
          <a:off x="2511062" y="3058244"/>
          <a:ext cx="4876800" cy="1854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53946579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4202114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684994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705845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סוכן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כמות לקוחות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לקוחות שקנו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כמות חגורות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31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40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12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90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341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79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8FF74AF-F661-4B9A-0538-E6DAE5FC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48C73FC4-B801-FC5C-1D84-456BF40B7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69012"/>
              </p:ext>
            </p:extLst>
          </p:nvPr>
        </p:nvGraphicFramePr>
        <p:xfrm>
          <a:off x="2286000" y="1063435"/>
          <a:ext cx="5240094" cy="1238893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1420772">
                  <a:extLst>
                    <a:ext uri="{9D8B030D-6E8A-4147-A177-3AD203B41FA5}">
                      <a16:colId xmlns:a16="http://schemas.microsoft.com/office/drawing/2014/main" val="774286025"/>
                    </a:ext>
                  </a:extLst>
                </a:gridCol>
                <a:gridCol w="1909661">
                  <a:extLst>
                    <a:ext uri="{9D8B030D-6E8A-4147-A177-3AD203B41FA5}">
                      <a16:colId xmlns:a16="http://schemas.microsoft.com/office/drawing/2014/main" val="3112930960"/>
                    </a:ext>
                  </a:extLst>
                </a:gridCol>
                <a:gridCol w="1909661">
                  <a:extLst>
                    <a:ext uri="{9D8B030D-6E8A-4147-A177-3AD203B41FA5}">
                      <a16:colId xmlns:a16="http://schemas.microsoft.com/office/drawing/2014/main" val="1956802969"/>
                    </a:ext>
                  </a:extLst>
                </a:gridCol>
              </a:tblGrid>
              <a:tr h="361109">
                <a:tc>
                  <a:txBody>
                    <a:bodyPr/>
                    <a:lstStyle/>
                    <a:p>
                      <a:pPr algn="r" rtl="1"/>
                      <a:endParaRPr lang="he-I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he-I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he-I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734863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מבצע רשתי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פריט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הזדכות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148737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מבצע אוגוסט ב'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אפיק ג'ל ב- 40% הנחה לצרכן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4.6 ₪ ליחידה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97891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7CC9DE8-FA2D-2FED-5F6F-60E112405AD8}"/>
              </a:ext>
            </a:extLst>
          </p:cNvPr>
          <p:cNvSpPr txBox="1"/>
          <p:nvPr/>
        </p:nvSpPr>
        <p:spPr>
          <a:xfrm>
            <a:off x="2701002" y="446774"/>
            <a:ext cx="399912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מבצע סופרפארם – אוגוסט 26</a:t>
            </a:r>
          </a:p>
        </p:txBody>
      </p:sp>
      <p:graphicFrame>
        <p:nvGraphicFramePr>
          <p:cNvPr id="7" name="טבלה 6">
            <a:extLst>
              <a:ext uri="{FF2B5EF4-FFF2-40B4-BE49-F238E27FC236}">
                <a16:creationId xmlns:a16="http://schemas.microsoft.com/office/drawing/2014/main" id="{FD0BC2E8-6E3C-6D24-1040-C370A80C5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112831"/>
              </p:ext>
            </p:extLst>
          </p:nvPr>
        </p:nvGraphicFramePr>
        <p:xfrm>
          <a:off x="1142672" y="2571750"/>
          <a:ext cx="6858656" cy="1925320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686582603"/>
                    </a:ext>
                  </a:extLst>
                </a:gridCol>
                <a:gridCol w="1409449">
                  <a:extLst>
                    <a:ext uri="{9D8B030D-6E8A-4147-A177-3AD203B41FA5}">
                      <a16:colId xmlns:a16="http://schemas.microsoft.com/office/drawing/2014/main" val="2531437952"/>
                    </a:ext>
                  </a:extLst>
                </a:gridCol>
                <a:gridCol w="1534885">
                  <a:extLst>
                    <a:ext uri="{9D8B030D-6E8A-4147-A177-3AD203B41FA5}">
                      <a16:colId xmlns:a16="http://schemas.microsoft.com/office/drawing/2014/main" val="3579957025"/>
                    </a:ext>
                  </a:extLst>
                </a:gridCol>
                <a:gridCol w="816429">
                  <a:extLst>
                    <a:ext uri="{9D8B030D-6E8A-4147-A177-3AD203B41FA5}">
                      <a16:colId xmlns:a16="http://schemas.microsoft.com/office/drawing/2014/main" val="302192256"/>
                    </a:ext>
                  </a:extLst>
                </a:gridCol>
                <a:gridCol w="987879">
                  <a:extLst>
                    <a:ext uri="{9D8B030D-6E8A-4147-A177-3AD203B41FA5}">
                      <a16:colId xmlns:a16="http://schemas.microsoft.com/office/drawing/2014/main" val="2668214875"/>
                    </a:ext>
                  </a:extLst>
                </a:gridCol>
                <a:gridCol w="1094014">
                  <a:extLst>
                    <a:ext uri="{9D8B030D-6E8A-4147-A177-3AD203B41FA5}">
                      <a16:colId xmlns:a16="http://schemas.microsoft.com/office/drawing/2014/main" val="933971252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מבצע מקומי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45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 פריט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ברקוד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 פריט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מבצע לרשת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כמות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מבצע לצרכן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1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FC333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7297046710526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‏תרסיס‏ דיאודורנט לנעל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30% הנחה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48 יחידות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2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FC334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7297046790115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1" fontAlgn="b">
                        <a:buNone/>
                      </a:pPr>
                      <a:r>
                        <a:rPr lang="he-IL" sz="1400" u="none" strike="noStrike" dirty="0">
                          <a:effectLst/>
                        </a:rPr>
                        <a:t>‏תרסיס‏ ‏דיאודורנט‏ ‏לכף‏ ‏רגל</a:t>
                      </a:r>
                      <a:endParaRPr lang="he-IL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30% הנחה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1+1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450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175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3BDD3E2-93CD-49F4-7761-D876340E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8F23620-3A37-E292-05DB-DE0737C6E2A4}"/>
              </a:ext>
            </a:extLst>
          </p:cNvPr>
          <p:cNvSpPr txBox="1"/>
          <p:nvPr/>
        </p:nvSpPr>
        <p:spPr>
          <a:xfrm>
            <a:off x="2170323" y="495760"/>
            <a:ext cx="399912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מבצע פרטיים – אוגוסט 26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EEC33FE8-FEA2-4AAF-4328-CA0F41C6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76517"/>
              </p:ext>
            </p:extLst>
          </p:nvPr>
        </p:nvGraphicFramePr>
        <p:xfrm>
          <a:off x="1306287" y="1184729"/>
          <a:ext cx="6313713" cy="1854200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2104571">
                  <a:extLst>
                    <a:ext uri="{9D8B030D-6E8A-4147-A177-3AD203B41FA5}">
                      <a16:colId xmlns:a16="http://schemas.microsoft.com/office/drawing/2014/main" val="2145407067"/>
                    </a:ext>
                  </a:extLst>
                </a:gridCol>
                <a:gridCol w="2104571">
                  <a:extLst>
                    <a:ext uri="{9D8B030D-6E8A-4147-A177-3AD203B41FA5}">
                      <a16:colId xmlns:a16="http://schemas.microsoft.com/office/drawing/2014/main" val="1744733267"/>
                    </a:ext>
                  </a:extLst>
                </a:gridCol>
                <a:gridCol w="2104571">
                  <a:extLst>
                    <a:ext uri="{9D8B030D-6E8A-4147-A177-3AD203B41FA5}">
                      <a16:colId xmlns:a16="http://schemas.microsoft.com/office/drawing/2014/main" val="3951234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פריט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מבצע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התניות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65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 err="1"/>
                        <a:t>סיליקונים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35% הנחה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בקניית 40 יחידות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8249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תרסיס לנעל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5+1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0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תרסיס לרגל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5+1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572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רפידות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35% הנחה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בקניית 6 יחידות מסוג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726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75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8E8A248-299E-A442-CEE9-B223743F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55C7FC67-3373-DC2C-C5D3-2A5172AE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93985"/>
              </p:ext>
            </p:extLst>
          </p:nvPr>
        </p:nvGraphicFramePr>
        <p:xfrm>
          <a:off x="2714935" y="1181942"/>
          <a:ext cx="3454511" cy="2779616"/>
        </p:xfrm>
        <a:graphic>
          <a:graphicData uri="http://schemas.openxmlformats.org/drawingml/2006/table">
            <a:tbl>
              <a:tblPr rtl="1" firstRow="1" bandRow="1">
                <a:tableStyleId>{BC89EF96-8CEA-46FF-86C4-4CE0E7609802}</a:tableStyleId>
              </a:tblPr>
              <a:tblGrid>
                <a:gridCol w="1473704">
                  <a:extLst>
                    <a:ext uri="{9D8B030D-6E8A-4147-A177-3AD203B41FA5}">
                      <a16:colId xmlns:a16="http://schemas.microsoft.com/office/drawing/2014/main" val="774286025"/>
                    </a:ext>
                  </a:extLst>
                </a:gridCol>
                <a:gridCol w="1980807">
                  <a:extLst>
                    <a:ext uri="{9D8B030D-6E8A-4147-A177-3AD203B41FA5}">
                      <a16:colId xmlns:a16="http://schemas.microsoft.com/office/drawing/2014/main" val="3112930960"/>
                    </a:ext>
                  </a:extLst>
                </a:gridCol>
              </a:tblGrid>
              <a:tr h="269897">
                <a:tc>
                  <a:txBody>
                    <a:bodyPr/>
                    <a:lstStyle/>
                    <a:p>
                      <a:pPr algn="r" rtl="1"/>
                      <a:endParaRPr lang="he-I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he-I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734863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פריט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מבצע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148737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CTS 213</a:t>
                      </a:r>
                      <a:r>
                        <a:rPr lang="he-IL" dirty="0"/>
                        <a:t> ימין ושמאל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מחיר מיוחד 90 ₪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97891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SH422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מחיר מיוחד 120 ₪ ובנוסף 10+2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931840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SH333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מחיר מיוחד 60 ₪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87944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SH776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מחיר מיוחד 350 ₪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55342"/>
                  </a:ext>
                </a:extLst>
              </a:tr>
              <a:tr h="359624">
                <a:tc>
                  <a:txBody>
                    <a:bodyPr/>
                    <a:lstStyle/>
                    <a:p>
                      <a:pPr algn="r" rtl="1"/>
                      <a:endParaRPr lang="he-IL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he-IL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938908"/>
                  </a:ext>
                </a:extLst>
              </a:tr>
            </a:tbl>
          </a:graphicData>
        </a:graphic>
      </p:graphicFrame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6525306-41AE-BA31-99A8-EA7213C2D16B}"/>
              </a:ext>
            </a:extLst>
          </p:cNvPr>
          <p:cNvSpPr txBox="1"/>
          <p:nvPr/>
        </p:nvSpPr>
        <p:spPr>
          <a:xfrm>
            <a:off x="2170323" y="495760"/>
            <a:ext cx="399912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מבצע מכונים – אוגוסט 26</a:t>
            </a:r>
          </a:p>
        </p:txBody>
      </p:sp>
    </p:spTree>
    <p:extLst>
      <p:ext uri="{BB962C8B-B14F-4D97-AF65-F5344CB8AC3E}">
        <p14:creationId xmlns:p14="http://schemas.microsoft.com/office/powerpoint/2010/main" val="423477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0142DCA-A3A8-2C72-A8CE-18A85794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21-334 uriel | רקעים מצגות-08.png">
            <a:extLst>
              <a:ext uri="{FF2B5EF4-FFF2-40B4-BE49-F238E27FC236}">
                <a16:creationId xmlns:a16="http://schemas.microsoft.com/office/drawing/2014/main" id="{2857C2E1-813C-10A9-2A35-EF8BB6D24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6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66B414E6-43F7-D3D8-6916-99C23746C567}"/>
              </a:ext>
            </a:extLst>
          </p:cNvPr>
          <p:cNvSpPr txBox="1"/>
          <p:nvPr/>
        </p:nvSpPr>
        <p:spPr>
          <a:xfrm>
            <a:off x="721478" y="1065487"/>
            <a:ext cx="595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he-IL" sz="2400" b="1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תגמול רבעוני</a:t>
            </a:r>
            <a:endParaRPr sz="2400" b="1" dirty="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" name="Google Shape;84;g341c3af2acd_1_78">
            <a:extLst>
              <a:ext uri="{FF2B5EF4-FFF2-40B4-BE49-F238E27FC236}">
                <a16:creationId xmlns:a16="http://schemas.microsoft.com/office/drawing/2014/main" id="{476FFE52-BD07-44AF-288E-45FA5EDED935}"/>
              </a:ext>
            </a:extLst>
          </p:cNvPr>
          <p:cNvSpPr txBox="1"/>
          <p:nvPr/>
        </p:nvSpPr>
        <p:spPr>
          <a:xfrm>
            <a:off x="6786390" y="2089855"/>
            <a:ext cx="1673314" cy="189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לקוחות חדשים</a:t>
            </a: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יעד חודשי לכל סוכן  – 3 לקוחות</a:t>
            </a:r>
          </a:p>
          <a:p>
            <a:pPr algn="r" rtl="1"/>
            <a:endParaRPr lang="he-I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המדידה תיעשה בנוסף לכל חודש גם ברמה רבעונית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2F6C"/>
              </a:solidFill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3EA0861-A35F-4B0A-4A75-890CA54A69A1}"/>
              </a:ext>
            </a:extLst>
          </p:cNvPr>
          <p:cNvSpPr txBox="1"/>
          <p:nvPr/>
        </p:nvSpPr>
        <p:spPr>
          <a:xfrm>
            <a:off x="4639352" y="2089855"/>
            <a:ext cx="192795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תגמול לייף</a:t>
            </a:r>
          </a:p>
          <a:p>
            <a:pPr algn="r"/>
            <a:r>
              <a:rPr lang="he-I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ינתן</a:t>
            </a: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יעד למוצרי לייף עם תגמול מסופרפארם </a:t>
            </a:r>
          </a:p>
          <a:p>
            <a:pPr algn="r"/>
            <a:endParaRPr lang="he-IL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אנו עובדים על תכנית יעדים ומחכים לאישור סופרפארם </a:t>
            </a:r>
          </a:p>
        </p:txBody>
      </p:sp>
    </p:spTree>
    <p:extLst>
      <p:ext uri="{BB962C8B-B14F-4D97-AF65-F5344CB8AC3E}">
        <p14:creationId xmlns:p14="http://schemas.microsoft.com/office/powerpoint/2010/main" val="4115349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1A6CE63-CA10-10AB-4B01-8A307512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21-334 uriel | רקעים מצגות-08.png">
            <a:extLst>
              <a:ext uri="{FF2B5EF4-FFF2-40B4-BE49-F238E27FC236}">
                <a16:creationId xmlns:a16="http://schemas.microsoft.com/office/drawing/2014/main" id="{2E5E085E-D87E-C469-EB29-65F9F47C79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46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g341c3af2acd_1_217">
            <a:extLst>
              <a:ext uri="{FF2B5EF4-FFF2-40B4-BE49-F238E27FC236}">
                <a16:creationId xmlns:a16="http://schemas.microsoft.com/office/drawing/2014/main" id="{720E713C-8D47-7E91-8EB3-6983A16EAC35}"/>
              </a:ext>
            </a:extLst>
          </p:cNvPr>
          <p:cNvSpPr txBox="1"/>
          <p:nvPr/>
        </p:nvSpPr>
        <p:spPr>
          <a:xfrm>
            <a:off x="721478" y="1065487"/>
            <a:ext cx="5957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400" b="1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To Do list</a:t>
            </a:r>
            <a:endParaRPr sz="2400" b="1" dirty="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" name="Google Shape;84;g341c3af2acd_1_78">
            <a:extLst>
              <a:ext uri="{FF2B5EF4-FFF2-40B4-BE49-F238E27FC236}">
                <a16:creationId xmlns:a16="http://schemas.microsoft.com/office/drawing/2014/main" id="{39A38F6B-B8FA-BAAD-12FE-D2CACED03F78}"/>
              </a:ext>
            </a:extLst>
          </p:cNvPr>
          <p:cNvSpPr txBox="1"/>
          <p:nvPr/>
        </p:nvSpPr>
        <p:spPr>
          <a:xfrm>
            <a:off x="6786390" y="2089855"/>
            <a:ext cx="1673314" cy="189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לייף</a:t>
            </a: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394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המשך תפעול הסניפים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2F6C"/>
              </a:solidFill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E5843B4-95E7-FE24-23CD-650E3B2D662E}"/>
              </a:ext>
            </a:extLst>
          </p:cNvPr>
          <p:cNvSpPr txBox="1"/>
          <p:nvPr/>
        </p:nvSpPr>
        <p:spPr>
          <a:xfrm>
            <a:off x="4639352" y="2089855"/>
            <a:ext cx="192795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סופרפארם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647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תפעול מלא של הסניפים וקידום תצוגות אקסטרה</a:t>
            </a:r>
          </a:p>
          <a:p>
            <a:pPr algn="r" rtl="1"/>
            <a:endParaRPr lang="he-IL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וידוא הקלדת המלצות 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97CBA0B-88B4-AEED-BC78-0B6CF5917C11}"/>
              </a:ext>
            </a:extLst>
          </p:cNvPr>
          <p:cNvSpPr txBox="1"/>
          <p:nvPr/>
        </p:nvSpPr>
        <p:spPr>
          <a:xfrm>
            <a:off x="2465275" y="2100872"/>
            <a:ext cx="210672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כללית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486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סידור התצוגה עפ"י </a:t>
            </a:r>
            <a:r>
              <a:rPr lang="he-IL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הפלנוגרמה</a:t>
            </a: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השארת המלצה.</a:t>
            </a: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החלפת סטנדים ישנים</a:t>
            </a:r>
          </a:p>
          <a:p>
            <a:pPr algn="r" rtl="1"/>
            <a:r>
              <a:rPr lang="he-I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r" rtl="1"/>
            <a:r>
              <a:rPr lang="he-IL" sz="1300" dirty="0">
                <a:solidFill>
                  <a:schemeClr val="tx1"/>
                </a:solidFill>
                <a:latin typeface="Assistant"/>
                <a:cs typeface="Assistant"/>
              </a:rPr>
              <a:t> 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AB272F3-FFEA-2107-FCE8-3BE11F49E24B}"/>
              </a:ext>
            </a:extLst>
          </p:cNvPr>
          <p:cNvSpPr txBox="1"/>
          <p:nvPr/>
        </p:nvSpPr>
        <p:spPr>
          <a:xfrm>
            <a:off x="441301" y="2114094"/>
            <a:ext cx="202397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בתי מרקחת פרטיים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תפעול הנקודות הפעילות תוך התמקדות בבתי המרקחת החזקים.</a:t>
            </a: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פתיחת נקודות חדשות 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 לקוחות לכל סוכן)</a:t>
            </a:r>
          </a:p>
        </p:txBody>
      </p:sp>
    </p:spTree>
    <p:extLst>
      <p:ext uri="{BB962C8B-B14F-4D97-AF65-F5344CB8AC3E}">
        <p14:creationId xmlns:p14="http://schemas.microsoft.com/office/powerpoint/2010/main" val="2802355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B022051-A71F-C669-CE07-5AF1F92B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title="21-334 uriel | רקעים מצגות-08.png">
            <a:extLst>
              <a:ext uri="{FF2B5EF4-FFF2-40B4-BE49-F238E27FC236}">
                <a16:creationId xmlns:a16="http://schemas.microsoft.com/office/drawing/2014/main" id="{2E0744D4-6BFF-ECE7-69FE-7A4B0C59AD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4;g341c3af2acd_1_78">
            <a:extLst>
              <a:ext uri="{FF2B5EF4-FFF2-40B4-BE49-F238E27FC236}">
                <a16:creationId xmlns:a16="http://schemas.microsoft.com/office/drawing/2014/main" id="{13749926-0209-5D67-C87D-317C5EE6FD5F}"/>
              </a:ext>
            </a:extLst>
          </p:cNvPr>
          <p:cNvSpPr txBox="1"/>
          <p:nvPr/>
        </p:nvSpPr>
        <p:spPr>
          <a:xfrm>
            <a:off x="6786390" y="2089855"/>
            <a:ext cx="1673314" cy="189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endParaRPr lang="he-IL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תפעול מלא של הסניפים וקידום תצוגות אקסטרה.</a:t>
            </a: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וידוא הקלדת המלצות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2F6C"/>
              </a:solidFill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22E6AC0-6FEB-FE9E-785E-D88E17288FF1}"/>
              </a:ext>
            </a:extLst>
          </p:cNvPr>
          <p:cNvSpPr txBox="1"/>
          <p:nvPr/>
        </p:nvSpPr>
        <p:spPr>
          <a:xfrm>
            <a:off x="4639352" y="2089855"/>
            <a:ext cx="192795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מאוחדת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273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פריסה מלאה ודיוק התצוגות בבתי המרקחת של הקופה.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C9D70A61-8B62-6304-EDAC-1610C9E9AE14}"/>
              </a:ext>
            </a:extLst>
          </p:cNvPr>
          <p:cNvSpPr txBox="1"/>
          <p:nvPr/>
        </p:nvSpPr>
        <p:spPr>
          <a:xfrm>
            <a:off x="2465275" y="2100872"/>
            <a:ext cx="21067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מכונים </a:t>
            </a:r>
            <a:r>
              <a:rPr lang="he-IL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אוטופדיים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460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אשח</a:t>
            </a:r>
            <a:endParaRPr lang="he-IL" b="1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מוצרים חדשים</a:t>
            </a:r>
          </a:p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פתיחת לקוחות חדשים</a:t>
            </a:r>
            <a:endParaRPr lang="he-IL" sz="1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A9DB71A-DBA3-8259-D232-5B1B8CD4B143}"/>
              </a:ext>
            </a:extLst>
          </p:cNvPr>
          <p:cNvSpPr txBox="1"/>
          <p:nvPr/>
        </p:nvSpPr>
        <p:spPr>
          <a:xfrm>
            <a:off x="793839" y="2100872"/>
            <a:ext cx="1561894" cy="8002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סה"כ </a:t>
            </a:r>
          </a:p>
          <a:p>
            <a:pPr algn="r" rtl="1"/>
            <a:r>
              <a:rPr lang="he-IL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חסר לנו מול תקציב</a:t>
            </a:r>
          </a:p>
          <a:p>
            <a:pPr algn="r" rtl="1"/>
            <a:r>
              <a:rPr lang="he-IL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2,523 </a:t>
            </a:r>
            <a:r>
              <a:rPr lang="he-IL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אש"ח</a:t>
            </a:r>
            <a:r>
              <a:rPr lang="he-I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0573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_ רקעים מצגות-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"/>
            <a:ext cx="9144000" cy="514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445</Words>
  <Application>Microsoft Office PowerPoint</Application>
  <PresentationFormat>‫הצגה על המסך (16:9)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9" baseType="lpstr">
      <vt:lpstr>Arial</vt:lpstr>
      <vt:lpstr>Assistant</vt:lpstr>
      <vt:lpstr>Calibri</vt:lpstr>
      <vt:lpstr>Tahoma</vt:lpstr>
      <vt:lpstr>Wingdings</vt:lpstr>
      <vt:lpstr>Simple Light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 Cohen</dc:creator>
  <cp:lastModifiedBy>Eyal Sadot</cp:lastModifiedBy>
  <cp:revision>38</cp:revision>
  <cp:lastPrinted>2026-06-29T06:38:19Z</cp:lastPrinted>
  <dcterms:modified xsi:type="dcterms:W3CDTF">2026-08-01T10:39:06Z</dcterms:modified>
</cp:coreProperties>
</file>