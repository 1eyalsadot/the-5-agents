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s/modernComment_118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80" r:id="rId2"/>
    <p:sldId id="347" r:id="rId3"/>
    <p:sldId id="256" r:id="rId4"/>
    <p:sldId id="257" r:id="rId5"/>
    <p:sldId id="273" r:id="rId6"/>
    <p:sldId id="275" r:id="rId7"/>
    <p:sldId id="258" r:id="rId8"/>
    <p:sldId id="259" r:id="rId9"/>
  </p:sldIdLst>
  <p:sldSz cx="12192000" cy="6858000"/>
  <p:notesSz cx="6858000" cy="9144000"/>
  <p:defaultText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213CD0-03F1-3C81-3727-0B5A77B8EA9C}" name="Dana Cohen" initials="DC" userId="S::Dana@uriel.co.il::504f8ca9-898f-4791-acac-da0d2a0378f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0D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סגנון ביניים 2 - הדגשה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83"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8/10/relationships/authors" Target="authors.xml"/></Relationships>
</file>

<file path=ppt/comments/modernComment_118_0.xml><?xml version="1.0" encoding="utf-8"?>
<p188:cmLst xmlns:a="http://schemas.openxmlformats.org/drawingml/2006/main" xmlns:r="http://schemas.openxmlformats.org/officeDocument/2006/relationships" xmlns:p188="http://schemas.microsoft.com/office/powerpoint/2018/8/main">
  <p188:cm id="{548ACCF9-9517-4537-8395-7555795F7FDB}" authorId="{A7213CD0-03F1-3C81-3727-0B5A77B8EA9C}" created="2023-01-03T18:31:11.977">
    <pc:sldMkLst xmlns:pc="http://schemas.microsoft.com/office/powerpoint/2013/main/command">
      <pc:docMk/>
      <pc:sldMk cId="0" sldId="280"/>
    </pc:sldMkLst>
    <p188:txBody>
      <a:bodyPr/>
      <a:lstStyle/>
      <a:p>
        <a:r>
          <a:rPr lang="he-IL"/>
          <a:t>בוקר טוב! שמחה ומתרגשת להגיע היום אליכם,
שמי דנה כהן, סמנכ"ל השיווק ב URIEL,
בהכשרתי המקצועית אני נטורופתית, ואת התמחותי המקצועית כמנהלת השיווק לאורך השנים עשיתי בקטגוריית הבריאות, החל מחברות בתחום תוספי התזונה ועד URIEL.
היום הגעתי כדי להכיר לכם את המותג אוריאל, המותג המוביל בישראל למוצרי אורתופדיה וכף רגל, אבל יותר מזה,
מותג שמתמחה בתנועה, רגע, מחדדת, מותג שמתמחה בלאפשר תנועה.
את השעות הקרובות נבלה יחד, אביא לכם סקירה רחבה ומעניינת על 2 הקטגוריות הראשיות שלנו, מוצרי תמיכה ואורתופדיה ומוצרי כף הרגל, תפגשו הרבה מידע מעניין ועשרות מוצרים, אני לא מצפה שתזכרו אותם, המסר החשוב שלי אליכם היום ש URIEL הוא one stop shop לכל התחום, מצוואר ועד כף רגל, מילדים ועד הגיל השלישי, מהריוניות ועד ספורטאים.
לכל אחד, בכל גיל ובכל שלב בחיים.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3655D5-7B76-BDB2-D9B2-433ECE4B24D1}"/>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C163DF22-3979-AEED-67F9-FFA6CD8B4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FDF4C6B0-6865-9368-4A2A-5F992B973D8B}"/>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C91AE897-159A-FE08-2B04-BEA2D209F8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42E9A4F-16BB-D175-FAA5-3926D3C0033E}"/>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817541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82531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B75F83-BCB1-4B12-A816-9BFA8C0D45F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C5416C64-EEAC-E597-C67C-862853125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76EB92B-E76E-FBAB-C215-1FC745F3AA25}"/>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FAC925C5-1874-EC92-1041-5CB03A9712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744C32C-730C-AAA6-1858-8CFC9B043813}"/>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42257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961AAB-9C72-2379-0782-0BA4AD4A4E7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77F69A76-C002-A3EA-DCCD-1FABDD769BF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82C4C56E-D457-2853-96BA-3127F904DB7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B0DEA4C6-3BF0-4249-2C99-647166635D3E}"/>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6" name="מציין מיקום של כותרת תחתונה 5">
            <a:extLst>
              <a:ext uri="{FF2B5EF4-FFF2-40B4-BE49-F238E27FC236}">
                <a16:creationId xmlns:a16="http://schemas.microsoft.com/office/drawing/2014/main" id="{6455BA81-6A9D-13D2-A593-7A87C28EB78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122330C-FF64-3101-BE69-02E15C63124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39902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5C1FAC-5FF4-0B59-4531-3DD3B20D97D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2B1611AB-ABBA-DA78-AB2E-3CD2D420A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78590BE-75B3-1AD8-1BA7-297B072F5A7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A85205DA-C2D3-42C8-876B-BE88FEC67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BBE61D1-0D81-A7BF-82F1-8C9AACAE800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BE35E78D-9F79-340D-2AFF-FC6C7F03613C}"/>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8" name="מציין מיקום של כותרת תחתונה 7">
            <a:extLst>
              <a:ext uri="{FF2B5EF4-FFF2-40B4-BE49-F238E27FC236}">
                <a16:creationId xmlns:a16="http://schemas.microsoft.com/office/drawing/2014/main" id="{9CB09053-5BDF-1BC5-0BB4-09B3C7D8355D}"/>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2ADDDC0-B589-4E9A-8A3E-2F1BCBFAB7F9}"/>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76705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BF8E03-04EC-D433-5A50-C8DBBEF2DDF8}"/>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80D2DE77-9B1D-A8F6-39F2-83AB364C84E8}"/>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4" name="מציין מיקום של כותרת תחתונה 3">
            <a:extLst>
              <a:ext uri="{FF2B5EF4-FFF2-40B4-BE49-F238E27FC236}">
                <a16:creationId xmlns:a16="http://schemas.microsoft.com/office/drawing/2014/main" id="{76EB72B3-36E6-629C-E1BB-B7FE2C080499}"/>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49DA9D9B-DDFF-886C-E62B-5016B02FA06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422584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3C9AF8F-1C68-F68D-8E47-5099453F8B24}"/>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3" name="מציין מיקום של כותרת תחתונה 2">
            <a:extLst>
              <a:ext uri="{FF2B5EF4-FFF2-40B4-BE49-F238E27FC236}">
                <a16:creationId xmlns:a16="http://schemas.microsoft.com/office/drawing/2014/main" id="{A8C2006C-C864-1BCA-350D-776A6C90DB05}"/>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B80805E-A7D9-59B1-F7FE-DB493EB7E825}"/>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88749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B6E9FD-BDCA-8615-5C76-9AE4554849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9BEE56B-884A-FF20-6F16-78E1FFA482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1318CFB7-7D0E-5FF6-195E-0D12C73D7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A9EA98F-4AB6-617B-0ACB-46F84A97ADE2}"/>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6" name="מציין מיקום של כותרת תחתונה 5">
            <a:extLst>
              <a:ext uri="{FF2B5EF4-FFF2-40B4-BE49-F238E27FC236}">
                <a16:creationId xmlns:a16="http://schemas.microsoft.com/office/drawing/2014/main" id="{B5323F00-1778-747D-4CA3-7BE566ED1AE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2B465A2-907D-FB84-6055-CBFCE4DE316C}"/>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6374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FA106A-289E-871F-F5F5-8CC8CADFDC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BEA8EC99-AB5D-08CE-C63E-479D1F26A8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BB75CA46-2A8A-A500-73E6-574585B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9CE62B9-52EE-063D-A438-9E61AE1518C8}"/>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6" name="מציין מיקום של כותרת תחתונה 5">
            <a:extLst>
              <a:ext uri="{FF2B5EF4-FFF2-40B4-BE49-F238E27FC236}">
                <a16:creationId xmlns:a16="http://schemas.microsoft.com/office/drawing/2014/main" id="{AA824396-F9DB-75DA-33C9-2B779900C1D4}"/>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C378360-5782-0A4E-2B7D-485BDFF835B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087860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DEF039-C6BC-A819-D595-4A20803C28B3}"/>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03D74BD-55F5-0C77-6FD9-0CF39A901E5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5DAA8960-576B-9503-F8FD-760E173FB6AE}"/>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6A77FD7E-A75B-13CC-CDBB-C7134997A07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3E207FB3-3023-8836-8CD2-AEE0C530BD50}"/>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1150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133AF92A-CF65-F8BD-9C54-9BD4A8F66AF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E3758F1-E76F-F635-23AE-297B21E242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53EEDB9-1BD2-CF0C-1B70-668C29D410A6}"/>
              </a:ext>
            </a:extLst>
          </p:cNvPr>
          <p:cNvSpPr>
            <a:spLocks noGrp="1"/>
          </p:cNvSpPr>
          <p:nvPr>
            <p:ph type="dt" sz="half" idx="10"/>
          </p:nvPr>
        </p:nvSpPr>
        <p:spPr/>
        <p:txBody>
          <a:body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FC81EF60-A0DC-1B56-1082-11B50107110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74F17FA-932C-6CCC-0DA8-3922C316EA71}"/>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52555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8" name="Title Text"/>
          <p:cNvSpPr txBox="1">
            <a:spLocks noGrp="1"/>
          </p:cNvSpPr>
          <p:nvPr>
            <p:ph type="title"/>
          </p:nvPr>
        </p:nvSpPr>
        <p:spPr>
          <a:prstGeom prst="rect">
            <a:avLst/>
          </a:prstGeom>
        </p:spPr>
        <p:txBody>
          <a:bodyPr/>
          <a:lstStyle/>
          <a:p>
            <a:r>
              <a:t>Title Text</a:t>
            </a:r>
          </a:p>
        </p:txBody>
      </p:sp>
      <p:sp>
        <p:nvSpPr>
          <p:cNvPr id="1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15962314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DF0BBCCB-73E7-59B5-1FA6-454B65360E3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956500C-A04C-EC5C-FB8B-FB20266DF7A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44FF6E-D523-BBE0-054B-C69A1CA7934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6AAF1C5-50B2-4937-8234-44C132520904}" type="datetimeFigureOut">
              <a:rPr lang="en-IL" smtClean="0"/>
              <a:t>08/02/2026</a:t>
            </a:fld>
            <a:endParaRPr lang="en-IL"/>
          </a:p>
        </p:txBody>
      </p:sp>
      <p:sp>
        <p:nvSpPr>
          <p:cNvPr id="5" name="מציין מיקום של כותרת תחתונה 4">
            <a:extLst>
              <a:ext uri="{FF2B5EF4-FFF2-40B4-BE49-F238E27FC236}">
                <a16:creationId xmlns:a16="http://schemas.microsoft.com/office/drawing/2014/main" id="{E3201DA7-8EE9-7183-0C56-4477E252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A915B221-736A-9F3F-D305-29A35AB23C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E15F64-39BB-45C3-BBE5-65357DD70B42}" type="slidenum">
              <a:rPr lang="en-IL" smtClean="0"/>
              <a:t>‹#›</a:t>
            </a:fld>
            <a:endParaRPr lang="en-IL"/>
          </a:p>
        </p:txBody>
      </p:sp>
    </p:spTree>
    <p:extLst>
      <p:ext uri="{BB962C8B-B14F-4D97-AF65-F5344CB8AC3E}">
        <p14:creationId xmlns:p14="http://schemas.microsoft.com/office/powerpoint/2010/main" val="2684146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microsoft.com/office/2018/10/relationships/comments" Target="../comments/modernComment_118_0.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URIEL MARKET RESEARCH"/>
          <p:cNvSpPr txBox="1"/>
          <p:nvPr/>
        </p:nvSpPr>
        <p:spPr>
          <a:xfrm>
            <a:off x="327144" y="446141"/>
            <a:ext cx="3552691" cy="1937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70000"/>
              </a:lnSpc>
              <a:defRPr sz="5800">
                <a:solidFill>
                  <a:srgbClr val="FFFFFF"/>
                </a:solidFill>
                <a:latin typeface="Strauss-Bold"/>
                <a:ea typeface="Strauss-Bold"/>
                <a:cs typeface="Strauss-Bold"/>
                <a:sym typeface="Strauss-Bold"/>
              </a:defRPr>
            </a:lvl1pPr>
          </a:lstStyle>
          <a:p>
            <a:r>
              <a:t>URIEL MARKET RESEARCH</a:t>
            </a:r>
          </a:p>
        </p:txBody>
      </p:sp>
      <p:sp>
        <p:nvSpPr>
          <p:cNvPr id="154" name="6 JULY 2021"/>
          <p:cNvSpPr txBox="1"/>
          <p:nvPr/>
        </p:nvSpPr>
        <p:spPr>
          <a:xfrm>
            <a:off x="9492116" y="101630"/>
            <a:ext cx="2487462" cy="3104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lvl="1" algn="r">
              <a:defRPr sz="1700" b="1">
                <a:solidFill>
                  <a:srgbClr val="FFFFFF"/>
                </a:solidFill>
              </a:defRPr>
            </a:pPr>
            <a:r>
              <a:rPr dirty="0"/>
              <a:t>6 JULY 2021</a:t>
            </a:r>
          </a:p>
        </p:txBody>
      </p:sp>
      <p:pic>
        <p:nvPicPr>
          <p:cNvPr id="6" name="תמונה 5" descr="תמונה שמכילה טקסט&#10;&#10;התיאור נוצר באופן אוטומטי">
            <a:extLst>
              <a:ext uri="{FF2B5EF4-FFF2-40B4-BE49-F238E27FC236}">
                <a16:creationId xmlns:a16="http://schemas.microsoft.com/office/drawing/2014/main" id="{8EA21BFC-3588-380B-6462-16BD04ECB9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9728" cy="6858000"/>
          </a:xfrm>
          <a:prstGeom prst="rect">
            <a:avLst/>
          </a:prstGeom>
        </p:spPr>
      </p:pic>
    </p:spTree>
  </p:cSld>
  <p:clrMapOvr>
    <a:masterClrMapping/>
  </p:clrMapOvr>
  <p:transition spd="med"/>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descr="תמונה שמכילה טקסט&#10;&#10;התיאור נוצר באופן אוטומטי">
            <a:extLst>
              <a:ext uri="{FF2B5EF4-FFF2-40B4-BE49-F238E27FC236}">
                <a16:creationId xmlns:a16="http://schemas.microsoft.com/office/drawing/2014/main" id="{FDBE6C67-96C0-2894-D303-BF9987EE4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44"/>
            <a:ext cx="12192000" cy="6853656"/>
          </a:xfrm>
          <a:prstGeom prst="rect">
            <a:avLst/>
          </a:prstGeom>
        </p:spPr>
      </p:pic>
      <p:pic>
        <p:nvPicPr>
          <p:cNvPr id="4" name="תמונה 3">
            <a:extLst>
              <a:ext uri="{FF2B5EF4-FFF2-40B4-BE49-F238E27FC236}">
                <a16:creationId xmlns:a16="http://schemas.microsoft.com/office/drawing/2014/main" id="{671233D7-91ED-C97E-E353-836CA091B85C}"/>
              </a:ext>
            </a:extLst>
          </p:cNvPr>
          <p:cNvPicPr>
            <a:picLocks noChangeAspect="1"/>
          </p:cNvPicPr>
          <p:nvPr/>
        </p:nvPicPr>
        <p:blipFill>
          <a:blip r:embed="rId3"/>
          <a:stretch>
            <a:fillRect/>
          </a:stretch>
        </p:blipFill>
        <p:spPr>
          <a:xfrm>
            <a:off x="1938337" y="2005012"/>
            <a:ext cx="5576888" cy="509493"/>
          </a:xfrm>
          <a:prstGeom prst="rect">
            <a:avLst/>
          </a:prstGeom>
        </p:spPr>
      </p:pic>
      <p:sp>
        <p:nvSpPr>
          <p:cNvPr id="5" name="תיבת טקסט 4">
            <a:extLst>
              <a:ext uri="{FF2B5EF4-FFF2-40B4-BE49-F238E27FC236}">
                <a16:creationId xmlns:a16="http://schemas.microsoft.com/office/drawing/2014/main" id="{7D451E3C-B1B8-5F87-A837-6A197C7A83B8}"/>
              </a:ext>
            </a:extLst>
          </p:cNvPr>
          <p:cNvSpPr txBox="1"/>
          <p:nvPr/>
        </p:nvSpPr>
        <p:spPr>
          <a:xfrm>
            <a:off x="2028824" y="1844719"/>
            <a:ext cx="5695951" cy="738664"/>
          </a:xfrm>
          <a:prstGeom prst="rect">
            <a:avLst/>
          </a:prstGeom>
          <a:noFill/>
        </p:spPr>
        <p:txBody>
          <a:bodyPr wrap="square" rtlCol="1">
            <a:spAutoFit/>
          </a:bodyPr>
          <a:lstStyle/>
          <a:p>
            <a:pPr algn="l" rtl="0"/>
            <a:r>
              <a:rPr lang="en-US" sz="4200" b="1" dirty="0"/>
              <a:t>VISION &amp; MISSION</a:t>
            </a:r>
            <a:endParaRPr lang="he-IL" sz="4200" b="1" dirty="0"/>
          </a:p>
        </p:txBody>
      </p:sp>
    </p:spTree>
    <p:extLst>
      <p:ext uri="{BB962C8B-B14F-4D97-AF65-F5344CB8AC3E}">
        <p14:creationId xmlns:p14="http://schemas.microsoft.com/office/powerpoint/2010/main" val="2724729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תמונה שמכילה ריקוד, טקסט, ברך, הנעלה&#10;&#10;התיאור נוצר באופן אוטומטי">
            <a:extLst>
              <a:ext uri="{FF2B5EF4-FFF2-40B4-BE49-F238E27FC236}">
                <a16:creationId xmlns:a16="http://schemas.microsoft.com/office/drawing/2014/main" id="{E96E03AD-8AAD-8EFA-7738-750EC6253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74" cy="6858000"/>
          </a:xfrm>
          <a:prstGeom prst="rect">
            <a:avLst/>
          </a:prstGeom>
        </p:spPr>
      </p:pic>
    </p:spTree>
    <p:extLst>
      <p:ext uri="{BB962C8B-B14F-4D97-AF65-F5344CB8AC3E}">
        <p14:creationId xmlns:p14="http://schemas.microsoft.com/office/powerpoint/2010/main" val="3865700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תמונה שמכילה טקסט, לבוש, הנעלה, צילום מסך&#10;&#10;התיאור נוצר באופן אוטומטי">
            <a:extLst>
              <a:ext uri="{FF2B5EF4-FFF2-40B4-BE49-F238E27FC236}">
                <a16:creationId xmlns:a16="http://schemas.microsoft.com/office/drawing/2014/main" id="{38024BC1-98A6-43BA-1DA2-9805874FB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74" cy="6858000"/>
          </a:xfrm>
          <a:prstGeom prst="rect">
            <a:avLst/>
          </a:prstGeom>
        </p:spPr>
      </p:pic>
    </p:spTree>
    <p:extLst>
      <p:ext uri="{BB962C8B-B14F-4D97-AF65-F5344CB8AC3E}">
        <p14:creationId xmlns:p14="http://schemas.microsoft.com/office/powerpoint/2010/main" val="2684559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תמונה שמכילה טקסט, פני אדם, אדם, צילום מסך&#10;&#10;התיאור נוצר באופן אוטומטי">
            <a:extLst>
              <a:ext uri="{FF2B5EF4-FFF2-40B4-BE49-F238E27FC236}">
                <a16:creationId xmlns:a16="http://schemas.microsoft.com/office/drawing/2014/main" id="{B8EBDE6D-DD9A-1EC3-B2D5-57F7364D7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74" cy="6858000"/>
          </a:xfrm>
          <a:prstGeom prst="rect">
            <a:avLst/>
          </a:prstGeom>
        </p:spPr>
      </p:pic>
    </p:spTree>
    <p:extLst>
      <p:ext uri="{BB962C8B-B14F-4D97-AF65-F5344CB8AC3E}">
        <p14:creationId xmlns:p14="http://schemas.microsoft.com/office/powerpoint/2010/main" val="3390277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descr="תמונה שמכילה טקסט, צילום מסך, גופן, לוגו&#10;&#10;התיאור נוצר באופן אוטומטי">
            <a:extLst>
              <a:ext uri="{FF2B5EF4-FFF2-40B4-BE49-F238E27FC236}">
                <a16:creationId xmlns:a16="http://schemas.microsoft.com/office/drawing/2014/main" id="{597C6DD3-759B-9C49-B8EB-8541DA8E2B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8374" cy="6858000"/>
          </a:xfrm>
          <a:prstGeom prst="rect">
            <a:avLst/>
          </a:prstGeom>
        </p:spPr>
      </p:pic>
    </p:spTree>
    <p:extLst>
      <p:ext uri="{BB962C8B-B14F-4D97-AF65-F5344CB8AC3E}">
        <p14:creationId xmlns:p14="http://schemas.microsoft.com/office/powerpoint/2010/main" val="414473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תמונה שמכילה טקסט, מכונת תפירה, תפירה, כלי&#10;&#10;התיאור נוצר באופן אוטומטי">
            <a:extLst>
              <a:ext uri="{FF2B5EF4-FFF2-40B4-BE49-F238E27FC236}">
                <a16:creationId xmlns:a16="http://schemas.microsoft.com/office/drawing/2014/main" id="{5DB6038D-A0E1-E6C4-4653-D90C27012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728" cy="6858000"/>
          </a:xfrm>
          <a:prstGeom prst="rect">
            <a:avLst/>
          </a:prstGeom>
        </p:spPr>
      </p:pic>
    </p:spTree>
    <p:extLst>
      <p:ext uri="{BB962C8B-B14F-4D97-AF65-F5344CB8AC3E}">
        <p14:creationId xmlns:p14="http://schemas.microsoft.com/office/powerpoint/2010/main" val="192213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תמונה שמכילה טקסט, ריקוד, הנעלה, לבוש&#10;&#10;התיאור נוצר באופן אוטומטי">
            <a:extLst>
              <a:ext uri="{FF2B5EF4-FFF2-40B4-BE49-F238E27FC236}">
                <a16:creationId xmlns:a16="http://schemas.microsoft.com/office/drawing/2014/main" id="{52FBA3A5-FD21-8524-E1C9-B20FF2810E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9728" cy="6858000"/>
          </a:xfrm>
          <a:prstGeom prst="rect">
            <a:avLst/>
          </a:prstGeom>
        </p:spPr>
      </p:pic>
    </p:spTree>
    <p:extLst>
      <p:ext uri="{BB962C8B-B14F-4D97-AF65-F5344CB8AC3E}">
        <p14:creationId xmlns:p14="http://schemas.microsoft.com/office/powerpoint/2010/main" val="146948220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1306</TotalTime>
  <Words>9</Words>
  <Application>Microsoft Office PowerPoint</Application>
  <PresentationFormat>מסך רחב</PresentationFormat>
  <Paragraphs>3</Paragraphs>
  <Slides>8</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8</vt:i4>
      </vt:variant>
    </vt:vector>
  </HeadingPairs>
  <TitlesOfParts>
    <vt:vector size="12" baseType="lpstr">
      <vt:lpstr>Arial</vt:lpstr>
      <vt:lpstr>Calibri</vt:lpstr>
      <vt:lpstr>Calibri Light</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Natali graphics Meditex</dc:creator>
  <cp:lastModifiedBy>Eyal Sadot</cp:lastModifiedBy>
  <cp:revision>36</cp:revision>
  <dcterms:created xsi:type="dcterms:W3CDTF">2024-03-05T12:29:32Z</dcterms:created>
  <dcterms:modified xsi:type="dcterms:W3CDTF">2026-08-02T07:56:19Z</dcterms:modified>
</cp:coreProperties>
</file>