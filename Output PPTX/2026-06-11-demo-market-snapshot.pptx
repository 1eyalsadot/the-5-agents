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מדרסים מותאמים</c:v>
                </c:pt>
              </c:strCache>
            </c:strRef>
          </c:tx>
          <c:spPr>
            <a:solidFill>
              <a:srgbClr val="2BB3A3"/>
            </a:solidFill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145</c:v>
                </c:pt>
                <c:pt idx="2">
                  <c:v>178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תומכי קרסול</c:v>
                </c:pt>
              </c:strCache>
            </c:strRef>
          </c:tx>
          <c:spPr>
            <a:solidFill>
              <a:srgbClr val="E8A33D"/>
            </a:solidFill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</c:v>
                </c:pt>
                <c:pt idx="1">
                  <c:v>88</c:v>
                </c:pt>
                <c:pt idx="2">
                  <c:v>99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נעליים אורתופדיות</c:v>
                </c:pt>
              </c:strCache>
            </c:strRef>
          </c:tx>
          <c:spPr>
            <a:solidFill>
              <a:srgbClr val="1F2A44"/>
            </a:solidFill>
          </c:spPr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210</c:v>
                </c:pt>
                <c:pt idx="1">
                  <c:v>225</c:v>
                </c:pt>
                <c:pt idx="2">
                  <c:v>244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sz="3200" b="1">
                <a:solidFill>
                  <a:srgbClr val="1F2A44"/>
                </a:solidFill>
                <a:latin typeface="Calibri"/>
              </a:rPr>
              <a:t>תמונת מצב: שוק התומכים האורתופדיים בישראל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sz="1800">
                <a:solidFill>
                  <a:srgbClr val="3D4452"/>
                </a:solidFill>
                <a:latin typeface="Calibri"/>
              </a:rPr>
              <a:t>צמיחה דו-ספרתית מונעת התאמה אישית דיגיטלית ו-D2C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sz="2800" b="1">
                <a:solidFill>
                  <a:srgbClr val="1F2A44"/>
                </a:solidFill>
                <a:latin typeface="Calibri"/>
              </a:rPr>
              <a:t>מגמות מובילות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</a:pPr>
            <a:r>
              <a:rPr sz="1800">
                <a:solidFill>
                  <a:srgbClr val="3D4452"/>
                </a:solidFill>
                <a:latin typeface="Calibri"/>
              </a:rPr>
              <a:t>•  ביקוש גובר למדרסים מותאמים אישית (3D-print)</a:t>
            </a:r>
          </a:p>
          <a:p>
            <a:pPr algn="r">
              <a:spcAft>
                <a:spcPts val="1000"/>
              </a:spcAft>
            </a:pPr>
            <a:r>
              <a:rPr sz="1800">
                <a:solidFill>
                  <a:srgbClr val="3D4452"/>
                </a:solidFill>
                <a:latin typeface="Calibri"/>
              </a:rPr>
              <a:t>•  כניסת שחקנים דיגיטליים ישירות-לצרכן (D2C)</a:t>
            </a:r>
          </a:p>
          <a:p>
            <a:pPr algn="r">
              <a:spcAft>
                <a:spcPts val="1000"/>
              </a:spcAft>
            </a:pPr>
            <a:r>
              <a:rPr sz="1800">
                <a:solidFill>
                  <a:srgbClr val="3D4452"/>
                </a:solidFill>
                <a:latin typeface="Calibri"/>
              </a:rPr>
              <a:t>•  שילוב חיישנים חכמים בתומכים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sz="2800" b="1">
                <a:solidFill>
                  <a:srgbClr val="1F2A44"/>
                </a:solidFill>
                <a:latin typeface="Calibri"/>
              </a:rPr>
              <a:t>נתוני שוק לפי פלח (מ' ש"ח)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097280" y="1645920"/>
          <a:ext cx="99669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sz="2800" b="1">
                <a:solidFill>
                  <a:srgbClr val="1F2A44"/>
                </a:solidFill>
                <a:latin typeface="Calibri"/>
              </a:rPr>
              <a:t>טבלת נתונים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73736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68580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פלח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452"/>
                          </a:solidFill>
                          <a:latin typeface="Calibri"/>
                        </a:rPr>
                        <a:t>מדרסים מותאמים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452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452"/>
                          </a:solidFill>
                          <a:latin typeface="Calibri"/>
                        </a:rPr>
                        <a:t>145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452"/>
                          </a:solidFill>
                          <a:latin typeface="Calibri"/>
                        </a:rPr>
                        <a:t>178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452"/>
                          </a:solidFill>
                          <a:latin typeface="Calibri"/>
                        </a:rPr>
                        <a:t>תומכי קרסול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452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452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452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452"/>
                          </a:solidFill>
                          <a:latin typeface="Calibri"/>
                        </a:rPr>
                        <a:t>נעליים אורתופדיות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452"/>
                          </a:solidFill>
                          <a:latin typeface="Calibri"/>
                        </a:rPr>
                        <a:t>210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452"/>
                          </a:solidFill>
                          <a:latin typeface="Calibri"/>
                        </a:rPr>
                        <a:t>225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4452"/>
                          </a:solidFill>
                          <a:latin typeface="Calibri"/>
                        </a:rPr>
                        <a:t>244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