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24612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ישיבת מכירות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31520" y="41605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אוגוסט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מכירות מול יעד – יולי 26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508760"/>
          <a:ext cx="7772400" cy="9144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אחוז ביצוע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ביצוע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יעד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סוכן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361,175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צפון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340,114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268,278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281,275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1,250,884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194560" y="5394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הערה: נתוני "ביצוע" ו"אחוז ביצוע" יעודכנו בסיום החודש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אוגוסט - 26 לפי סוכן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508760"/>
          <a:ext cx="630936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154680"/>
              </a:tblGrid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יעד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סוכן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346,211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צפון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317,552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264,662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257,074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1,185,500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926080" y="4892040"/>
            <a:ext cx="6309360" cy="256032"/>
          </a:xfrm>
          <a:prstGeom prst="roundRect">
            <a:avLst>
              <a:gd name="adj" fmla="val 17857"/>
            </a:avLst>
          </a:prstGeom>
          <a:solidFill>
            <a:srgbClr val="002F6C"/>
          </a:solidFill>
          <a:ln/>
        </p:spPr>
      </p:sp>
      <p:sp>
        <p:nvSpPr>
          <p:cNvPr id="8" name="Shape 4"/>
          <p:cNvSpPr/>
          <p:nvPr/>
        </p:nvSpPr>
        <p:spPr>
          <a:xfrm>
            <a:off x="3448363" y="5257800"/>
            <a:ext cx="5787077" cy="256032"/>
          </a:xfrm>
          <a:prstGeom prst="roundRect">
            <a:avLst>
              <a:gd name="adj" fmla="val 17857"/>
            </a:avLst>
          </a:prstGeom>
          <a:solidFill>
            <a:srgbClr val="002F6C"/>
          </a:solidFill>
          <a:ln/>
        </p:spPr>
      </p:sp>
      <p:sp>
        <p:nvSpPr>
          <p:cNvPr id="9" name="Shape 5"/>
          <p:cNvSpPr/>
          <p:nvPr/>
        </p:nvSpPr>
        <p:spPr>
          <a:xfrm>
            <a:off x="4412232" y="5623560"/>
            <a:ext cx="4823208" cy="256032"/>
          </a:xfrm>
          <a:prstGeom prst="roundRect">
            <a:avLst>
              <a:gd name="adj" fmla="val 17857"/>
            </a:avLst>
          </a:prstGeom>
          <a:solidFill>
            <a:srgbClr val="002F6C"/>
          </a:solidFill>
          <a:ln/>
        </p:spPr>
      </p:sp>
      <p:sp>
        <p:nvSpPr>
          <p:cNvPr id="10" name="Shape 6"/>
          <p:cNvSpPr/>
          <p:nvPr/>
        </p:nvSpPr>
        <p:spPr>
          <a:xfrm>
            <a:off x="4550515" y="5989320"/>
            <a:ext cx="4684925" cy="256032"/>
          </a:xfrm>
          <a:prstGeom prst="roundRect">
            <a:avLst>
              <a:gd name="adj" fmla="val 17857"/>
            </a:avLst>
          </a:prstGeom>
          <a:solidFill>
            <a:srgbClr val="002F6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אוגוסט 26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234440"/>
          <a:ext cx="10149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651760"/>
                <a:gridCol w="2651760"/>
              </a:tblGrid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הפרש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מטרה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תקציב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סקטור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60,711-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660,211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סופרפארם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23,357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31,748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186,252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בתי מרקחת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7,959-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116,959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מאוחדת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77,087-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177,087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מכוני אורטופדיה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חנויות פרטיות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בתי חולים ושרות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מכוני פיזיותרפיה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116,842-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1,185,500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1,302,342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 ישראל ללא אונליין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ביתא רוקחים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508760"/>
          <a:ext cx="7772400" cy="9144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אחוז ביצוע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יעד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151,717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צפון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95,182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131,752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172,170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550,821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ביתא רוקחים – מבצע יולי אוגוסט 26</a:t>
            </a:r>
            <a:endParaRPr lang="en-US" sz="2500" dirty="0"/>
          </a:p>
        </p:txBody>
      </p:sp>
      <p:pic>
        <p:nvPicPr>
          <p:cNvPr id="6" name="Image 1" descr="/tmp/claude-0/-home-user-the-5-agents/104e019b-481e-5835-b5aa-7854a99e3b07/scratchpad/work/assets/product_prom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383280" cy="326909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0" y="1463040"/>
            <a:ext cx="1554480" cy="1554480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0" y="1463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הנחה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43484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לרוקח 35% הנחה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074920" cy="914400"/>
        </p:xfrm>
        <a:graphic>
          <a:graphicData uri="http://schemas.openxmlformats.org/drawingml/2006/table">
            <a:tbl>
              <a:tblPr/>
              <a:tblGrid>
                <a:gridCol w="1268730"/>
                <a:gridCol w="1268730"/>
                <a:gridCol w="1268730"/>
                <a:gridCol w="1268730"/>
              </a:tblGrid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כמות חגורות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לקוחות שקנו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כמות לקוחות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סוכן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סופרפארם – אוגוסט 26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13816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רשתי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הזדכות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פריט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 רשתי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 ₪ ליחידה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אפיק ג'ל ב-40% הנחה לצרכן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 אוגוסט ב'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138160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מקומי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54680"/>
          <a:ext cx="10972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737360"/>
                <a:gridCol w="2834640"/>
                <a:gridCol w="182880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 לצרכן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כמות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 לרשת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פריט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ברקוד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מס פריט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1+1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יחידות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הנחה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תרסיס דיאודורנט לנעל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7297046710526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FC333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1+1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הנחה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תרסיס דיאודורנט לכף רגל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7297046790115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FC334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פרטיים – אוגוסט 26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600200"/>
          <a:ext cx="7772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התניות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פריט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בקניית 40 יחידות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 הנחה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סיליקונים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5+1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תרסיס לנעל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5+1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תרסיס לרגל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בקניית 6 יחידות מסוג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 הנחה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רפידות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מכונים – אוגוסט 26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691640"/>
          <a:ext cx="7772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מבצע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פריט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 מיוחד 90 ₪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CTS 213 ימין ושמאל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 מיוחד 120 ₪ ובנוסף 10+2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SH422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 מיוחד 60 ₪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SH333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מחיר מיוחד 350 ₪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SH776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תגמול רבעוני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248095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13855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תגמול לייף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13855" y="26060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ינתן יעד למוצרי לייף עם תגמול מסופרפארם</a:t>
            </a:r>
            <a:endParaRPr lang="en-US" sz="1500" dirty="0"/>
          </a:p>
          <a:p>
            <a:pPr algn="r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אנו עובדים על תכנית יעדים ומחכים לאישור סופרפארם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8815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44575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 חדשים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4575" y="260604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חודשי לכל סוכן – 3 לקוחות</a:t>
            </a:r>
            <a:endParaRPr lang="en-US" sz="1500" dirty="0"/>
          </a:p>
          <a:p>
            <a:pPr algn="r"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המדידה תיעשה בנוסף לכל חודש גם ברמה רבעונית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list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085936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50528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סופרפארם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250528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647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50528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תפעול מלא של הסניפים וקידום תצוגות אקסטרה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וידוא הקלדת המלצות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88456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לייף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88456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394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88456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המשך תפעול הסניפים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61792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26384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כללית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26384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26384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סידור התצוגה עפ"י הפלנוגרמה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השארת המלצה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החלפת סטנדים ישנים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9720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4312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בתי מרקחת פרטיים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4312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4312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תפעול הנקודות הפעילות תוך התמקדות בבתי המרקחת החזקים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נקודות חדשות (3 לקוחות לכל סוכן)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list — המשך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085936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50528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250528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50528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תפעול מלא של הסניפים וקידום תצוגות אקסטרה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וידוא הקלדת המלצות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88456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מאוחדת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88456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88456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מלאה ודיוק התצוגות בבתי המרקחת של הקופה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61792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26384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מכונים אורטופדיים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26384" y="24688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</a:t>
            </a:r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אשח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26384" y="3200400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מוצרים חדשים</a:t>
            </a:r>
            <a:endParaRPr lang="en-US" sz="1050" dirty="0"/>
          </a:p>
          <a:p>
            <a:pPr algn="r"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לקוחות חדשים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9720" y="1508760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FFC72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4312" y="17830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סה"כ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4312" y="256032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1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לנו מול תקציב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4312" y="3429000"/>
            <a:ext cx="2276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001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2,523</a:t>
            </a:r>
            <a:endParaRPr lang="en-US" sz="3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001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אש"ח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דודו — 20 הסניפים המובילים באורתופדיה מול ביצועי מכירות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יחסי בין 68 סניפי דודו באורתופדיה בלבד (לא הדירוג הכללי ברשת) · פער = דירוג מכירות פחות דירוג אורתופדיה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868680"/>
                <a:gridCol w="914400"/>
                <a:gridCol w="914400"/>
                <a:gridCol w="777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מכירות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מול 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אורתופדיה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35,145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הדסה עין כרם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קניון-מודיעין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31,606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34,182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אשדוד סטאר-סנטר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34,208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כיכר-ציון  ▲ לשכפל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25,396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24,092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רחובות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25,833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מודיעין ישפרו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21,970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בילו סנטר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מלחה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אשקלון גירון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29,148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רמות ירושלים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22,455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תלפיות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18,387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אשדוד סיטי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18,043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21,940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קרית-גת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20,373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קסטינה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בית שמש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אילת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14,169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התמרים אילת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21,006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ניות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18,530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שער אשקלון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22,646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בית-האומות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 והמלצות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413455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95167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9B93"/>
          </a:solidFill>
          <a:ln/>
        </p:spPr>
      </p:sp>
      <p:sp>
        <p:nvSpPr>
          <p:cNvPr id="12" name="Text 8"/>
          <p:cNvSpPr/>
          <p:nvPr/>
        </p:nvSpPr>
        <p:spPr>
          <a:xfrm>
            <a:off x="2105863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087575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B66"/>
          </a:solidFill>
          <a:ln/>
        </p:spPr>
      </p:sp>
      <p:sp>
        <p:nvSpPr>
          <p:cNvPr id="14" name="Text 10"/>
          <p:cNvSpPr/>
          <p:nvPr/>
        </p:nvSpPr>
        <p:spPr>
          <a:xfrm>
            <a:off x="798271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9983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FD9A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2478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9B93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32304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9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— 2 סניפים בירידה חדה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2724912"/>
            <a:ext cx="3870655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קניון מבשרת (-64%) והרצל רחובות (-52%) מול קצב 2025. מומלץ: לבדוק מיידית מול הסוכן מלאי, סגל ותחרות מקומית בסניפים אלו, לפני שהמגמה ממשיכה.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01591" y="354558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CB66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499866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 — 3 סניפים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3792474"/>
            <a:ext cx="3870655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שדרות (פער +16), שחמון אילת (+12) ויכין-סנטר (+10) — חזקים באורתופדיה יחסית לשאר סניפי דודו, אך מוכרים חלש יחסית אליהם. מומלץ: לחדד תמהיל והצגת הקטגוריה.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01591" y="482269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9A8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477697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 — 3 סניפים בצמיחה חזקה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7240" y="5069586"/>
            <a:ext cx="3870655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הר-יונה (+147%), אופקים (+90%) וגאלרי כיכר-ציון (+47%, מדורג #4 בטבלה) מול קצב 2025. מומלץ: לזהות מה עובד בסניפים אלו (מבצע / מלאי / סגל) ולשכפל לסניפים חלשים יותר.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חיים — 20 הסניפים המובילים באורתופדיה מול ביצועי מכירות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יחסי בין 84 סניפי חיים באורתופדיה בלבד (לא הדירוג הכללי ברשת) · פער = דירוג מכירות פחות דירוג אורתופדיה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868680"/>
                <a:gridCol w="914400"/>
                <a:gridCol w="914400"/>
                <a:gridCol w="777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מכירות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מול 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אורתופדיה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52,371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תל השומר  ▲ לשכפל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רמת אביב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31,154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לונדון מיניסטור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23,252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איכילוב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20,909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22,057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שיכון דן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ראשון צפון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האר"י נתניה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נס ציונה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21,753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צמרות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19,166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פקר כפר-סבא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ביג גלילות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שבעת הכוכבים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רעננה פארק מול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12,785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13,651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יפו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עזריאלי ת"א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12,492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פולג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26.0%-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היכל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15,375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עיר-ימים נתניה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רעננה אחוזה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רמז נתניה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 והמלצות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413455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95167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9B93"/>
          </a:solidFill>
          <a:ln/>
        </p:spPr>
      </p:sp>
      <p:sp>
        <p:nvSpPr>
          <p:cNvPr id="12" name="Text 8"/>
          <p:cNvSpPr/>
          <p:nvPr/>
        </p:nvSpPr>
        <p:spPr>
          <a:xfrm>
            <a:off x="2105863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087575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B66"/>
          </a:solidFill>
          <a:ln/>
        </p:spPr>
      </p:sp>
      <p:sp>
        <p:nvSpPr>
          <p:cNvPr id="14" name="Text 10"/>
          <p:cNvSpPr/>
          <p:nvPr/>
        </p:nvSpPr>
        <p:spPr>
          <a:xfrm>
            <a:off x="798271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9983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FD9A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2478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9B93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32304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9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— 4 סניפים בירידה חדה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2724912"/>
            <a:ext cx="3870655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הרצל ראשל"צ (-112%), מגדלי תל-אביב (-72%), נוה-הדרים (-55%) ובית אמריקה (-52%) מול קצב 2025. מומלץ: לבדוק מיידית מול הסוכן מלאי, סגל ותחרות מקומית בסניפים אלו, לפני שהמגמה ממשיכה.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01591" y="3678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CB66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633216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 — 7 סניפים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3925824"/>
            <a:ext cx="3870655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גורדון (פער +22), רמז נתניה (+16, בטבלה #20), ביג פולג (+12, בטבלה #16), הרצליה-פיתוח (+12), סוקולוב הרצליה (+12), קניון TLV (+12) וקניון הזהב (+12) — חזקים באורתופדיה יחסית לשאר סניפי חיים, אך מוכרים חלש יחסית אליהם. מומלץ: לחדד תמהיל והצגת הקטגוריה.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01591" y="50703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9A8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502462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 — 5 סניפים בצמיחה חזקה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7240" y="5317236"/>
            <a:ext cx="3870655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קסטל ת"א (+86%), אבן גבירול (+70%), מרינה (+39%), תל השומר (+36%, מדורג #1 בטבלה) ופארק תעשיות עמק חפר (+31%) מול קצב 2025. מומלץ: לזהות מה עובד בסניפים אלו ולשכפל לסניפים חלשים יותר.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סטאס — 20 הסניפים המובילים באורתופדיה מול ביצועי מכירות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יחסי בין 66 סניפי סטאס באורתופדיה בלבד (לא הדירוג הכללי ברשת) · פער = דירוג מכירות פחות דירוג אורתופדיה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868680"/>
                <a:gridCol w="914400"/>
                <a:gridCol w="914400"/>
                <a:gridCol w="777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מכירות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מול 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אורתופדיה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באר שבע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26,015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איילון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בת-ים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22,168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חולון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18,892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גרנד באר-שבע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משחררים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15,196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אם-המושבות פ"ת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14,997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הקניון הגדול - פ"ת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גדרה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תחנה מרכזית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לוד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הנגב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10,776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גבעתיים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רמלוד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36.6%-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הקישון יבנה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11,082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מרום נווה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דרך מצדה ב"ש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כפר-גנים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וייצמן חולון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24.5%-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שפיר סנטר ראש-העין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 והמלצות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413455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95167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9B93"/>
          </a:solidFill>
          <a:ln/>
        </p:spPr>
      </p:sp>
      <p:sp>
        <p:nvSpPr>
          <p:cNvPr id="12" name="Text 8"/>
          <p:cNvSpPr/>
          <p:nvPr/>
        </p:nvSpPr>
        <p:spPr>
          <a:xfrm>
            <a:off x="2105863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087575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B66"/>
          </a:solidFill>
          <a:ln/>
        </p:spPr>
      </p:sp>
      <p:sp>
        <p:nvSpPr>
          <p:cNvPr id="14" name="Text 10"/>
          <p:cNvSpPr/>
          <p:nvPr/>
        </p:nvSpPr>
        <p:spPr>
          <a:xfrm>
            <a:off x="798271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9983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FD9A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2478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9B93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32304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9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— 4 סניפים בירידה חדה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2724912"/>
            <a:ext cx="3870655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קרית רמלה (-70%), צים רהט (-64%), נאות שמיר רמלה (-58%) וביג אור-יהודה (-53%) מול קצב 2025. מומלץ: לבדוק מיידית מול הסוכן מלאי, סגל ותחרות מקומית בסניפים אלו, לפני שהמגמה ממשיכה.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01591" y="37551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CB66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709416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 — 5 סניפים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4002024"/>
            <a:ext cx="3870655" cy="110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נוה-זאב (פער +21), העצמאות בת-ים (+15), וייצמן חולון (+14, בטבלה #19), הקישון יבנה (+13, בטבלה #15) ומשחררים (+10, בטבלה #6) — חזקים באורתופדיה יחסית לשאר סניפי סטאס, אך מוכרים חלש יחסית אליהם. מומלץ: לחדד תמהיל והצגת הקטגוריה.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01591" y="524179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9A8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519607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 — 3 סניפים בצמיחה חזקה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7240" y="5488686"/>
            <a:ext cx="3870655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ישפרו פלאנט ב"ש (+87%), שבזי ראש-העין (+79%) וערערה בנגב (+39%) מול קצב 2025. מומלץ: לזהות מה עובד בסניפים אלו ולשכפל לסניפים חלשים יותר.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חדש — 20 הסניפים המובילים באורתופדיה מול ביצועי מכירות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יחסי בין 88 סניפי חדש באורתופדיה בלבד (לא הדירוג הכללי ברשת) · פער = דירוג מכירות פחות דירוג אורתופדיה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868680"/>
                <a:gridCol w="914400"/>
                <a:gridCol w="914400"/>
                <a:gridCol w="777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מכירות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מול 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אורתופדיה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34,329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34,994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כרמיאל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גרנד קניון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קרית אונו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קריון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27,485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חורב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13,333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13,584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עמק-סנטר עפולה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קרית אתא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11,884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מול כנרת צמח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13,276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נוף הגליל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נהריה געתון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גן שמואל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ביג-יקנעם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רמת-ישי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קרית-שמונה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שפרעם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רמב"ם חיפה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9,458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10,897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אודיטוריום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מול-זכרון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עפולה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9,285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נווה שאנן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 והמלצות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413455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95167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9B93"/>
          </a:solidFill>
          <a:ln/>
        </p:spPr>
      </p:sp>
      <p:sp>
        <p:nvSpPr>
          <p:cNvPr id="12" name="Text 8"/>
          <p:cNvSpPr/>
          <p:nvPr/>
        </p:nvSpPr>
        <p:spPr>
          <a:xfrm>
            <a:off x="2105863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087575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B66"/>
          </a:solidFill>
          <a:ln/>
        </p:spPr>
      </p:sp>
      <p:sp>
        <p:nvSpPr>
          <p:cNvPr id="14" name="Text 10"/>
          <p:cNvSpPr/>
          <p:nvPr/>
        </p:nvSpPr>
        <p:spPr>
          <a:xfrm>
            <a:off x="798271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9983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FD9A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2478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9B93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32304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9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— 4 סניפים בירידה חדה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2724912"/>
            <a:ext cx="3870655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סינמול (-160%), ארמון חיפה (-99%), ביג פרדס-חנה (-94%) ומול-החוף חדרה (-70%) מול קצב 2025. מומלץ: לבדוק מיידית מול הסוכן מלאי, סגל ותחרות מקומית בסניפים אלו, לפני שהמגמה ממשיכה.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01591" y="3678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CB66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633216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 — 9 סניפים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3925824"/>
            <a:ext cx="3870655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צפת (פער +33), כפר כנא (+17), קרית-ים (+16), נצרת (+15), נהריה געתון (+13, בטבלה #10), עכו (+13), ביג-פוריה (+10), נהריה רגבה (+10) וראש-פינה (+10) — חזקים באורתופדיה יחסית לשאר סניפי חדש, אך מוכרים חלש יחסית אליהם. מומלץ: לחדד תמהיל והצגת הקטגוריה.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01591" y="50703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9A8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502462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 — 5 סניפים בצמיחה חזקה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7240" y="5317236"/>
            <a:ext cx="3870655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טירה (+120%), קניון לב כרמיאל (+105%), טבריה (+92%), עראבה (+74%) ודושי סנטר נצרת (+53%) מול קצב 2025. מומלץ: לזהות מה עובד בסניפים אלו ולשכפל לסניפים חלשים יותר.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הרשת — 20 הסניפים החזקים ביותר באורתופדיה, לפי סוכן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 על 308 סניפי הרשת (סופר פארם) · דירוג לפי מיקום באורתופדיה ברמת הרשת כולה, ללא סינון לפי סוכן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320040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הסוכן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4B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באר שבע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52,371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תל השומר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הדסה עין כרם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קניון-מודיעין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אשדוד סטאר-סנטר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רמת אביב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ללא סוכן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אתר סחר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לונדון מיניסטור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חדש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כרמיאל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חדש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גרנד קניון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34,208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כיכר-ציון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איכילוב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רחובות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מודיעין ישפרו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21,970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בילו סנטר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מלחה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F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דודו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אשקלון גירון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4B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סטאס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איילון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חדש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קרית אונו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6E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חיים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שיכון דן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סניפים יש לכל סוכן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501591" y="21762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DB6DC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2139696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דודו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68 סניפים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656934" y="2432304"/>
            <a:ext cx="2990961" cy="201168"/>
          </a:xfrm>
          <a:prstGeom prst="roundRect">
            <a:avLst>
              <a:gd name="adj" fmla="val 22727"/>
            </a:avLst>
          </a:prstGeom>
          <a:solidFill>
            <a:srgbClr val="FFC72C"/>
          </a:solidFill>
          <a:ln/>
        </p:spPr>
      </p:sp>
      <p:sp>
        <p:nvSpPr>
          <p:cNvPr id="13" name="Shape 9"/>
          <p:cNvSpPr/>
          <p:nvPr/>
        </p:nvSpPr>
        <p:spPr>
          <a:xfrm>
            <a:off x="4501591" y="28346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CC0E6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2798064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חיים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84 סניפים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53179" y="3090672"/>
            <a:ext cx="3694716" cy="201168"/>
          </a:xfrm>
          <a:prstGeom prst="roundRect">
            <a:avLst>
              <a:gd name="adj" fmla="val 22727"/>
            </a:avLst>
          </a:prstGeom>
          <a:solidFill>
            <a:srgbClr val="FFC72C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34930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DA6DC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3456432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סטאס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66 סניפים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744904" y="3749040"/>
            <a:ext cx="2902991" cy="201168"/>
          </a:xfrm>
          <a:prstGeom prst="roundRect">
            <a:avLst>
              <a:gd name="adj" fmla="val 22727"/>
            </a:avLst>
          </a:prstGeom>
          <a:solidFill>
            <a:srgbClr val="FFC72C"/>
          </a:solidFill>
          <a:ln/>
        </p:spPr>
      </p:sp>
      <p:sp>
        <p:nvSpPr>
          <p:cNvPr id="19" name="Shape 15"/>
          <p:cNvSpPr/>
          <p:nvPr/>
        </p:nvSpPr>
        <p:spPr>
          <a:xfrm>
            <a:off x="4501591" y="41513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3CB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4114800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חדש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88 סניפים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77240" y="4407408"/>
            <a:ext cx="3870655" cy="201168"/>
          </a:xfrm>
          <a:prstGeom prst="roundRect">
            <a:avLst>
              <a:gd name="adj" fmla="val 22727"/>
            </a:avLst>
          </a:prstGeom>
          <a:solidFill>
            <a:srgbClr val="FFC72C"/>
          </a:solidFill>
          <a:ln/>
        </p:spPr>
      </p:sp>
      <p:sp>
        <p:nvSpPr>
          <p:cNvPr id="22" name="Shape 18"/>
          <p:cNvSpPr/>
          <p:nvPr/>
        </p:nvSpPr>
        <p:spPr>
          <a:xfrm>
            <a:off x="4501591" y="48097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3C8D1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4773168"/>
            <a:ext cx="3632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סוכן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 סניפים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538167" y="5065776"/>
            <a:ext cx="109728" cy="201168"/>
          </a:xfrm>
          <a:prstGeom prst="roundRect">
            <a:avLst>
              <a:gd name="adj" fmla="val 41667"/>
            </a:avLst>
          </a:prstGeom>
          <a:solidFill>
            <a:srgbClr val="FFC72C"/>
          </a:solidFill>
          <a:ln/>
        </p:spPr>
      </p:sp>
      <p:sp>
        <p:nvSpPr>
          <p:cNvPr id="25" name="Text 21"/>
          <p:cNvSpPr/>
          <p:nvPr/>
        </p:nvSpPr>
        <p:spPr>
          <a:xfrm>
            <a:off x="777240" y="5522976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סה"כ 308 </a:t>
            </a:r>
            <a:pPr algn="r" indent="0" marL="0">
              <a:buNone/>
            </a:pPr>
            <a:r>
              <a:rPr lang="en-US" sz="1300" dirty="0">
                <a:solidFill>
                  <a:srgbClr val="C7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סניפים ברשת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2026-08-01T16:45:37Z</dcterms:created>
  <dcterms:modified xsi:type="dcterms:W3CDTF">2026-08-01T16:45:37Z</dcterms:modified>
</cp:coreProperties>
</file>